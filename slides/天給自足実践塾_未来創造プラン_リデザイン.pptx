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オープニング" id="{e0065438-6f8b-fd84-4514-fcdab9ce3114}">
          <p14:sldIdLst>
            <p14:sldId id="256"/>
            <p14:sldId id="257"/>
            <p14:sldId id="304"/>
          </p14:sldIdLst>
        </p14:section>
        <p14:section name="わたしについて" id="{47acc85f-4d50-3523-d446-7878c654f62d}">
          <p14:sldIdLst>
            <p14:sldId id="258"/>
            <p14:sldId id="259"/>
            <p14:sldId id="260"/>
            <p14:sldId id="261"/>
            <p14:sldId id="262"/>
            <p14:sldId id="263"/>
            <p14:sldId id="264"/>
          </p14:sldIdLst>
        </p14:section>
        <p14:section name="天給自足実践塾とは" id="{8ff2b110-ccbb-e383-464b-fc2ddebb6262}">
          <p14:sldIdLst>
            <p14:sldId id="265"/>
            <p14:sldId id="266"/>
            <p14:sldId id="267"/>
            <p14:sldId id="268"/>
            <p14:sldId id="269"/>
            <p14:sldId id="270"/>
            <p14:sldId id="271"/>
          </p14:sldIdLst>
        </p14:section>
        <p14:section name="お客様の声" id="{6dbf4f81-4820-d294-9ce5-7fb604e98d1f}">
          <p14:sldIdLst>
            <p14:sldId id="272"/>
            <p14:sldId id="273"/>
            <p14:sldId id="274"/>
            <p14:sldId id="275"/>
            <p14:sldId id="276"/>
          </p14:sldIdLst>
        </p14:section>
        <p14:section name="プログラム内容" id="{7756bf84-cd97-87de-8757-d40e2fb8b87d}">
          <p14:sldIdLst>
            <p14:sldId id="277"/>
            <p14:sldId id="278"/>
            <p14:sldId id="279"/>
            <p14:sldId id="280"/>
            <p14:sldId id="281"/>
            <p14:sldId id="282"/>
          </p14:sldIdLst>
        </p14:section>
        <p14:section name="ご成約特典" id="{fb05baa8-9aff-0dca-0490-e1ef5097cd6c}">
          <p14:sldIdLst>
            <p14:sldId id="283"/>
            <p14:sldId id="284"/>
            <p14:sldId id="285"/>
            <p14:sldId id="286"/>
            <p14:sldId id="287"/>
            <p14:sldId id="288"/>
            <p14:sldId id="289"/>
          </p14:sldIdLst>
        </p14:section>
        <p14:section name="メニューと価格" id="{0f01d247-1507-a43d-f2b4-0e0d0efcd2ff}">
          <p14:sldIdLst>
            <p14:sldId id="290"/>
            <p14:sldId id="291"/>
            <p14:sldId id="292"/>
            <p14:sldId id="293"/>
            <p14:sldId id="294"/>
            <p14:sldId id="295"/>
            <p14:sldId id="296"/>
            <p14:sldId id="297"/>
            <p14:sldId id="298"/>
            <p14:sldId id="299"/>
            <p14:sldId id="300"/>
          </p14:sldIdLst>
        </p14:section>
        <p14:section name="クロージング" id="{7c0005bb-beca-c7ee-8315-42744cc8c96d}">
          <p14:sldIdLst>
            <p14:sldId id="301"/>
          </p14:sldIdLst>
        </p14:section>
        <p14:section name="参考資料" id="{a950b783-0338-5ad8-4f07-101a32bfdbb9}">
          <p14:sldIdLst>
            <p14:sldId id="302"/>
            <p14:sldId id="303"/>
          </p14:sldIdLst>
        </p14:section>
        <p14:section name="オープニング" id="{1e8f4a0d-06eb-52ee-fb3a-654abd5ae45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666666"/>
                </a:solidFill>
                <a:latin typeface="+mn-lt"/>
              </a:defRPr>
            </a:pPr>
            <a:r>
              <a:rPr sz="1500" b="0" i="0" u="none" strike="noStrike">
                <a:solidFill>
                  <a:srgbClr val="666666"/>
                </a:solidFill>
                <a:latin typeface="+mn-lt"/>
              </a:rPr>
              <a:t>学びの浸透率（学び浸透の法則）</a:t>
            </a:r>
          </a:p>
        </c:rich>
      </c:tx>
      <c:layout/>
      <c:overlay val="0"/>
    </c:title>
    <c:autoTitleDeleted val="0"/>
    <c:plotArea>
      <c:layout/>
      <c:barChart>
        <c:barDir val="bar"/>
        <c:grouping val="clustered"/>
        <c:varyColors val="0"/>
        <c:ser>
          <c:idx val="0"/>
          <c:order val="0"/>
          <c:tx>
            <c:strRef>
              <c:f>Sheet1!$B$1</c:f>
              <c:strCache>
                <c:ptCount val="1"/>
                <c:pt idx="0">
                  <c:v>学びの浸透率</c:v>
                </c:pt>
              </c:strCache>
            </c:strRef>
          </c:tx>
          <c:spPr>
            <a:solidFill>
              <a:srgbClr val="5E9E5A"/>
            </a:solidFill>
            <a:effectLst/>
          </c:spPr>
          <c:invertIfNegative val="0"/>
          <c:dLbls>
            <c:numFmt formatCode="0&quot;%&quot;" sourceLinked="0"/>
            <c:txPr>
              <a:bodyPr/>
              <a:lstStyle/>
              <a:p>
                <a:pPr>
                  <a:defRPr b="1" i="0" strike="noStrike" sz="1600" u="none">
                    <a:solidFill>
                      <a:srgbClr val="1E4D3A"/>
                    </a:solidFill>
                    <a:latin typeface="+mn-lt"/>
                  </a:defRPr>
                </a:pPr>
              </a:p>
            </c:txPr>
            <c:showLegendKey val="0"/>
            <c:showVal val="1"/>
            <c:showCatName val="0"/>
            <c:showSerName val="0"/>
            <c:showPercent val="0"/>
            <c:showBubbleSize val="0"/>
            <c:showLeaderLines val="0"/>
          </c:dLbls>
          <c:cat>
            <c:multiLvlStrRef>
              <c:f>Sheet1!$A$2:$A$5</c:f>
              <c:multiLvlStrCache>
                <c:ptCount val="4"/>
                <c:lvl>
                  <c:pt idx="0">
                    <c:v>聞いただけ</c:v>
                  </c:pt>
                  <c:pt idx="1">
                    <c:v>アウトプット</c:v>
                  </c:pt>
                  <c:pt idx="2">
                    <c:v>実践</c:v>
                  </c:pt>
                  <c:pt idx="3">
                    <c:v>人に教える</c:v>
                  </c:pt>
                </c:lvl>
              </c:multiLvlStrCache>
            </c:multiLvlStrRef>
          </c:cat>
          <c:val>
            <c:numRef>
              <c:f>Sheet1!$B$2:$B$5</c:f>
              <c:numCache>
                <c:formatCode>General</c:formatCode>
                <c:ptCount val="4"/>
                <c:pt idx="0">
                  <c:v>6</c:v>
                </c:pt>
                <c:pt idx="1">
                  <c:v>54</c:v>
                </c:pt>
                <c:pt idx="2">
                  <c:v>75</c:v>
                </c:pt>
                <c:pt idx="3">
                  <c:v>90</c:v>
                </c:pt>
              </c:numCache>
            </c:numRef>
          </c:val>
        </c:ser>
        <c:dLbls>
          <c:numFmt formatCode="0&quot;%&quot;" sourceLinked="0"/>
          <c:txPr>
            <a:bodyPr/>
            <a:lstStyle/>
            <a:p>
              <a:pPr>
                <a:defRPr b="1" i="0" strike="noStrike" sz="1600" u="none">
                  <a:solidFill>
                    <a:srgbClr val="1E4D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このタイトルを見て、いいなと思ったところ教えてもらえますか？
なぜですか？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このタイトルを見て、いいなと思ったところ教えてもらえますか？
なぜですか？
【元スライドの全文】
本日の体験セッションを実りあるものにするためにお伝えしたいこと。
まっちゃんの輝く未来を描くお手伝いの時間にしたいと考えています。先に天給自足を経験した者としてまっちゃんの人生に必要な応援者になりたいと思っています。残りの人生の時間をどう創るか、和多志は本来の日本の食の復活が日本全体の復活につながると考えています。今日という日は残りの人生の最初の日です。有意義な楽しい時間にしましょう。
現在、わたしは世の中を変えるには二つしかないとの思いに至りました。武力か伝承かです。政治家、教育者、医者、ジャーナリスト、インフルエンサーに任せていても世の中は良くなりませんでした。81年以上日本を弱体化するための政策等を伝承してきていまの日本があります。すべての人がまず足元の自分の食は自分で確保しながら日本の食文化、伝統文化、徳文化を伝承してゆくしかないと思います。人生の質は選択の質です。自分によりしっくりくる、勇気が湧いてくる、自分を後押ししてくれる選択、一生モノの食のスキル（天給自足）を習得しこれからまっちゃんが、どう活かすかをいっしょに考える時間に出来たらと思います。天給自足は単なるスキルではありません、これからの自分の人生をどう生きてゆきたいか？人生の主役は自分自身です。少しでもお役に立つお話出来たら幸いです。よろしくお願い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最初に自己紹介させてください。
これを見て共通点ってありますか？（そういう方をサポートしたいと思っています。）
今回ご提案するプランは、これまでの僕の人生やキャリアがベースになって作られているので、それをご紹介させてください。
今でこそセールスコーチをやらせていただいていますが、実は・・・・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アウトレットとか、デパートとか、ショッピングモールでクレジットカードの営業見たことありません？
セールスから逃げた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ペライチってご存知ですか？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「このプランはこうしてできたあったんですがここまで聞いてみて共通点とか、共感できるポイントってありましたか？」
「ではみなさん受けたらどう変わっているのかとのを、分かりやすく表にまとめました・・・」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なんでやったかというと、お金を稼げたかったから。
メンタル的にきついっていうイメージありませんか？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これを見てみて特にここは自分に必要そう、興味があるなと思うところはありますか？
こうなれたら嬉しいくないですか？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・セールスに罪悪感がある
・お金を受け取るブロック
・商品に対する自信のなさ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・今の話で何かご質問はありませんか？
・ワクワクする気持ちになってきましたか？
・では今度は実際にこのプランで成果を上げたクライアント様を1人ずつ紹介します。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「このプランはこうしてできたあったんですがここまで聞いてみて共通点とか、共感できるポイントってありましたか？」
「ではみなさん受けたらどう変わっているのかとのを、分かりやすく表にまとめました・・・」
【元スライド】うすめの法則（学び浸透の法則）うなずき、スマイル、メモをしている人が学びの浸透がいいということです。しかし！聞いただけでは6％、アウトプットして54％、実践して75％、人に教えて90％の学びの浸透なのです！昨年から受講して頂いた方には必ず講師、伝承者として次の日に教えるという心構えで参加してくださいと伝えました。そうしたら、受講後次の週に早速講座を開催して頂ける方が出てきました。伝える心構えの大切さを学び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【ご感想の全文】
レジオン八ヶ岳で発酵実践塾を受講。濃く、幸せな、学びの3日間でした。
きっかけは去年こちらで頂いた縄文漬け。今まで食べた漬物とは違う、身体の深いところが喜んでいるような美味しさだったのです。その前にも米粉パンや天然酵母パンを頂いたことがあり、それらもとても美味しくて。連れて行ってくれたサッチーに、レジオンさんで発酵実践塾をされているみたいよ、と聞いてぜひ受講したい！と思ったのが半年前。今回サッチー、ハワイのれいこさん、東京の井出さんも一緒に受講することができました。
藤巻シェフとまりこさんから直接、少人数で教えて頂ける貴重な体験。シェフの手際を見ながら、実際に手を動かしながら習う発酵食品作りは本を見て見様見真似で作るのとは全く違う。気付きがたくさんありました。動画も頂けるので、家に帰ったら見ながら復習して生活に落とし込みたいと思います。
発酵実践塾の様子は藤巻シェフがFBにあげてくださったので、私はレジオンさんで今回頂いた発酵食の写真をあげます。どれもこれも本当に美味しくてさらに身体にもいいなんて最高。
藤巻シェフ、まりこさん、愛あふれる素晴らしい3日間の学びの場を提供してくださりありがとうございました！これからも末永くよろしくお願いいたします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紹介したお客様の中で「特に自分の似ているな」とか「この人みたいになりたいなって思った方はいませんか？」
ではなぜこうしてお客様が一人一人がしっかり成果が出ているかというと、
それは今まで説明してきた内容であったり
また僕自身がこれまで自分が成果を上げるためにたくさんのことを学んできて、それらを全てクライアント様に伝えられるからなんですね。参考までに今までどんなことを学んできて、何を伝えられるかと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紹介したお客様の中で「特に自分の似ているな」とか「この人みたいになりたいなって思った方はいませんか？」
ではなぜこうしてお客様が一人一人がしっかり成果が出ているかというと、
それは今まで説明してきた内容であったり
また僕自身がこれまで自分が成果を上げるためにたくさんのことを学んできて、それらを全てクライアント様に伝えられるからなんですね。参考までに今までどんなことを学んできて、何を伝えられるかと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もし、僕にセールススキルも学びたいし、メンタルブロックも外したいと相談して、僕がじゃあ僕と同じようにここに書いてある講座に全て通ってくださいと言われたらどんなこと思いますか？
そうですよね、みなさんそう言います。
またセールスなんとかしたいって今すぐ解決したいことですよね？こんな時間かけたくないですよね？
本当に大事なことはこれらを全て学ぶことではない、
今ある課題に対して、必要なものを必要な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ここは何かご質問はありませんか？
実は１週間前から、ミルキーさんが受けたらどうなるかなって思ってワクワクしながら作ってものがあるんですが、みていただけますか？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今の話を聞いてみて、ワクワクした気持ちになっていただけましたか？
「私と一緒にこのプログラムに取り組めば、〇〇さんがよくなっていく(目標に近づける、課題が解決さ
れる)イメージはできますか?」
→「はい」
→「いいですね!そしたら具体的にどうなりそうですか?」
→「さらにどうなっていきますか?」
本当のゴールまで見えたらそのゴールを達成すると、どんな気持ちになるか?、どんな場所にいて、どん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ここについて何かご質問ありますか？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どうしても最初にある程度まとまった金額が必要になってくるので、背中を押させていただきたいということで、ご契約いただいた方だけにこれから紹介する特別な特典を全て無料でお付けしています。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・普段連絡ツールって何を使っていますか？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写真楽しそうじゃないですか？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この５つの特典で特にどの特典が嬉しいなとか使ってみたいなと思いませんか？
マンツーマン＋グループで個別コンサルト講座のいいとこ取りをしている！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メニューに関して何かご質問はありませんか？
金額の発表はこれからですが、金額抜きにして単純に内容だけ見たらどのコース受けたいと思いましたか？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もし、僕にセールススキルも学びたいし、メンタルブロックも外したいと相談して、僕がじゃあ僕と同じようにここに書いてある講座に全て通ってくださいと言われたらどんなこと思いますか？
そうですよね、みなさんそう言います。
またセールスなんとかしたいって今すぐ解決したいことですよね？こんな時間かけたくないですよね？
本当に大事なことはこれらを全て学ぶことではない、
今ある課題に対して、必要なものを必要な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・全体振り返っての疑問質問はありませんか？
・ここまで聞いてみてこのプラン受けてみたいと思っていただけましたか？
ここまで聞いたらみなさんあとは気になるというのが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次に出てくる金額が一番安く、なおかつ一番成果が出やすい銀行振込一括の金額です。分割、クレジットは。。。
ではここから価格を発表しますが、心の準備は宜しいでしょうか？
最初はVIP（本気で関わる、本気の金額です）
なんですけど、こちら定価でして、、、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こういう方を応援したいと思っているので、、、
先にモニター特典を紹介すると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なんですが、こちら使う必要ありません。
なぜなら〜〜だから。
倍以上の金額を出すぞという気持ちで受けて欲しいし、それができる人です。
ただ安心してお申し込みできるようにできている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次に出てくる金額が一番安く、なおかつ一番成果が出やすい銀行振込一括の金額です。分割、クレジットは。。。
ではここから価格を発表しますが、心の準備は宜しいでしょうか？
最初はVIP（本気で関わる、本気の金額です）
なんですけど、こちら定価でして、、、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メニューに関して何かご質問はありませんか？
金額の発表はこれからですが、金額抜きにして単純に内容だけ見たらどのコース受けたいと思いましたか？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次に出てくる金額が一番安く、なおかつ一番成果が出やすい銀行振込一括の金額です。分割、クレジットは。。。
ではここから価格を発表しますが、心の準備は宜しいでしょうか？
最初はVIP（本気で関わる、本気の金額です）
なんですけど、こちら定価でして、、、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このタイトルを見て、いいなと思ったところ教えてもらえますか？
なぜですか？
※お客様のお名前を「〜さん」に入れて使うテンプレートです。
【元スライドの全文】
本日の体験セッションの実りあるものにするために和多志の志とお伝えしたいこと。
～さんの輝く未来、100％～さんの未来地図を描くお手伝いの時間にしたいと考えています。先に天給自足を経験した者として～さんの人生に必要な応援者になりたいと思っています。残りの人生の時間をどう作るか、和多志は本来の日本の食の復活が日本全体の復活につながると考えています。世の中を変えるには二つしかないとの思いに至りました。
武力か伝承かしか世の中を変えられません。政治家、教育者、医者、ジャーナリスト、インフルエンサーに任せていても世の中は良くなりません。80年以上に日本を弱体化するために政策等を伝承してきていまの日本があります。すべてのひとがまず足元の自分の食は自分で確保しながら日本の食文化、伝統文化、徳文化を伝承してゆくしかないと思います。人生の質は選択の質！
自分によりしっくりくる、勇気付けてくれる、後押ししてくれる選択
一生モノの食のスキル（天給自足）を習得し
これからの人生をどう生きるか？
天給自足は単なるスキルではありません、自分の人生をどう生きてゆきたいか？
人生の主役はあなたです！！自分で人生を作る。迷い、不安の振り回される時間を自分の本質に沿った時間に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8A8F86"/>
                </a:solidFill>
                <a:latin typeface="BIZ UDPGothic" pitchFamily="34" charset="0"/>
                <a:ea typeface="BIZ UDPGothic" pitchFamily="34" charset="-122"/>
                <a:cs typeface="BIZ UDPGothic" pitchFamily="34" charset="-120"/>
              </a:rPr>
              <a:t>天給自足実践塾 ｜ 藤巻正夫</a:t>
            </a:r>
            <a:endParaRPr lang="en-US" sz="1000" dirty="0"/>
          </a:p>
        </p:txBody>
      </p:sp>
      <p:sp>
        <p:nvSpPr>
          <p:cNvPr id="3" name="Text 1"/>
          <p:cNvSpPr/>
          <p:nvPr>
            <p:ph idx="101" type="title" hasCustomPrompt="1"/>
          </p:nvPr>
        </p:nvSpPr>
        <p:spPr>
          <a:xfrm>
            <a:off x="548640" y="566928"/>
            <a:ext cx="11064240" cy="749808"/>
          </a:xfrm>
          <a:prstGeom prst="rect">
            <a:avLst/>
          </a:prstGeom>
          <a:noFill/>
          <a:ln/>
        </p:spPr>
        <p:txBody>
          <a:bodyPr wrap="square" rtlCol="0"/>
          <a:lstStyle>
            <a:lvl1pPr algn="l" indent="0" marL="0">
              <a:buNone/>
              <a:defRPr lang="en-US" sz="3000" b="1" dirty="0">
                <a:solidFill>
                  <a:srgbClr val="1E4D3A"/>
                </a:solidFill>
                <a:latin typeface="BIZ UDPGothic" pitchFamily="34" charset="0"/>
                <a:ea typeface="BIZ UDPGothic" pitchFamily="34" charset="-122"/>
                <a:cs typeface="BIZ UDPGothic"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
    <p:bg>
      <p:bgPr>
        <a:solidFill>
          <a:srgbClr val="1E4D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2.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image" Target="../media/image-31-3.jp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image" Target="../media/image-32-3.jp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jp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jpg"/><Relationship Id="rId7" Type="http://schemas.openxmlformats.org/officeDocument/2006/relationships/slideLayout" Target="../slideLayouts/slideLayout2.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2.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slideLayout" Target="../slideLayouts/slideLayout2.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jp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2.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2.xml"/><Relationship Id="rId5"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oot/work/img/s01_61dbc221.jpg">    </p:cNvPr>
          <p:cNvPicPr>
            <a:picLocks noChangeAspect="1"/>
          </p:cNvPicPr>
          <p:nvPr/>
        </p:nvPicPr>
        <p:blipFill>
          <a:blip r:embed="rId1"/>
          <a:srcRect l="0" r="0" t="7749" b="7749"/>
          <a:stretch/>
        </p:blipFill>
        <p:spPr>
          <a:xfrm>
            <a:off x="0" y="-45720"/>
            <a:ext cx="12191695" cy="6858000"/>
          </a:xfrm>
          <a:prstGeom prst="rect">
            <a:avLst/>
          </a:prstGeom>
        </p:spPr>
      </p:pic>
      <p:pic>
        <p:nvPicPr>
          <p:cNvPr id="3" name="Image 1" descr="/root/work/gen/overlay_top.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txBox="1"/>
          <p:nvPr/>
        </p:nvSpPr>
        <p:spPr>
          <a:xfrm>
            <a:off x="822960" y="685800"/>
            <a:ext cx="10515600" cy="457200"/>
          </a:xfrm>
          <a:prstGeom prst="rect">
            <a:avLst/>
          </a:prstGeom>
          <a:noFill/>
          <a:ln/>
        </p:spPr>
        <p:txBody>
          <a:bodyPr wrap="square" lIns="635" tIns="635" rIns="635" bIns="635" rtlCol="0" anchor="t"/>
          <a:lstStyle/>
          <a:p>
            <a:pPr algn="ctr" indent="0" marL="0">
              <a:lnSpc>
                <a:spcPct val="120000"/>
              </a:lnSpc>
              <a:buNone/>
            </a:pPr>
            <a:r>
              <a:rPr lang="en-US" sz="2000" b="1" dirty="0">
                <a:solidFill>
                  <a:srgbClr val="F6D58E"/>
                </a:solidFill>
                <a:latin typeface="BIZ UDPGothic" pitchFamily="34" charset="0"/>
                <a:ea typeface="BIZ UDPGothic" pitchFamily="34" charset="-122"/>
                <a:cs typeface="BIZ UDPGothic" pitchFamily="34" charset="-120"/>
              </a:rPr>
              <a:t>天給自足実践塾の学びを未来に活かす</a:t>
            </a:r>
            <a:endParaRPr lang="en-US" sz="2000" dirty="0"/>
          </a:p>
        </p:txBody>
      </p:sp>
      <p:sp>
        <p:nvSpPr>
          <p:cNvPr id="5" name="Text 1"/>
          <p:cNvSpPr txBox="1"/>
          <p:nvPr/>
        </p:nvSpPr>
        <p:spPr>
          <a:xfrm>
            <a:off x="822960" y="1188720"/>
            <a:ext cx="10515600" cy="1097280"/>
          </a:xfrm>
          <a:prstGeom prst="rect">
            <a:avLst/>
          </a:prstGeom>
          <a:noFill/>
          <a:ln/>
        </p:spPr>
        <p:txBody>
          <a:bodyPr wrap="square" lIns="635" tIns="635" rIns="635" bIns="635" rtlCol="0" anchor="ctr"/>
          <a:lstStyle/>
          <a:p>
            <a:pPr algn="ctr" indent="0" marL="0">
              <a:lnSpc>
                <a:spcPct val="120000"/>
              </a:lnSpc>
              <a:buNone/>
            </a:pPr>
            <a:r>
              <a:rPr lang="en-US" sz="5400" dirty="0">
                <a:solidFill>
                  <a:srgbClr val="FFFFFF"/>
                </a:solidFill>
                <a:latin typeface="BIZ UDPMincho" pitchFamily="34" charset="0"/>
                <a:ea typeface="BIZ UDPMincho" pitchFamily="34" charset="-122"/>
                <a:cs typeface="BIZ UDPMincho" pitchFamily="34" charset="-120"/>
              </a:rPr>
              <a:t>まっちゃんの未来創造プラン</a:t>
            </a:r>
            <a:endParaRPr lang="en-US" sz="5400" dirty="0"/>
          </a:p>
        </p:txBody>
      </p:sp>
      <p:sp>
        <p:nvSpPr>
          <p:cNvPr id="6" name="Text 2"/>
          <p:cNvSpPr txBox="1"/>
          <p:nvPr/>
        </p:nvSpPr>
        <p:spPr>
          <a:xfrm>
            <a:off x="1280160" y="2377440"/>
            <a:ext cx="9601200" cy="914400"/>
          </a:xfrm>
          <a:prstGeom prst="rect">
            <a:avLst/>
          </a:prstGeom>
          <a:noFill/>
          <a:ln/>
        </p:spPr>
        <p:txBody>
          <a:bodyPr wrap="square" lIns="635" tIns="635" rIns="635" bIns="635" rtlCol="0" anchor="t"/>
          <a:lstStyle/>
          <a:p>
            <a:pPr algn="ctr" indent="0" marL="0">
              <a:lnSpc>
                <a:spcPct val="120000"/>
              </a:lnSpc>
              <a:buNone/>
            </a:pPr>
            <a:r>
              <a:rPr lang="en-US" sz="1800" dirty="0">
                <a:solidFill>
                  <a:srgbClr val="FFFFFF"/>
                </a:solidFill>
                <a:latin typeface="BIZ UDPGothic" pitchFamily="34" charset="0"/>
                <a:ea typeface="BIZ UDPGothic" pitchFamily="34" charset="-122"/>
                <a:cs typeface="BIZ UDPGothic" pitchFamily="34" charset="-120"/>
              </a:rPr>
              <a:t>天給自足、発酵食と自然農、野草、きのこ ―― 一生モノの食のスキルを</a:t>
            </a:r>
            <a:endParaRPr lang="en-US" sz="1800" dirty="0"/>
          </a:p>
          <a:p>
            <a:pPr algn="ctr" indent="0" marL="0">
              <a:lnSpc>
                <a:spcPct val="120000"/>
              </a:lnSpc>
              <a:buNone/>
            </a:pPr>
            <a:r>
              <a:rPr lang="en-US" sz="1800" dirty="0">
                <a:solidFill>
                  <a:srgbClr val="FFFFFF"/>
                </a:solidFill>
                <a:latin typeface="BIZ UDPGothic" pitchFamily="34" charset="0"/>
                <a:ea typeface="BIZ UDPGothic" pitchFamily="34" charset="-122"/>
                <a:cs typeface="BIZ UDPGothic" pitchFamily="34" charset="-120"/>
              </a:rPr>
              <a:t>これからの生活に連動し、どう活かすか</a:t>
            </a:r>
            <a:endParaRPr lang="en-US" sz="1800" dirty="0"/>
          </a:p>
        </p:txBody>
      </p:sp>
      <p:sp>
        <p:nvSpPr>
          <p:cNvPr id="7" name="Shape 3"/>
          <p:cNvSpPr/>
          <p:nvPr/>
        </p:nvSpPr>
        <p:spPr>
          <a:xfrm>
            <a:off x="3108960" y="3520440"/>
            <a:ext cx="5971032" cy="512064"/>
          </a:xfrm>
          <a:prstGeom prst="roundRect">
            <a:avLst>
              <a:gd name="adj" fmla="val 50000"/>
            </a:avLst>
          </a:prstGeom>
          <a:solidFill>
            <a:srgbClr val="FFFFFF">
              <a:alpha val="85000"/>
            </a:srgbClr>
          </a:solidFill>
          <a:ln/>
        </p:spPr>
      </p:sp>
      <p:sp>
        <p:nvSpPr>
          <p:cNvPr id="8" name="Text 4"/>
          <p:cNvSpPr txBox="1"/>
          <p:nvPr/>
        </p:nvSpPr>
        <p:spPr>
          <a:xfrm>
            <a:off x="3108960" y="3520440"/>
            <a:ext cx="5971032" cy="512064"/>
          </a:xfrm>
          <a:prstGeom prst="rect">
            <a:avLst/>
          </a:prstGeom>
          <a:noFill/>
          <a:ln/>
        </p:spPr>
        <p:txBody>
          <a:bodyPr wrap="square" lIns="635" tIns="635" rIns="635" bIns="635" rtlCol="0" anchor="ctr"/>
          <a:lstStyle/>
          <a:p>
            <a:pPr algn="ctr" indent="0" marL="0">
              <a:lnSpc>
                <a:spcPct val="120000"/>
              </a:lnSpc>
              <a:buNone/>
            </a:pPr>
            <a:r>
              <a:rPr lang="en-US" sz="1600" b="1" dirty="0">
                <a:solidFill>
                  <a:srgbClr val="1E4D3A"/>
                </a:solidFill>
                <a:latin typeface="BIZ UDPGothic" pitchFamily="34" charset="0"/>
                <a:ea typeface="BIZ UDPGothic" pitchFamily="34" charset="-122"/>
                <a:cs typeface="BIZ UDPGothic" pitchFamily="34" charset="-120"/>
              </a:rPr>
              <a:t>日本の食文化・伝統文化・徳文化をいかに伝承するか</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本日の体験セッションを実りあるものにするために</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今日という日は、残りの人生の最初の日です</a:t>
            </a:r>
            <a:endParaRPr lang="en-US" sz="3000" dirty="0"/>
          </a:p>
        </p:txBody>
      </p:sp>
      <p:sp>
        <p:nvSpPr>
          <p:cNvPr id="4" name="Shape 2"/>
          <p:cNvSpPr/>
          <p:nvPr/>
        </p:nvSpPr>
        <p:spPr>
          <a:xfrm>
            <a:off x="548640" y="1600200"/>
            <a:ext cx="3520440" cy="3611880"/>
          </a:xfrm>
          <a:prstGeom prst="roundRect">
            <a:avLst>
              <a:gd name="adj" fmla="val 3117"/>
            </a:avLst>
          </a:prstGeom>
          <a:solidFill>
            <a:srgbClr val="F6F8F4"/>
          </a:solidFill>
          <a:ln/>
          <a:effectLst>
            <a:outerShdw sx="100000" sy="100000" kx="0" ky="0" algn="bl" rotWithShape="0" blurRad="127000" dist="25400" dir="5400000">
              <a:srgbClr val="000000">
                <a:alpha val="13000"/>
              </a:srgbClr>
            </a:outerShdw>
          </a:effectLst>
        </p:spPr>
      </p:sp>
      <p:sp>
        <p:nvSpPr>
          <p:cNvPr id="5" name="Shape 3"/>
          <p:cNvSpPr/>
          <p:nvPr/>
        </p:nvSpPr>
        <p:spPr>
          <a:xfrm>
            <a:off x="868680" y="1874520"/>
            <a:ext cx="822960" cy="822960"/>
          </a:xfrm>
          <a:prstGeom prst="ellipse">
            <a:avLst/>
          </a:prstGeom>
          <a:solidFill>
            <a:srgbClr val="1E4D3A"/>
          </a:solidFill>
          <a:ln/>
        </p:spPr>
      </p:sp>
      <p:pic>
        <p:nvPicPr>
          <p:cNvPr id="6" name="Image 0" descr="preencoded.png">    </p:cNvPr>
          <p:cNvPicPr>
            <a:picLocks noChangeAspect="1"/>
          </p:cNvPicPr>
          <p:nvPr/>
        </p:nvPicPr>
        <p:blipFill>
          <a:blip r:embed="rId1"/>
          <a:stretch>
            <a:fillRect/>
          </a:stretch>
        </p:blipFill>
        <p:spPr>
          <a:xfrm>
            <a:off x="1066190" y="2072030"/>
            <a:ext cx="427939" cy="427939"/>
          </a:xfrm>
          <a:prstGeom prst="rect">
            <a:avLst/>
          </a:prstGeom>
        </p:spPr>
      </p:pic>
      <p:sp>
        <p:nvSpPr>
          <p:cNvPr id="7" name="Text 4"/>
          <p:cNvSpPr txBox="1"/>
          <p:nvPr/>
        </p:nvSpPr>
        <p:spPr>
          <a:xfrm>
            <a:off x="822960" y="2834640"/>
            <a:ext cx="3017520" cy="777240"/>
          </a:xfrm>
          <a:prstGeom prst="rect">
            <a:avLst/>
          </a:prstGeom>
          <a:noFill/>
          <a:ln/>
        </p:spPr>
        <p:txBody>
          <a:bodyPr wrap="square" lIns="635" tIns="635" rIns="635" bIns="635" rtlCol="0" anchor="t"/>
          <a:lstStyle/>
          <a:p>
            <a:pPr indent="0" marL="0">
              <a:lnSpc>
                <a:spcPct val="120000"/>
              </a:lnSpc>
              <a:buNone/>
            </a:pPr>
            <a:r>
              <a:rPr lang="en-US" sz="2000" b="1" dirty="0">
                <a:solidFill>
                  <a:srgbClr val="1E4D3A"/>
                </a:solidFill>
                <a:latin typeface="BIZ UDPGothic" pitchFamily="34" charset="0"/>
                <a:ea typeface="BIZ UDPGothic" pitchFamily="34" charset="-122"/>
                <a:cs typeface="BIZ UDPGothic" pitchFamily="34" charset="-120"/>
              </a:rPr>
              <a:t>輝く未来を描く時間に</a:t>
            </a:r>
            <a:endParaRPr lang="en-US" sz="2000" dirty="0"/>
          </a:p>
        </p:txBody>
      </p:sp>
      <p:sp>
        <p:nvSpPr>
          <p:cNvPr id="8" name="Text 5"/>
          <p:cNvSpPr txBox="1"/>
          <p:nvPr/>
        </p:nvSpPr>
        <p:spPr>
          <a:xfrm>
            <a:off x="822960" y="3611880"/>
            <a:ext cx="3017520" cy="150876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先に天給自足を経験した者として、まっちゃんの人生に必要な応援者になりたいと思っています。</a:t>
            </a:r>
            <a:endParaRPr lang="en-US" sz="1600" dirty="0"/>
          </a:p>
        </p:txBody>
      </p:sp>
      <p:sp>
        <p:nvSpPr>
          <p:cNvPr id="9" name="Shape 6"/>
          <p:cNvSpPr/>
          <p:nvPr/>
        </p:nvSpPr>
        <p:spPr>
          <a:xfrm>
            <a:off x="4297680" y="1600200"/>
            <a:ext cx="3520440" cy="3611880"/>
          </a:xfrm>
          <a:prstGeom prst="roundRect">
            <a:avLst>
              <a:gd name="adj" fmla="val 3117"/>
            </a:avLst>
          </a:prstGeom>
          <a:solidFill>
            <a:srgbClr val="F6F8F4"/>
          </a:solidFill>
          <a:ln/>
          <a:effectLst>
            <a:outerShdw sx="100000" sy="100000" kx="0" ky="0" algn="bl" rotWithShape="0" blurRad="127000" dist="25400" dir="5400000">
              <a:srgbClr val="000000">
                <a:alpha val="13000"/>
              </a:srgbClr>
            </a:outerShdw>
          </a:effectLst>
        </p:spPr>
      </p:sp>
      <p:sp>
        <p:nvSpPr>
          <p:cNvPr id="10" name="Shape 7"/>
          <p:cNvSpPr/>
          <p:nvPr/>
        </p:nvSpPr>
        <p:spPr>
          <a:xfrm>
            <a:off x="4617720" y="1874520"/>
            <a:ext cx="822960" cy="822960"/>
          </a:xfrm>
          <a:prstGeom prst="ellipse">
            <a:avLst/>
          </a:prstGeom>
          <a:solidFill>
            <a:srgbClr val="1E4D3A"/>
          </a:solidFill>
          <a:ln/>
        </p:spPr>
      </p:sp>
      <p:pic>
        <p:nvPicPr>
          <p:cNvPr id="11" name="Image 1" descr="preencoded.png">    </p:cNvPr>
          <p:cNvPicPr>
            <a:picLocks noChangeAspect="1"/>
          </p:cNvPicPr>
          <p:nvPr/>
        </p:nvPicPr>
        <p:blipFill>
          <a:blip r:embed="rId2"/>
          <a:stretch>
            <a:fillRect/>
          </a:stretch>
        </p:blipFill>
        <p:spPr>
          <a:xfrm>
            <a:off x="4815230" y="2072030"/>
            <a:ext cx="427939" cy="427939"/>
          </a:xfrm>
          <a:prstGeom prst="rect">
            <a:avLst/>
          </a:prstGeom>
        </p:spPr>
      </p:pic>
      <p:sp>
        <p:nvSpPr>
          <p:cNvPr id="12" name="Text 8"/>
          <p:cNvSpPr txBox="1"/>
          <p:nvPr/>
        </p:nvSpPr>
        <p:spPr>
          <a:xfrm>
            <a:off x="4572000" y="2834640"/>
            <a:ext cx="3017520" cy="777240"/>
          </a:xfrm>
          <a:prstGeom prst="rect">
            <a:avLst/>
          </a:prstGeom>
          <a:noFill/>
          <a:ln/>
        </p:spPr>
        <p:txBody>
          <a:bodyPr wrap="square" lIns="635" tIns="635" rIns="635" bIns="635" rtlCol="0" anchor="t"/>
          <a:lstStyle/>
          <a:p>
            <a:pPr indent="0" marL="0">
              <a:lnSpc>
                <a:spcPct val="120000"/>
              </a:lnSpc>
              <a:buNone/>
            </a:pPr>
            <a:r>
              <a:rPr lang="en-US" sz="2000" b="1" dirty="0">
                <a:solidFill>
                  <a:srgbClr val="1E4D3A"/>
                </a:solidFill>
                <a:latin typeface="BIZ UDPGothic" pitchFamily="34" charset="0"/>
                <a:ea typeface="BIZ UDPGothic" pitchFamily="34" charset="-122"/>
                <a:cs typeface="BIZ UDPGothic" pitchFamily="34" charset="-120"/>
              </a:rPr>
              <a:t>世の中を変えるのは「伝承」</a:t>
            </a:r>
            <a:endParaRPr lang="en-US" sz="2000" dirty="0"/>
          </a:p>
        </p:txBody>
      </p:sp>
      <p:sp>
        <p:nvSpPr>
          <p:cNvPr id="13" name="Text 9"/>
          <p:cNvSpPr txBox="1"/>
          <p:nvPr/>
        </p:nvSpPr>
        <p:spPr>
          <a:xfrm>
            <a:off x="4572000" y="3611880"/>
            <a:ext cx="3017520" cy="150876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一人ひとりが足元の食を自分で確保しながら、日本の食文化・伝統文化・徳文化を伝承してゆく。食の復活が日本の復活につながります。</a:t>
            </a:r>
            <a:endParaRPr lang="en-US" sz="1600" dirty="0"/>
          </a:p>
        </p:txBody>
      </p:sp>
      <p:sp>
        <p:nvSpPr>
          <p:cNvPr id="14" name="Shape 10"/>
          <p:cNvSpPr/>
          <p:nvPr/>
        </p:nvSpPr>
        <p:spPr>
          <a:xfrm>
            <a:off x="8046720" y="1600200"/>
            <a:ext cx="3520440" cy="3611880"/>
          </a:xfrm>
          <a:prstGeom prst="roundRect">
            <a:avLst>
              <a:gd name="adj" fmla="val 3117"/>
            </a:avLst>
          </a:prstGeom>
          <a:solidFill>
            <a:srgbClr val="F6F8F4"/>
          </a:solidFill>
          <a:ln/>
          <a:effectLst>
            <a:outerShdw sx="100000" sy="100000" kx="0" ky="0" algn="bl" rotWithShape="0" blurRad="127000" dist="25400" dir="5400000">
              <a:srgbClr val="000000">
                <a:alpha val="13000"/>
              </a:srgbClr>
            </a:outerShdw>
          </a:effectLst>
        </p:spPr>
      </p:sp>
      <p:sp>
        <p:nvSpPr>
          <p:cNvPr id="15" name="Shape 11"/>
          <p:cNvSpPr/>
          <p:nvPr/>
        </p:nvSpPr>
        <p:spPr>
          <a:xfrm>
            <a:off x="8366760" y="1874520"/>
            <a:ext cx="822960" cy="822960"/>
          </a:xfrm>
          <a:prstGeom prst="ellipse">
            <a:avLst/>
          </a:prstGeom>
          <a:solidFill>
            <a:srgbClr val="1E4D3A"/>
          </a:solidFill>
          <a:ln/>
        </p:spPr>
      </p:sp>
      <p:pic>
        <p:nvPicPr>
          <p:cNvPr id="16" name="Image 2" descr="preencoded.png">    </p:cNvPr>
          <p:cNvPicPr>
            <a:picLocks noChangeAspect="1"/>
          </p:cNvPicPr>
          <p:nvPr/>
        </p:nvPicPr>
        <p:blipFill>
          <a:blip r:embed="rId3"/>
          <a:stretch>
            <a:fillRect/>
          </a:stretch>
        </p:blipFill>
        <p:spPr>
          <a:xfrm>
            <a:off x="8564270" y="2072030"/>
            <a:ext cx="427939" cy="427939"/>
          </a:xfrm>
          <a:prstGeom prst="rect">
            <a:avLst/>
          </a:prstGeom>
        </p:spPr>
      </p:pic>
      <p:sp>
        <p:nvSpPr>
          <p:cNvPr id="17" name="Text 12"/>
          <p:cNvSpPr txBox="1"/>
          <p:nvPr/>
        </p:nvSpPr>
        <p:spPr>
          <a:xfrm>
            <a:off x="8321040" y="2834640"/>
            <a:ext cx="3017520" cy="777240"/>
          </a:xfrm>
          <a:prstGeom prst="rect">
            <a:avLst/>
          </a:prstGeom>
          <a:noFill/>
          <a:ln/>
        </p:spPr>
        <p:txBody>
          <a:bodyPr wrap="square" lIns="635" tIns="635" rIns="635" bIns="635" rtlCol="0" anchor="t"/>
          <a:lstStyle/>
          <a:p>
            <a:pPr indent="0" marL="0">
              <a:lnSpc>
                <a:spcPct val="120000"/>
              </a:lnSpc>
              <a:buNone/>
            </a:pPr>
            <a:r>
              <a:rPr lang="en-US" sz="2000" b="1" dirty="0">
                <a:solidFill>
                  <a:srgbClr val="1E4D3A"/>
                </a:solidFill>
                <a:latin typeface="BIZ UDPGothic" pitchFamily="34" charset="0"/>
                <a:ea typeface="BIZ UDPGothic" pitchFamily="34" charset="-122"/>
                <a:cs typeface="BIZ UDPGothic" pitchFamily="34" charset="-120"/>
              </a:rPr>
              <a:t>人生の質は、選択の質</a:t>
            </a:r>
            <a:endParaRPr lang="en-US" sz="2000" dirty="0"/>
          </a:p>
        </p:txBody>
      </p:sp>
      <p:sp>
        <p:nvSpPr>
          <p:cNvPr id="18" name="Text 13"/>
          <p:cNvSpPr txBox="1"/>
          <p:nvPr/>
        </p:nvSpPr>
        <p:spPr>
          <a:xfrm>
            <a:off x="8321040" y="3611880"/>
            <a:ext cx="3017520" cy="150876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一生モノの食のスキル（天給自足）を、これからまっちゃんがどう活かすか。いっしょに考える時間にしましょう。</a:t>
            </a:r>
            <a:endParaRPr lang="en-US" sz="1600" dirty="0"/>
          </a:p>
        </p:txBody>
      </p:sp>
      <p:sp>
        <p:nvSpPr>
          <p:cNvPr id="19" name="Shape 14"/>
          <p:cNvSpPr/>
          <p:nvPr/>
        </p:nvSpPr>
        <p:spPr>
          <a:xfrm>
            <a:off x="548640" y="5440680"/>
            <a:ext cx="11064240" cy="731520"/>
          </a:xfrm>
          <a:prstGeom prst="roundRect">
            <a:avLst>
              <a:gd name="adj" fmla="val 50000"/>
            </a:avLst>
          </a:prstGeom>
          <a:solidFill>
            <a:srgbClr val="1E4D3A"/>
          </a:solidFill>
          <a:ln/>
        </p:spPr>
      </p:sp>
      <p:sp>
        <p:nvSpPr>
          <p:cNvPr id="20" name="Text 15"/>
          <p:cNvSpPr txBox="1"/>
          <p:nvPr/>
        </p:nvSpPr>
        <p:spPr>
          <a:xfrm>
            <a:off x="822960" y="5440680"/>
            <a:ext cx="10515600" cy="731520"/>
          </a:xfrm>
          <a:prstGeom prst="rect">
            <a:avLst/>
          </a:prstGeom>
          <a:noFill/>
          <a:ln/>
        </p:spPr>
        <p:txBody>
          <a:bodyPr wrap="square" lIns="635" tIns="635" rIns="635" bIns="635" rtlCol="0" anchor="ctr"/>
          <a:lstStyle/>
          <a:p>
            <a:pPr algn="ctr" indent="0" marL="0">
              <a:lnSpc>
                <a:spcPct val="120000"/>
              </a:lnSpc>
              <a:buNone/>
            </a:pPr>
            <a:r>
              <a:rPr lang="en-US" sz="1700" b="1" dirty="0">
                <a:solidFill>
                  <a:srgbClr val="FFFFFF"/>
                </a:solidFill>
                <a:latin typeface="BIZ UDPGothic" pitchFamily="34" charset="0"/>
                <a:ea typeface="BIZ UDPGothic" pitchFamily="34" charset="-122"/>
                <a:cs typeface="BIZ UDPGothic" pitchFamily="34" charset="-120"/>
              </a:rPr>
              <a:t>人生の主役は、自分自身です。</a:t>
            </a:r>
            <a:pPr algn="ctr" indent="0" marL="0">
              <a:lnSpc>
                <a:spcPct val="120000"/>
              </a:lnSpc>
              <a:buNone/>
            </a:pPr>
            <a:r>
              <a:rPr lang="en-US" sz="1700" dirty="0">
                <a:solidFill>
                  <a:srgbClr val="DDE8DF"/>
                </a:solidFill>
                <a:latin typeface="BIZ UDPGothic" pitchFamily="34" charset="0"/>
                <a:ea typeface="BIZ UDPGothic" pitchFamily="34" charset="-122"/>
                <a:cs typeface="BIZ UDPGothic" pitchFamily="34" charset="-120"/>
              </a:rPr>
              <a:t>　天給自足は単なるスキルではなく、これからの人生をどう生きるかの選択です。</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1554480"/>
            <a:ext cx="2743200" cy="109728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01</a:t>
            </a:r>
            <a:endParaRPr lang="en-US" sz="7200" dirty="0"/>
          </a:p>
        </p:txBody>
      </p:sp>
      <p:sp>
        <p:nvSpPr>
          <p:cNvPr id="3" name="Text 1"/>
          <p:cNvSpPr txBox="1"/>
          <p:nvPr/>
        </p:nvSpPr>
        <p:spPr>
          <a:xfrm>
            <a:off x="822960" y="2697480"/>
            <a:ext cx="10058400" cy="914400"/>
          </a:xfrm>
          <a:prstGeom prst="rect">
            <a:avLst/>
          </a:prstGeom>
          <a:noFill/>
          <a:ln/>
        </p:spPr>
        <p:txBody>
          <a:bodyPr wrap="square" lIns="635" tIns="635" rIns="635" bIns="635" rtlCol="0" anchor="t"/>
          <a:lstStyle/>
          <a:p>
            <a:pPr indent="0" marL="0">
              <a:lnSpc>
                <a:spcPct val="120000"/>
              </a:lnSpc>
              <a:buNone/>
            </a:pPr>
            <a:r>
              <a:rPr lang="en-US" sz="4400" dirty="0">
                <a:solidFill>
                  <a:srgbClr val="FFFFFF"/>
                </a:solidFill>
                <a:latin typeface="BIZ UDPMincho" pitchFamily="34" charset="0"/>
                <a:ea typeface="BIZ UDPMincho" pitchFamily="34" charset="-122"/>
                <a:cs typeface="BIZ UDPMincho" pitchFamily="34" charset="-120"/>
              </a:rPr>
              <a:t>わたしについて</a:t>
            </a:r>
            <a:endParaRPr lang="en-US" sz="4400" dirty="0"/>
          </a:p>
        </p:txBody>
      </p:sp>
      <p:sp>
        <p:nvSpPr>
          <p:cNvPr id="4" name="Text 2"/>
          <p:cNvSpPr txBox="1"/>
          <p:nvPr/>
        </p:nvSpPr>
        <p:spPr>
          <a:xfrm>
            <a:off x="822960" y="3703320"/>
            <a:ext cx="9144000" cy="548640"/>
          </a:xfrm>
          <a:prstGeom prst="rect">
            <a:avLst/>
          </a:prstGeom>
          <a:noFill/>
          <a:ln/>
        </p:spPr>
        <p:txBody>
          <a:bodyPr wrap="square" lIns="635" tIns="635" rIns="635" bIns="635" rtlCol="0" anchor="t"/>
          <a:lstStyle/>
          <a:p>
            <a:pPr indent="0" marL="0">
              <a:lnSpc>
                <a:spcPct val="120000"/>
              </a:lnSpc>
              <a:buNone/>
            </a:pPr>
            <a:r>
              <a:rPr lang="en-US" sz="2000" dirty="0">
                <a:solidFill>
                  <a:srgbClr val="CFE0D3"/>
                </a:solidFill>
                <a:latin typeface="BIZ UDPGothic" pitchFamily="34" charset="0"/>
                <a:ea typeface="BIZ UDPGothic" pitchFamily="34" charset="-122"/>
                <a:cs typeface="BIZ UDPGothic" pitchFamily="34" charset="-120"/>
              </a:rPr>
              <a:t>天の恵みを活かして、美味しく健康に</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自己紹介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藤巻正夫（Masao Fujimaki）</a:t>
            </a:r>
            <a:endParaRPr lang="en-US" sz="3000" dirty="0"/>
          </a:p>
        </p:txBody>
      </p:sp>
      <p:pic>
        <p:nvPicPr>
          <p:cNvPr id="4" name="Image 0" descr="/root/work/gen/p_s03_d17d980d_528x720_FFFFFF.jpg">    </p:cNvPr>
          <p:cNvPicPr>
            <a:picLocks noChangeAspect="1"/>
          </p:cNvPicPr>
          <p:nvPr/>
        </p:nvPicPr>
        <p:blipFill>
          <a:blip r:embed="rId1"/>
          <a:stretch>
            <a:fillRect/>
          </a:stretch>
        </p:blipFill>
        <p:spPr>
          <a:xfrm>
            <a:off x="548640" y="1554480"/>
            <a:ext cx="3017520" cy="4114800"/>
          </a:xfrm>
          <a:prstGeom prst="rect">
            <a:avLst/>
          </a:prstGeom>
          <a:effectLst>
            <a:outerShdw sx="100000" sy="100000" kx="0" ky="0" algn="bl" rotWithShape="0" blurRad="127000" dist="25400" dir="5400000">
              <a:srgbClr val="000000">
                <a:alpha val="13000"/>
              </a:srgbClr>
            </a:outerShdw>
          </a:effectLst>
        </p:spPr>
      </p:pic>
      <p:sp>
        <p:nvSpPr>
          <p:cNvPr id="5" name="Text 2"/>
          <p:cNvSpPr txBox="1"/>
          <p:nvPr/>
        </p:nvSpPr>
        <p:spPr>
          <a:xfrm>
            <a:off x="548640" y="5760720"/>
            <a:ext cx="3840480" cy="365760"/>
          </a:xfrm>
          <a:prstGeom prst="rect">
            <a:avLst/>
          </a:prstGeom>
          <a:noFill/>
          <a:ln/>
        </p:spPr>
        <p:txBody>
          <a:bodyPr wrap="square" lIns="635" tIns="635" rIns="635" bIns="635" rtlCol="0" anchor="t"/>
          <a:lstStyle/>
          <a:p>
            <a:pPr indent="0" marL="0">
              <a:lnSpc>
                <a:spcPct val="120000"/>
              </a:lnSpc>
              <a:buNone/>
            </a:pPr>
            <a:r>
              <a:rPr lang="en-US" sz="1400" b="1" dirty="0">
                <a:solidFill>
                  <a:srgbClr val="5E9E5A"/>
                </a:solidFill>
                <a:latin typeface="BIZ UDPGothic" pitchFamily="34" charset="0"/>
                <a:ea typeface="BIZ UDPGothic" pitchFamily="34" charset="-122"/>
                <a:cs typeface="BIZ UDPGothic" pitchFamily="34" charset="-120"/>
              </a:rPr>
              <a:t>天の恵みを活かして、美味しく健康に！</a:t>
            </a:r>
            <a:endParaRPr lang="en-US" sz="1400" dirty="0"/>
          </a:p>
        </p:txBody>
      </p:sp>
      <p:sp>
        <p:nvSpPr>
          <p:cNvPr id="6" name="Shape 3"/>
          <p:cNvSpPr/>
          <p:nvPr/>
        </p:nvSpPr>
        <p:spPr>
          <a:xfrm>
            <a:off x="3931920" y="1600200"/>
            <a:ext cx="457200" cy="457200"/>
          </a:xfrm>
          <a:prstGeom prst="ellipse">
            <a:avLst/>
          </a:prstGeom>
          <a:solidFill>
            <a:srgbClr val="EEF5EA"/>
          </a:solidFill>
          <a:ln/>
        </p:spPr>
      </p:sp>
      <p:pic>
        <p:nvPicPr>
          <p:cNvPr id="7" name="Image 1" descr="preencoded.png">    </p:cNvPr>
          <p:cNvPicPr>
            <a:picLocks noChangeAspect="1"/>
          </p:cNvPicPr>
          <p:nvPr/>
        </p:nvPicPr>
        <p:blipFill>
          <a:blip r:embed="rId2"/>
          <a:stretch>
            <a:fillRect/>
          </a:stretch>
        </p:blipFill>
        <p:spPr>
          <a:xfrm>
            <a:off x="4041648" y="1709928"/>
            <a:ext cx="237744" cy="237744"/>
          </a:xfrm>
          <a:prstGeom prst="rect">
            <a:avLst/>
          </a:prstGeom>
        </p:spPr>
      </p:pic>
      <p:sp>
        <p:nvSpPr>
          <p:cNvPr id="8" name="Text 4"/>
          <p:cNvSpPr txBox="1"/>
          <p:nvPr/>
        </p:nvSpPr>
        <p:spPr>
          <a:xfrm>
            <a:off x="4526280" y="1645920"/>
            <a:ext cx="1188720" cy="365760"/>
          </a:xfrm>
          <a:prstGeom prst="rect">
            <a:avLst/>
          </a:prstGeom>
          <a:noFill/>
          <a:ln/>
        </p:spPr>
        <p:txBody>
          <a:bodyPr wrap="square" lIns="635" tIns="635" rIns="635" bIns="635" rtlCol="0" anchor="ctr"/>
          <a:lstStyle/>
          <a:p>
            <a:pPr indent="0" marL="0">
              <a:lnSpc>
                <a:spcPct val="120000"/>
              </a:lnSpc>
              <a:buNone/>
            </a:pPr>
            <a:r>
              <a:rPr lang="en-US" sz="1500" b="1" dirty="0">
                <a:solidFill>
                  <a:srgbClr val="666666"/>
                </a:solidFill>
                <a:latin typeface="BIZ UDPGothic" pitchFamily="34" charset="0"/>
                <a:ea typeface="BIZ UDPGothic" pitchFamily="34" charset="-122"/>
                <a:cs typeface="BIZ UDPGothic" pitchFamily="34" charset="-120"/>
              </a:rPr>
              <a:t>生年月日</a:t>
            </a:r>
            <a:endParaRPr lang="en-US" sz="1500" dirty="0"/>
          </a:p>
        </p:txBody>
      </p:sp>
      <p:sp>
        <p:nvSpPr>
          <p:cNvPr id="9" name="Text 5"/>
          <p:cNvSpPr txBox="1"/>
          <p:nvPr/>
        </p:nvSpPr>
        <p:spPr>
          <a:xfrm>
            <a:off x="5715000" y="1645920"/>
            <a:ext cx="2377440" cy="36576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1958年1月8日</a:t>
            </a:r>
            <a:endParaRPr lang="en-US" sz="1600" dirty="0"/>
          </a:p>
        </p:txBody>
      </p:sp>
      <p:sp>
        <p:nvSpPr>
          <p:cNvPr id="10" name="Shape 6"/>
          <p:cNvSpPr/>
          <p:nvPr/>
        </p:nvSpPr>
        <p:spPr>
          <a:xfrm>
            <a:off x="3931920" y="2221992"/>
            <a:ext cx="457200" cy="457200"/>
          </a:xfrm>
          <a:prstGeom prst="ellipse">
            <a:avLst/>
          </a:prstGeom>
          <a:solidFill>
            <a:srgbClr val="EEF5EA"/>
          </a:solidFill>
          <a:ln/>
        </p:spPr>
      </p:sp>
      <p:pic>
        <p:nvPicPr>
          <p:cNvPr id="11" name="Image 2" descr="preencoded.png">    </p:cNvPr>
          <p:cNvPicPr>
            <a:picLocks noChangeAspect="1"/>
          </p:cNvPicPr>
          <p:nvPr/>
        </p:nvPicPr>
        <p:blipFill>
          <a:blip r:embed="rId3"/>
          <a:stretch>
            <a:fillRect/>
          </a:stretch>
        </p:blipFill>
        <p:spPr>
          <a:xfrm>
            <a:off x="4041648" y="2331720"/>
            <a:ext cx="237744" cy="237744"/>
          </a:xfrm>
          <a:prstGeom prst="rect">
            <a:avLst/>
          </a:prstGeom>
        </p:spPr>
      </p:pic>
      <p:sp>
        <p:nvSpPr>
          <p:cNvPr id="12" name="Text 7"/>
          <p:cNvSpPr txBox="1"/>
          <p:nvPr/>
        </p:nvSpPr>
        <p:spPr>
          <a:xfrm>
            <a:off x="4526280" y="2267712"/>
            <a:ext cx="1188720" cy="365760"/>
          </a:xfrm>
          <a:prstGeom prst="rect">
            <a:avLst/>
          </a:prstGeom>
          <a:noFill/>
          <a:ln/>
        </p:spPr>
        <p:txBody>
          <a:bodyPr wrap="square" lIns="635" tIns="635" rIns="635" bIns="635" rtlCol="0" anchor="ctr"/>
          <a:lstStyle/>
          <a:p>
            <a:pPr indent="0" marL="0">
              <a:lnSpc>
                <a:spcPct val="120000"/>
              </a:lnSpc>
              <a:buNone/>
            </a:pPr>
            <a:r>
              <a:rPr lang="en-US" sz="1500" b="1" dirty="0">
                <a:solidFill>
                  <a:srgbClr val="666666"/>
                </a:solidFill>
                <a:latin typeface="BIZ UDPGothic" pitchFamily="34" charset="0"/>
                <a:ea typeface="BIZ UDPGothic" pitchFamily="34" charset="-122"/>
                <a:cs typeface="BIZ UDPGothic" pitchFamily="34" charset="-120"/>
              </a:rPr>
              <a:t>出身</a:t>
            </a:r>
            <a:endParaRPr lang="en-US" sz="1500" dirty="0"/>
          </a:p>
        </p:txBody>
      </p:sp>
      <p:sp>
        <p:nvSpPr>
          <p:cNvPr id="13" name="Text 8"/>
          <p:cNvSpPr txBox="1"/>
          <p:nvPr/>
        </p:nvSpPr>
        <p:spPr>
          <a:xfrm>
            <a:off x="5715000" y="2267712"/>
            <a:ext cx="2377440" cy="36576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新潟県柏崎市</a:t>
            </a:r>
            <a:endParaRPr lang="en-US" sz="1600" dirty="0"/>
          </a:p>
        </p:txBody>
      </p:sp>
      <p:sp>
        <p:nvSpPr>
          <p:cNvPr id="14" name="Shape 9"/>
          <p:cNvSpPr/>
          <p:nvPr/>
        </p:nvSpPr>
        <p:spPr>
          <a:xfrm>
            <a:off x="3931920" y="2843784"/>
            <a:ext cx="457200" cy="457200"/>
          </a:xfrm>
          <a:prstGeom prst="ellipse">
            <a:avLst/>
          </a:prstGeom>
          <a:solidFill>
            <a:srgbClr val="EEF5EA"/>
          </a:solidFill>
          <a:ln/>
        </p:spPr>
      </p:sp>
      <p:pic>
        <p:nvPicPr>
          <p:cNvPr id="15" name="Image 3" descr="preencoded.png">    </p:cNvPr>
          <p:cNvPicPr>
            <a:picLocks noChangeAspect="1"/>
          </p:cNvPicPr>
          <p:nvPr/>
        </p:nvPicPr>
        <p:blipFill>
          <a:blip r:embed="rId4"/>
          <a:stretch>
            <a:fillRect/>
          </a:stretch>
        </p:blipFill>
        <p:spPr>
          <a:xfrm>
            <a:off x="4041648" y="2953512"/>
            <a:ext cx="237744" cy="237744"/>
          </a:xfrm>
          <a:prstGeom prst="rect">
            <a:avLst/>
          </a:prstGeom>
        </p:spPr>
      </p:pic>
      <p:sp>
        <p:nvSpPr>
          <p:cNvPr id="16" name="Text 10"/>
          <p:cNvSpPr txBox="1"/>
          <p:nvPr/>
        </p:nvSpPr>
        <p:spPr>
          <a:xfrm>
            <a:off x="4526280" y="2889504"/>
            <a:ext cx="1188720" cy="365760"/>
          </a:xfrm>
          <a:prstGeom prst="rect">
            <a:avLst/>
          </a:prstGeom>
          <a:noFill/>
          <a:ln/>
        </p:spPr>
        <p:txBody>
          <a:bodyPr wrap="square" lIns="635" tIns="635" rIns="635" bIns="635" rtlCol="0" anchor="ctr"/>
          <a:lstStyle/>
          <a:p>
            <a:pPr indent="0" marL="0">
              <a:lnSpc>
                <a:spcPct val="120000"/>
              </a:lnSpc>
              <a:buNone/>
            </a:pPr>
            <a:r>
              <a:rPr lang="en-US" sz="1500" b="1" dirty="0">
                <a:solidFill>
                  <a:srgbClr val="666666"/>
                </a:solidFill>
                <a:latin typeface="BIZ UDPGothic" pitchFamily="34" charset="0"/>
                <a:ea typeface="BIZ UDPGothic" pitchFamily="34" charset="-122"/>
                <a:cs typeface="BIZ UDPGothic" pitchFamily="34" charset="-120"/>
              </a:rPr>
              <a:t>家族</a:t>
            </a:r>
            <a:endParaRPr lang="en-US" sz="1500" dirty="0"/>
          </a:p>
        </p:txBody>
      </p:sp>
      <p:sp>
        <p:nvSpPr>
          <p:cNvPr id="17" name="Text 11"/>
          <p:cNvSpPr txBox="1"/>
          <p:nvPr/>
        </p:nvSpPr>
        <p:spPr>
          <a:xfrm>
            <a:off x="5715000" y="2889504"/>
            <a:ext cx="2377440" cy="36576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妻、長男、長女</a:t>
            </a:r>
            <a:endParaRPr lang="en-US" sz="1600" dirty="0"/>
          </a:p>
        </p:txBody>
      </p:sp>
      <p:sp>
        <p:nvSpPr>
          <p:cNvPr id="18" name="Shape 12"/>
          <p:cNvSpPr/>
          <p:nvPr/>
        </p:nvSpPr>
        <p:spPr>
          <a:xfrm>
            <a:off x="3931920" y="3465576"/>
            <a:ext cx="457200" cy="457200"/>
          </a:xfrm>
          <a:prstGeom prst="ellipse">
            <a:avLst/>
          </a:prstGeom>
          <a:solidFill>
            <a:srgbClr val="EEF5EA"/>
          </a:solidFill>
          <a:ln/>
        </p:spPr>
      </p:sp>
      <p:pic>
        <p:nvPicPr>
          <p:cNvPr id="19" name="Image 4" descr="preencoded.png">    </p:cNvPr>
          <p:cNvPicPr>
            <a:picLocks noChangeAspect="1"/>
          </p:cNvPicPr>
          <p:nvPr/>
        </p:nvPicPr>
        <p:blipFill>
          <a:blip r:embed="rId5"/>
          <a:stretch>
            <a:fillRect/>
          </a:stretch>
        </p:blipFill>
        <p:spPr>
          <a:xfrm>
            <a:off x="4041648" y="3575304"/>
            <a:ext cx="237744" cy="237744"/>
          </a:xfrm>
          <a:prstGeom prst="rect">
            <a:avLst/>
          </a:prstGeom>
        </p:spPr>
      </p:pic>
      <p:sp>
        <p:nvSpPr>
          <p:cNvPr id="20" name="Text 13"/>
          <p:cNvSpPr txBox="1"/>
          <p:nvPr/>
        </p:nvSpPr>
        <p:spPr>
          <a:xfrm>
            <a:off x="4526280" y="3511296"/>
            <a:ext cx="1188720" cy="365760"/>
          </a:xfrm>
          <a:prstGeom prst="rect">
            <a:avLst/>
          </a:prstGeom>
          <a:noFill/>
          <a:ln/>
        </p:spPr>
        <p:txBody>
          <a:bodyPr wrap="square" lIns="635" tIns="635" rIns="635" bIns="635" rtlCol="0" anchor="ctr"/>
          <a:lstStyle/>
          <a:p>
            <a:pPr indent="0" marL="0">
              <a:lnSpc>
                <a:spcPct val="120000"/>
              </a:lnSpc>
              <a:buNone/>
            </a:pPr>
            <a:r>
              <a:rPr lang="en-US" sz="1500" b="1" dirty="0">
                <a:solidFill>
                  <a:srgbClr val="666666"/>
                </a:solidFill>
                <a:latin typeface="BIZ UDPGothic" pitchFamily="34" charset="0"/>
                <a:ea typeface="BIZ UDPGothic" pitchFamily="34" charset="-122"/>
                <a:cs typeface="BIZ UDPGothic" pitchFamily="34" charset="-120"/>
              </a:rPr>
              <a:t>住まい</a:t>
            </a:r>
            <a:endParaRPr lang="en-US" sz="1500" dirty="0"/>
          </a:p>
        </p:txBody>
      </p:sp>
      <p:sp>
        <p:nvSpPr>
          <p:cNvPr id="21" name="Text 14"/>
          <p:cNvSpPr txBox="1"/>
          <p:nvPr/>
        </p:nvSpPr>
        <p:spPr>
          <a:xfrm>
            <a:off x="5715000" y="3511296"/>
            <a:ext cx="2377440" cy="36576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長野県諏訪郡</a:t>
            </a:r>
            <a:endParaRPr lang="en-US" sz="1600" dirty="0"/>
          </a:p>
        </p:txBody>
      </p:sp>
      <p:sp>
        <p:nvSpPr>
          <p:cNvPr id="22" name="Shape 15"/>
          <p:cNvSpPr/>
          <p:nvPr/>
        </p:nvSpPr>
        <p:spPr>
          <a:xfrm>
            <a:off x="3931920" y="4087368"/>
            <a:ext cx="457200" cy="457200"/>
          </a:xfrm>
          <a:prstGeom prst="ellipse">
            <a:avLst/>
          </a:prstGeom>
          <a:solidFill>
            <a:srgbClr val="EEF5EA"/>
          </a:solidFill>
          <a:ln/>
        </p:spPr>
      </p:sp>
      <p:pic>
        <p:nvPicPr>
          <p:cNvPr id="23" name="Image 5" descr="preencoded.png">    </p:cNvPr>
          <p:cNvPicPr>
            <a:picLocks noChangeAspect="1"/>
          </p:cNvPicPr>
          <p:nvPr/>
        </p:nvPicPr>
        <p:blipFill>
          <a:blip r:embed="rId6"/>
          <a:stretch>
            <a:fillRect/>
          </a:stretch>
        </p:blipFill>
        <p:spPr>
          <a:xfrm>
            <a:off x="4041648" y="4197096"/>
            <a:ext cx="237744" cy="237744"/>
          </a:xfrm>
          <a:prstGeom prst="rect">
            <a:avLst/>
          </a:prstGeom>
        </p:spPr>
      </p:pic>
      <p:sp>
        <p:nvSpPr>
          <p:cNvPr id="24" name="Text 16"/>
          <p:cNvSpPr txBox="1"/>
          <p:nvPr/>
        </p:nvSpPr>
        <p:spPr>
          <a:xfrm>
            <a:off x="4526280" y="4133088"/>
            <a:ext cx="1188720" cy="365760"/>
          </a:xfrm>
          <a:prstGeom prst="rect">
            <a:avLst/>
          </a:prstGeom>
          <a:noFill/>
          <a:ln/>
        </p:spPr>
        <p:txBody>
          <a:bodyPr wrap="square" lIns="635" tIns="635" rIns="635" bIns="635" rtlCol="0" anchor="ctr"/>
          <a:lstStyle/>
          <a:p>
            <a:pPr indent="0" marL="0">
              <a:lnSpc>
                <a:spcPct val="120000"/>
              </a:lnSpc>
              <a:buNone/>
            </a:pPr>
            <a:r>
              <a:rPr lang="en-US" sz="1500" b="1" dirty="0">
                <a:solidFill>
                  <a:srgbClr val="666666"/>
                </a:solidFill>
                <a:latin typeface="BIZ UDPGothic" pitchFamily="34" charset="0"/>
                <a:ea typeface="BIZ UDPGothic" pitchFamily="34" charset="-122"/>
                <a:cs typeface="BIZ UDPGothic" pitchFamily="34" charset="-120"/>
              </a:rPr>
              <a:t>趣味</a:t>
            </a:r>
            <a:endParaRPr lang="en-US" sz="1500" dirty="0"/>
          </a:p>
        </p:txBody>
      </p:sp>
      <p:sp>
        <p:nvSpPr>
          <p:cNvPr id="25" name="Text 17"/>
          <p:cNvSpPr txBox="1"/>
          <p:nvPr/>
        </p:nvSpPr>
        <p:spPr>
          <a:xfrm>
            <a:off x="5715000" y="4133088"/>
            <a:ext cx="2377440" cy="68580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西アフリカの太鼓、きのこ狩り、山菜摘み、美味しいものを作り楽しむ</a:t>
            </a:r>
            <a:endParaRPr lang="en-US" sz="1600" dirty="0"/>
          </a:p>
        </p:txBody>
      </p:sp>
      <p:sp>
        <p:nvSpPr>
          <p:cNvPr id="26" name="Shape 18"/>
          <p:cNvSpPr/>
          <p:nvPr/>
        </p:nvSpPr>
        <p:spPr>
          <a:xfrm>
            <a:off x="8321040" y="1554480"/>
            <a:ext cx="3291840" cy="4572000"/>
          </a:xfrm>
          <a:prstGeom prst="roundRect">
            <a:avLst>
              <a:gd name="adj" fmla="val 3333"/>
            </a:avLst>
          </a:prstGeom>
          <a:solidFill>
            <a:srgbClr val="1E4D3A"/>
          </a:solidFill>
          <a:ln/>
          <a:effectLst>
            <a:outerShdw sx="100000" sy="100000" kx="0" ky="0" algn="bl" rotWithShape="0" blurRad="127000" dist="25400" dir="5400000">
              <a:srgbClr val="000000">
                <a:alpha val="13000"/>
              </a:srgbClr>
            </a:outerShdw>
          </a:effectLst>
        </p:spPr>
      </p:sp>
      <p:sp>
        <p:nvSpPr>
          <p:cNvPr id="27" name="Text 19"/>
          <p:cNvSpPr txBox="1"/>
          <p:nvPr/>
        </p:nvSpPr>
        <p:spPr>
          <a:xfrm>
            <a:off x="8595360" y="1783080"/>
            <a:ext cx="274320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志・ミッション</a:t>
            </a:r>
            <a:endParaRPr lang="en-US" sz="1500" dirty="0"/>
          </a:p>
        </p:txBody>
      </p:sp>
      <p:sp>
        <p:nvSpPr>
          <p:cNvPr id="28" name="Text 20"/>
          <p:cNvSpPr txBox="1"/>
          <p:nvPr/>
        </p:nvSpPr>
        <p:spPr>
          <a:xfrm>
            <a:off x="8595360" y="2194560"/>
            <a:ext cx="2834640" cy="1188720"/>
          </a:xfrm>
          <a:prstGeom prst="rect">
            <a:avLst/>
          </a:prstGeom>
          <a:noFill/>
          <a:ln/>
        </p:spPr>
        <p:txBody>
          <a:bodyPr wrap="square" lIns="635" tIns="635" rIns="635" bIns="635" rtlCol="0" anchor="t"/>
          <a:lstStyle/>
          <a:p>
            <a:pPr indent="0" marL="0">
              <a:lnSpc>
                <a:spcPct val="120000"/>
              </a:lnSpc>
              <a:buNone/>
            </a:pPr>
            <a:r>
              <a:rPr lang="en-US" sz="2600" dirty="0">
                <a:solidFill>
                  <a:srgbClr val="FFFFFF"/>
                </a:solidFill>
                <a:latin typeface="BIZ UDPMincho" pitchFamily="34" charset="0"/>
                <a:ea typeface="BIZ UDPMincho" pitchFamily="34" charset="-122"/>
                <a:cs typeface="BIZ UDPMincho" pitchFamily="34" charset="-120"/>
              </a:rPr>
              <a:t>天給自足伝承者、</a:t>
            </a:r>
            <a:endParaRPr lang="en-US" sz="2600" dirty="0"/>
          </a:p>
          <a:p>
            <a:pPr indent="0" marL="0">
              <a:lnSpc>
                <a:spcPct val="120000"/>
              </a:lnSpc>
              <a:buNone/>
            </a:pPr>
            <a:r>
              <a:rPr lang="en-US" sz="2600" dirty="0">
                <a:solidFill>
                  <a:srgbClr val="FFFFFF"/>
                </a:solidFill>
                <a:latin typeface="BIZ UDPMincho" pitchFamily="34" charset="0"/>
                <a:ea typeface="BIZ UDPMincho" pitchFamily="34" charset="-122"/>
                <a:cs typeface="BIZ UDPMincho" pitchFamily="34" charset="-120"/>
              </a:rPr>
              <a:t>講師を養成する</a:t>
            </a:r>
            <a:endParaRPr lang="en-US" sz="2600" dirty="0"/>
          </a:p>
        </p:txBody>
      </p:sp>
      <p:sp>
        <p:nvSpPr>
          <p:cNvPr id="29" name="Text 21"/>
          <p:cNvSpPr txBox="1"/>
          <p:nvPr/>
        </p:nvSpPr>
        <p:spPr>
          <a:xfrm>
            <a:off x="8595360" y="3657600"/>
            <a:ext cx="2788920" cy="2194560"/>
          </a:xfrm>
          <a:prstGeom prst="rect">
            <a:avLst/>
          </a:prstGeom>
          <a:noFill/>
          <a:ln/>
        </p:spPr>
        <p:txBody>
          <a:bodyPr wrap="square" lIns="635" tIns="635" rIns="635" bIns="635" rtlCol="0" anchor="t"/>
          <a:lstStyle/>
          <a:p>
            <a:pPr indent="0" marL="0">
              <a:lnSpc>
                <a:spcPct val="120000"/>
              </a:lnSpc>
              <a:buNone/>
            </a:pPr>
            <a:r>
              <a:rPr lang="en-US" sz="1600" dirty="0">
                <a:solidFill>
                  <a:srgbClr val="DDE8DF"/>
                </a:solidFill>
                <a:latin typeface="BIZ UDPGothic" pitchFamily="34" charset="0"/>
                <a:ea typeface="BIZ UDPGothic" pitchFamily="34" charset="-122"/>
                <a:cs typeface="BIZ UDPGothic" pitchFamily="34" charset="-120"/>
              </a:rPr>
              <a:t>天給自足と醗酵で食を楽しみ健康に。ひとり一人の持ち味を活かすための食創りと、日本伝統文化の伝承復活。</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わたしの歩み ①</a:t>
            </a:r>
            <a:endParaRPr lang="en-US" sz="1300" dirty="0"/>
          </a:p>
        </p:txBody>
      </p:sp>
      <p:sp>
        <p:nvSpPr>
          <p:cNvPr id="3" name="Shape 1"/>
          <p:cNvSpPr/>
          <p:nvPr/>
        </p:nvSpPr>
        <p:spPr>
          <a:xfrm>
            <a:off x="7589520" y="274320"/>
            <a:ext cx="749808" cy="292608"/>
          </a:xfrm>
          <a:prstGeom prst="roundRect">
            <a:avLst>
              <a:gd name="adj" fmla="val 50000"/>
            </a:avLst>
          </a:prstGeom>
          <a:solidFill>
            <a:srgbClr val="E8A33D"/>
          </a:solidFill>
          <a:ln/>
        </p:spPr>
      </p:sp>
      <p:sp>
        <p:nvSpPr>
          <p:cNvPr id="4" name="Text 2"/>
          <p:cNvSpPr txBox="1"/>
          <p:nvPr/>
        </p:nvSpPr>
        <p:spPr>
          <a:xfrm>
            <a:off x="7589520" y="274320"/>
            <a:ext cx="749808" cy="29260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BIZ UDPGothic" pitchFamily="34" charset="0"/>
                <a:ea typeface="BIZ UDPGothic" pitchFamily="34" charset="-122"/>
                <a:cs typeface="BIZ UDPGothic" pitchFamily="34" charset="-120"/>
              </a:rPr>
              <a:t>上京</a:t>
            </a:r>
            <a:endParaRPr lang="en-US" sz="1000" dirty="0"/>
          </a:p>
        </p:txBody>
      </p:sp>
      <p:sp>
        <p:nvSpPr>
          <p:cNvPr id="5" name="Shape 3"/>
          <p:cNvSpPr/>
          <p:nvPr/>
        </p:nvSpPr>
        <p:spPr>
          <a:xfrm>
            <a:off x="8412480" y="274320"/>
            <a:ext cx="749808" cy="292608"/>
          </a:xfrm>
          <a:prstGeom prst="roundRect">
            <a:avLst>
              <a:gd name="adj" fmla="val 50000"/>
            </a:avLst>
          </a:prstGeom>
          <a:solidFill>
            <a:srgbClr val="EEF5EA"/>
          </a:solidFill>
          <a:ln/>
        </p:spPr>
      </p:sp>
      <p:sp>
        <p:nvSpPr>
          <p:cNvPr id="6" name="Text 4"/>
          <p:cNvSpPr txBox="1"/>
          <p:nvPr/>
        </p:nvSpPr>
        <p:spPr>
          <a:xfrm>
            <a:off x="841248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渡欧</a:t>
            </a:r>
            <a:endParaRPr lang="en-US" sz="1000" dirty="0"/>
          </a:p>
        </p:txBody>
      </p:sp>
      <p:sp>
        <p:nvSpPr>
          <p:cNvPr id="7" name="Shape 5"/>
          <p:cNvSpPr/>
          <p:nvPr/>
        </p:nvSpPr>
        <p:spPr>
          <a:xfrm>
            <a:off x="9235440" y="274320"/>
            <a:ext cx="749808" cy="292608"/>
          </a:xfrm>
          <a:prstGeom prst="roundRect">
            <a:avLst>
              <a:gd name="adj" fmla="val 50000"/>
            </a:avLst>
          </a:prstGeom>
          <a:solidFill>
            <a:srgbClr val="EEF5EA"/>
          </a:solidFill>
          <a:ln/>
        </p:spPr>
      </p:sp>
      <p:sp>
        <p:nvSpPr>
          <p:cNvPr id="8" name="Text 6"/>
          <p:cNvSpPr txBox="1"/>
          <p:nvPr/>
        </p:nvSpPr>
        <p:spPr>
          <a:xfrm>
            <a:off x="923544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横浜レジオン</a:t>
            </a:r>
            <a:endParaRPr lang="en-US" sz="1000" dirty="0"/>
          </a:p>
        </p:txBody>
      </p:sp>
      <p:sp>
        <p:nvSpPr>
          <p:cNvPr id="9" name="Shape 7"/>
          <p:cNvSpPr/>
          <p:nvPr/>
        </p:nvSpPr>
        <p:spPr>
          <a:xfrm>
            <a:off x="10058400" y="274320"/>
            <a:ext cx="749808" cy="292608"/>
          </a:xfrm>
          <a:prstGeom prst="roundRect">
            <a:avLst>
              <a:gd name="adj" fmla="val 50000"/>
            </a:avLst>
          </a:prstGeom>
          <a:solidFill>
            <a:srgbClr val="EEF5EA"/>
          </a:solidFill>
          <a:ln/>
        </p:spPr>
      </p:sp>
      <p:sp>
        <p:nvSpPr>
          <p:cNvPr id="10" name="Text 8"/>
          <p:cNvSpPr txBox="1"/>
          <p:nvPr/>
        </p:nvSpPr>
        <p:spPr>
          <a:xfrm>
            <a:off x="1005840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講師</a:t>
            </a:r>
            <a:endParaRPr lang="en-US" sz="1000" dirty="0"/>
          </a:p>
        </p:txBody>
      </p:sp>
      <p:sp>
        <p:nvSpPr>
          <p:cNvPr id="11" name="Shape 9"/>
          <p:cNvSpPr/>
          <p:nvPr/>
        </p:nvSpPr>
        <p:spPr>
          <a:xfrm>
            <a:off x="10881360" y="274320"/>
            <a:ext cx="749808" cy="292608"/>
          </a:xfrm>
          <a:prstGeom prst="roundRect">
            <a:avLst>
              <a:gd name="adj" fmla="val 50000"/>
            </a:avLst>
          </a:prstGeom>
          <a:solidFill>
            <a:srgbClr val="EEF5EA"/>
          </a:solidFill>
          <a:ln/>
        </p:spPr>
      </p:sp>
      <p:sp>
        <p:nvSpPr>
          <p:cNvPr id="12" name="Text 10"/>
          <p:cNvSpPr txBox="1"/>
          <p:nvPr/>
        </p:nvSpPr>
        <p:spPr>
          <a:xfrm>
            <a:off x="1088136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八ヶ岳</a:t>
            </a:r>
            <a:endParaRPr lang="en-US" sz="1000" dirty="0"/>
          </a:p>
        </p:txBody>
      </p:sp>
      <p:sp>
        <p:nvSpPr>
          <p:cNvPr id="1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18歳で上京、食の道へスタート</a:t>
            </a:r>
            <a:endParaRPr lang="en-US" sz="3000" dirty="0"/>
          </a:p>
        </p:txBody>
      </p:sp>
      <p:sp>
        <p:nvSpPr>
          <p:cNvPr id="14" name="Shape 12"/>
          <p:cNvSpPr/>
          <p:nvPr/>
        </p:nvSpPr>
        <p:spPr>
          <a:xfrm>
            <a:off x="548640" y="1645920"/>
            <a:ext cx="6035040" cy="797052"/>
          </a:xfrm>
          <a:prstGeom prst="roundRect">
            <a:avLst>
              <a:gd name="adj" fmla="val 13767"/>
            </a:avLst>
          </a:prstGeom>
          <a:solidFill>
            <a:srgbClr val="F6F8F4"/>
          </a:solidFill>
          <a:ln/>
        </p:spPr>
      </p:sp>
      <p:sp>
        <p:nvSpPr>
          <p:cNvPr id="15" name="Shape 13"/>
          <p:cNvSpPr/>
          <p:nvPr/>
        </p:nvSpPr>
        <p:spPr>
          <a:xfrm>
            <a:off x="713232" y="1861566"/>
            <a:ext cx="365760" cy="365760"/>
          </a:xfrm>
          <a:prstGeom prst="ellipse">
            <a:avLst/>
          </a:prstGeom>
          <a:solidFill>
            <a:srgbClr val="5E9E5A"/>
          </a:solidFill>
          <a:ln/>
        </p:spPr>
      </p:sp>
      <p:sp>
        <p:nvSpPr>
          <p:cNvPr id="16" name="Text 14"/>
          <p:cNvSpPr txBox="1"/>
          <p:nvPr/>
        </p:nvSpPr>
        <p:spPr>
          <a:xfrm>
            <a:off x="713232" y="1861566"/>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18</a:t>
            </a:r>
            <a:endParaRPr lang="en-US" sz="1200" dirty="0"/>
          </a:p>
        </p:txBody>
      </p:sp>
      <p:sp>
        <p:nvSpPr>
          <p:cNvPr id="17" name="Text 15"/>
          <p:cNvSpPr txBox="1"/>
          <p:nvPr/>
        </p:nvSpPr>
        <p:spPr>
          <a:xfrm>
            <a:off x="1234440" y="1645920"/>
            <a:ext cx="5257800" cy="797052"/>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世界の洋菓子を創る店「ヒサモト」「菓歩区」で修行</a:t>
            </a:r>
            <a:endParaRPr lang="en-US" sz="1700" dirty="0"/>
          </a:p>
        </p:txBody>
      </p:sp>
      <p:sp>
        <p:nvSpPr>
          <p:cNvPr id="18" name="Shape 16"/>
          <p:cNvSpPr/>
          <p:nvPr/>
        </p:nvSpPr>
        <p:spPr>
          <a:xfrm>
            <a:off x="548640" y="2671572"/>
            <a:ext cx="6035040" cy="797052"/>
          </a:xfrm>
          <a:prstGeom prst="roundRect">
            <a:avLst>
              <a:gd name="adj" fmla="val 13767"/>
            </a:avLst>
          </a:prstGeom>
          <a:solidFill>
            <a:srgbClr val="F6F8F4"/>
          </a:solidFill>
          <a:ln/>
        </p:spPr>
      </p:sp>
      <p:sp>
        <p:nvSpPr>
          <p:cNvPr id="19" name="Shape 17"/>
          <p:cNvSpPr/>
          <p:nvPr/>
        </p:nvSpPr>
        <p:spPr>
          <a:xfrm>
            <a:off x="713232" y="2887218"/>
            <a:ext cx="365760" cy="365760"/>
          </a:xfrm>
          <a:prstGeom prst="ellipse">
            <a:avLst/>
          </a:prstGeom>
          <a:solidFill>
            <a:srgbClr val="5E9E5A"/>
          </a:solidFill>
          <a:ln/>
        </p:spPr>
      </p:sp>
      <p:sp>
        <p:nvSpPr>
          <p:cNvPr id="20" name="Text 18"/>
          <p:cNvSpPr txBox="1"/>
          <p:nvPr/>
        </p:nvSpPr>
        <p:spPr>
          <a:xfrm>
            <a:off x="713232" y="2887218"/>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24</a:t>
            </a:r>
            <a:endParaRPr lang="en-US" sz="1200" dirty="0"/>
          </a:p>
        </p:txBody>
      </p:sp>
      <p:sp>
        <p:nvSpPr>
          <p:cNvPr id="21" name="Text 19"/>
          <p:cNvSpPr txBox="1"/>
          <p:nvPr/>
        </p:nvSpPr>
        <p:spPr>
          <a:xfrm>
            <a:off x="1234440" y="2671572"/>
            <a:ext cx="5257800" cy="797052"/>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職人人生へ。24歳でオーボンヴュータンのスーシェフに</a:t>
            </a:r>
            <a:endParaRPr lang="en-US" sz="1700" dirty="0"/>
          </a:p>
        </p:txBody>
      </p:sp>
      <p:sp>
        <p:nvSpPr>
          <p:cNvPr id="22" name="Shape 20"/>
          <p:cNvSpPr/>
          <p:nvPr/>
        </p:nvSpPr>
        <p:spPr>
          <a:xfrm>
            <a:off x="548640" y="3697224"/>
            <a:ext cx="6035040" cy="797052"/>
          </a:xfrm>
          <a:prstGeom prst="roundRect">
            <a:avLst>
              <a:gd name="adj" fmla="val 13767"/>
            </a:avLst>
          </a:prstGeom>
          <a:solidFill>
            <a:srgbClr val="FBF0DC"/>
          </a:solidFill>
          <a:ln/>
        </p:spPr>
      </p:sp>
      <p:sp>
        <p:nvSpPr>
          <p:cNvPr id="23" name="Shape 21"/>
          <p:cNvSpPr/>
          <p:nvPr/>
        </p:nvSpPr>
        <p:spPr>
          <a:xfrm>
            <a:off x="713232" y="3912870"/>
            <a:ext cx="365760" cy="365760"/>
          </a:xfrm>
          <a:prstGeom prst="ellipse">
            <a:avLst/>
          </a:prstGeom>
          <a:solidFill>
            <a:srgbClr val="E8A33D"/>
          </a:solidFill>
          <a:ln/>
        </p:spPr>
      </p:sp>
      <p:sp>
        <p:nvSpPr>
          <p:cNvPr id="24" name="Text 22"/>
          <p:cNvSpPr txBox="1"/>
          <p:nvPr/>
        </p:nvSpPr>
        <p:spPr>
          <a:xfrm>
            <a:off x="713232" y="391287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26</a:t>
            </a:r>
            <a:endParaRPr lang="en-US" sz="1200" dirty="0"/>
          </a:p>
        </p:txBody>
      </p:sp>
      <p:sp>
        <p:nvSpPr>
          <p:cNvPr id="25" name="Text 23"/>
          <p:cNvSpPr txBox="1"/>
          <p:nvPr/>
        </p:nvSpPr>
        <p:spPr>
          <a:xfrm>
            <a:off x="1234440" y="3697224"/>
            <a:ext cx="5257800" cy="797052"/>
          </a:xfrm>
          <a:prstGeom prst="rect">
            <a:avLst/>
          </a:prstGeom>
          <a:noFill/>
          <a:ln/>
        </p:spPr>
        <p:txBody>
          <a:bodyPr wrap="square" lIns="635" tIns="635" rIns="635" bIns="635" rtlCol="0" anchor="ctr"/>
          <a:lstStyle/>
          <a:p>
            <a:pPr indent="0" marL="0">
              <a:lnSpc>
                <a:spcPct val="120000"/>
              </a:lnSpc>
              <a:buNone/>
            </a:pPr>
            <a:r>
              <a:rPr lang="en-US" sz="1700" b="1" dirty="0">
                <a:solidFill>
                  <a:srgbClr val="7A4A0B"/>
                </a:solidFill>
                <a:latin typeface="BIZ UDPGothic" pitchFamily="34" charset="0"/>
                <a:ea typeface="BIZ UDPGothic" pitchFamily="34" charset="-122"/>
                <a:cs typeface="BIZ UDPGothic" pitchFamily="34" charset="-120"/>
              </a:rPr>
              <a:t>26歳、人間関係の壁の解決と、さらなる高みをめざし渡欧</a:t>
            </a:r>
            <a:endParaRPr lang="en-US" sz="1700" dirty="0"/>
          </a:p>
        </p:txBody>
      </p:sp>
      <p:sp>
        <p:nvSpPr>
          <p:cNvPr id="26" name="Shape 24"/>
          <p:cNvSpPr/>
          <p:nvPr/>
        </p:nvSpPr>
        <p:spPr>
          <a:xfrm>
            <a:off x="548640" y="4722876"/>
            <a:ext cx="6035040" cy="502920"/>
          </a:xfrm>
          <a:prstGeom prst="roundRect">
            <a:avLst>
              <a:gd name="adj" fmla="val 21818"/>
            </a:avLst>
          </a:prstGeom>
          <a:solidFill>
            <a:srgbClr val="F6F8F4"/>
          </a:solidFill>
          <a:ln/>
        </p:spPr>
      </p:sp>
      <p:sp>
        <p:nvSpPr>
          <p:cNvPr id="27" name="Shape 25"/>
          <p:cNvSpPr/>
          <p:nvPr/>
        </p:nvSpPr>
        <p:spPr>
          <a:xfrm>
            <a:off x="713232" y="4791456"/>
            <a:ext cx="365760" cy="365760"/>
          </a:xfrm>
          <a:prstGeom prst="ellipse">
            <a:avLst/>
          </a:prstGeom>
          <a:solidFill>
            <a:srgbClr val="5E9E5A"/>
          </a:solidFill>
          <a:ln/>
        </p:spPr>
      </p:sp>
      <p:sp>
        <p:nvSpPr>
          <p:cNvPr id="28" name="Text 26"/>
          <p:cNvSpPr txBox="1"/>
          <p:nvPr/>
        </p:nvSpPr>
        <p:spPr>
          <a:xfrm>
            <a:off x="713232" y="4791456"/>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31</a:t>
            </a:r>
            <a:endParaRPr lang="en-US" sz="1200" dirty="0"/>
          </a:p>
        </p:txBody>
      </p:sp>
      <p:sp>
        <p:nvSpPr>
          <p:cNvPr id="29" name="Text 27"/>
          <p:cNvSpPr txBox="1"/>
          <p:nvPr/>
        </p:nvSpPr>
        <p:spPr>
          <a:xfrm>
            <a:off x="1234440" y="4722876"/>
            <a:ext cx="5257800" cy="5029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31歳で帰国</a:t>
            </a:r>
            <a:endParaRPr lang="en-US" sz="1700" dirty="0"/>
          </a:p>
        </p:txBody>
      </p:sp>
      <p:sp>
        <p:nvSpPr>
          <p:cNvPr id="30" name="Text 28"/>
          <p:cNvSpPr txBox="1"/>
          <p:nvPr/>
        </p:nvSpPr>
        <p:spPr>
          <a:xfrm>
            <a:off x="548640" y="5989320"/>
            <a:ext cx="2743200" cy="274320"/>
          </a:xfrm>
          <a:prstGeom prst="rect">
            <a:avLst/>
          </a:prstGeom>
          <a:noFill/>
          <a:ln/>
        </p:spPr>
        <p:txBody>
          <a:bodyPr wrap="square" lIns="635" tIns="635" rIns="635" bIns="635" rtlCol="0" anchor="t"/>
          <a:lstStyle/>
          <a:p>
            <a:pPr indent="0" marL="0">
              <a:lnSpc>
                <a:spcPct val="120000"/>
              </a:lnSpc>
              <a:buNone/>
            </a:pPr>
            <a:r>
              <a:rPr lang="en-US" sz="1100" dirty="0">
                <a:solidFill>
                  <a:srgbClr val="666666"/>
                </a:solidFill>
                <a:latin typeface="BIZ UDPGothic" pitchFamily="34" charset="0"/>
                <a:ea typeface="BIZ UDPGothic" pitchFamily="34" charset="-122"/>
                <a:cs typeface="BIZ UDPGothic" pitchFamily="34" charset="-120"/>
              </a:rPr>
              <a:t>※丸の数字は年齢</a:t>
            </a:r>
            <a:endParaRPr lang="en-US" sz="1100" dirty="0"/>
          </a:p>
        </p:txBody>
      </p:sp>
      <p:pic>
        <p:nvPicPr>
          <p:cNvPr id="31" name="Image 0" descr="/root/work/gen/p_s04_1569ad0f_816x736_FFFFFF.jpg">    </p:cNvPr>
          <p:cNvPicPr>
            <a:picLocks noChangeAspect="1"/>
          </p:cNvPicPr>
          <p:nvPr/>
        </p:nvPicPr>
        <p:blipFill>
          <a:blip r:embed="rId1"/>
          <a:stretch>
            <a:fillRect/>
          </a:stretch>
        </p:blipFill>
        <p:spPr>
          <a:xfrm>
            <a:off x="6949440" y="1645920"/>
            <a:ext cx="4663440" cy="420624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わたしの歩み ②</a:t>
            </a:r>
            <a:endParaRPr lang="en-US" sz="1300" dirty="0"/>
          </a:p>
        </p:txBody>
      </p:sp>
      <p:sp>
        <p:nvSpPr>
          <p:cNvPr id="3" name="Shape 1"/>
          <p:cNvSpPr/>
          <p:nvPr/>
        </p:nvSpPr>
        <p:spPr>
          <a:xfrm>
            <a:off x="7589520" y="274320"/>
            <a:ext cx="749808" cy="292608"/>
          </a:xfrm>
          <a:prstGeom prst="roundRect">
            <a:avLst>
              <a:gd name="adj" fmla="val 50000"/>
            </a:avLst>
          </a:prstGeom>
          <a:solidFill>
            <a:srgbClr val="EEF5EA"/>
          </a:solidFill>
          <a:ln/>
        </p:spPr>
      </p:sp>
      <p:sp>
        <p:nvSpPr>
          <p:cNvPr id="4" name="Text 2"/>
          <p:cNvSpPr txBox="1"/>
          <p:nvPr/>
        </p:nvSpPr>
        <p:spPr>
          <a:xfrm>
            <a:off x="758952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上京</a:t>
            </a:r>
            <a:endParaRPr lang="en-US" sz="1000" dirty="0"/>
          </a:p>
        </p:txBody>
      </p:sp>
      <p:sp>
        <p:nvSpPr>
          <p:cNvPr id="5" name="Shape 3"/>
          <p:cNvSpPr/>
          <p:nvPr/>
        </p:nvSpPr>
        <p:spPr>
          <a:xfrm>
            <a:off x="8412480" y="274320"/>
            <a:ext cx="749808" cy="292608"/>
          </a:xfrm>
          <a:prstGeom prst="roundRect">
            <a:avLst>
              <a:gd name="adj" fmla="val 50000"/>
            </a:avLst>
          </a:prstGeom>
          <a:solidFill>
            <a:srgbClr val="E8A33D"/>
          </a:solidFill>
          <a:ln/>
        </p:spPr>
      </p:sp>
      <p:sp>
        <p:nvSpPr>
          <p:cNvPr id="6" name="Text 4"/>
          <p:cNvSpPr txBox="1"/>
          <p:nvPr/>
        </p:nvSpPr>
        <p:spPr>
          <a:xfrm>
            <a:off x="8412480" y="274320"/>
            <a:ext cx="749808" cy="29260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BIZ UDPGothic" pitchFamily="34" charset="0"/>
                <a:ea typeface="BIZ UDPGothic" pitchFamily="34" charset="-122"/>
                <a:cs typeface="BIZ UDPGothic" pitchFamily="34" charset="-120"/>
              </a:rPr>
              <a:t>渡欧</a:t>
            </a:r>
            <a:endParaRPr lang="en-US" sz="1000" dirty="0"/>
          </a:p>
        </p:txBody>
      </p:sp>
      <p:sp>
        <p:nvSpPr>
          <p:cNvPr id="7" name="Shape 5"/>
          <p:cNvSpPr/>
          <p:nvPr/>
        </p:nvSpPr>
        <p:spPr>
          <a:xfrm>
            <a:off x="9235440" y="274320"/>
            <a:ext cx="749808" cy="292608"/>
          </a:xfrm>
          <a:prstGeom prst="roundRect">
            <a:avLst>
              <a:gd name="adj" fmla="val 50000"/>
            </a:avLst>
          </a:prstGeom>
          <a:solidFill>
            <a:srgbClr val="EEF5EA"/>
          </a:solidFill>
          <a:ln/>
        </p:spPr>
      </p:sp>
      <p:sp>
        <p:nvSpPr>
          <p:cNvPr id="8" name="Text 6"/>
          <p:cNvSpPr txBox="1"/>
          <p:nvPr/>
        </p:nvSpPr>
        <p:spPr>
          <a:xfrm>
            <a:off x="923544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横浜レジオン</a:t>
            </a:r>
            <a:endParaRPr lang="en-US" sz="1000" dirty="0"/>
          </a:p>
        </p:txBody>
      </p:sp>
      <p:sp>
        <p:nvSpPr>
          <p:cNvPr id="9" name="Shape 7"/>
          <p:cNvSpPr/>
          <p:nvPr/>
        </p:nvSpPr>
        <p:spPr>
          <a:xfrm>
            <a:off x="10058400" y="274320"/>
            <a:ext cx="749808" cy="292608"/>
          </a:xfrm>
          <a:prstGeom prst="roundRect">
            <a:avLst>
              <a:gd name="adj" fmla="val 50000"/>
            </a:avLst>
          </a:prstGeom>
          <a:solidFill>
            <a:srgbClr val="EEF5EA"/>
          </a:solidFill>
          <a:ln/>
        </p:spPr>
      </p:sp>
      <p:sp>
        <p:nvSpPr>
          <p:cNvPr id="10" name="Text 8"/>
          <p:cNvSpPr txBox="1"/>
          <p:nvPr/>
        </p:nvSpPr>
        <p:spPr>
          <a:xfrm>
            <a:off x="1005840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講師</a:t>
            </a:r>
            <a:endParaRPr lang="en-US" sz="1000" dirty="0"/>
          </a:p>
        </p:txBody>
      </p:sp>
      <p:sp>
        <p:nvSpPr>
          <p:cNvPr id="11" name="Shape 9"/>
          <p:cNvSpPr/>
          <p:nvPr/>
        </p:nvSpPr>
        <p:spPr>
          <a:xfrm>
            <a:off x="10881360" y="274320"/>
            <a:ext cx="749808" cy="292608"/>
          </a:xfrm>
          <a:prstGeom prst="roundRect">
            <a:avLst>
              <a:gd name="adj" fmla="val 50000"/>
            </a:avLst>
          </a:prstGeom>
          <a:solidFill>
            <a:srgbClr val="EEF5EA"/>
          </a:solidFill>
          <a:ln/>
        </p:spPr>
      </p:sp>
      <p:sp>
        <p:nvSpPr>
          <p:cNvPr id="12" name="Text 10"/>
          <p:cNvSpPr txBox="1"/>
          <p:nvPr/>
        </p:nvSpPr>
        <p:spPr>
          <a:xfrm>
            <a:off x="1088136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八ヶ岳</a:t>
            </a:r>
            <a:endParaRPr lang="en-US" sz="1000" dirty="0"/>
          </a:p>
        </p:txBody>
      </p:sp>
      <p:sp>
        <p:nvSpPr>
          <p:cNvPr id="1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渡欧 ― スイス・フランスで4年4か月の修行</a:t>
            </a:r>
            <a:endParaRPr lang="en-US" sz="3000" dirty="0"/>
          </a:p>
        </p:txBody>
      </p:sp>
      <p:sp>
        <p:nvSpPr>
          <p:cNvPr id="14" name="Shape 12"/>
          <p:cNvSpPr/>
          <p:nvPr/>
        </p:nvSpPr>
        <p:spPr>
          <a:xfrm>
            <a:off x="548640" y="1600200"/>
            <a:ext cx="6583680" cy="762000"/>
          </a:xfrm>
          <a:prstGeom prst="roundRect">
            <a:avLst>
              <a:gd name="adj" fmla="val 14400"/>
            </a:avLst>
          </a:prstGeom>
          <a:solidFill>
            <a:srgbClr val="F6F8F4"/>
          </a:solidFill>
          <a:ln/>
        </p:spPr>
      </p:sp>
      <p:sp>
        <p:nvSpPr>
          <p:cNvPr id="15" name="Shape 13"/>
          <p:cNvSpPr/>
          <p:nvPr/>
        </p:nvSpPr>
        <p:spPr>
          <a:xfrm>
            <a:off x="713232" y="1798320"/>
            <a:ext cx="365760" cy="365760"/>
          </a:xfrm>
          <a:prstGeom prst="ellipse">
            <a:avLst/>
          </a:prstGeom>
          <a:solidFill>
            <a:srgbClr val="5E9E5A"/>
          </a:solidFill>
          <a:ln/>
        </p:spPr>
      </p:sp>
      <p:sp>
        <p:nvSpPr>
          <p:cNvPr id="16" name="Text 14"/>
          <p:cNvSpPr txBox="1"/>
          <p:nvPr/>
        </p:nvSpPr>
        <p:spPr>
          <a:xfrm>
            <a:off x="713232" y="179832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CH</a:t>
            </a:r>
            <a:endParaRPr lang="en-US" sz="1200" dirty="0"/>
          </a:p>
        </p:txBody>
      </p:sp>
      <p:sp>
        <p:nvSpPr>
          <p:cNvPr id="17" name="Text 15"/>
          <p:cNvSpPr txBox="1"/>
          <p:nvPr/>
        </p:nvSpPr>
        <p:spPr>
          <a:xfrm>
            <a:off x="1234440" y="1600200"/>
            <a:ext cx="5806440" cy="76200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スイス：ホテル・ボーリバージュパラス・ローザンヌで1年間修業</a:t>
            </a:r>
            <a:endParaRPr lang="en-US" sz="1600" dirty="0"/>
          </a:p>
        </p:txBody>
      </p:sp>
      <p:sp>
        <p:nvSpPr>
          <p:cNvPr id="18" name="Shape 16"/>
          <p:cNvSpPr/>
          <p:nvPr/>
        </p:nvSpPr>
        <p:spPr>
          <a:xfrm>
            <a:off x="548640" y="2545080"/>
            <a:ext cx="6583680" cy="762000"/>
          </a:xfrm>
          <a:prstGeom prst="roundRect">
            <a:avLst>
              <a:gd name="adj" fmla="val 14400"/>
            </a:avLst>
          </a:prstGeom>
          <a:solidFill>
            <a:srgbClr val="F6F8F4"/>
          </a:solidFill>
          <a:ln/>
        </p:spPr>
      </p:sp>
      <p:sp>
        <p:nvSpPr>
          <p:cNvPr id="19" name="Shape 17"/>
          <p:cNvSpPr/>
          <p:nvPr/>
        </p:nvSpPr>
        <p:spPr>
          <a:xfrm>
            <a:off x="713232" y="2743200"/>
            <a:ext cx="365760" cy="365760"/>
          </a:xfrm>
          <a:prstGeom prst="ellipse">
            <a:avLst/>
          </a:prstGeom>
          <a:solidFill>
            <a:srgbClr val="5E9E5A"/>
          </a:solidFill>
          <a:ln/>
        </p:spPr>
      </p:sp>
      <p:sp>
        <p:nvSpPr>
          <p:cNvPr id="20" name="Text 18"/>
          <p:cNvSpPr txBox="1"/>
          <p:nvPr/>
        </p:nvSpPr>
        <p:spPr>
          <a:xfrm>
            <a:off x="713232" y="274320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FR</a:t>
            </a:r>
            <a:endParaRPr lang="en-US" sz="1200" dirty="0"/>
          </a:p>
        </p:txBody>
      </p:sp>
      <p:sp>
        <p:nvSpPr>
          <p:cNvPr id="21" name="Text 19"/>
          <p:cNvSpPr txBox="1"/>
          <p:nvPr/>
        </p:nvSpPr>
        <p:spPr>
          <a:xfrm>
            <a:off x="1234440" y="2545080"/>
            <a:ext cx="5806440" cy="76200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フランス：料理・デザートを知るため、ミシュラン三ツ星・二ツ星、パティスリーで約3年</a:t>
            </a:r>
            <a:endParaRPr lang="en-US" sz="1600" dirty="0"/>
          </a:p>
        </p:txBody>
      </p:sp>
      <p:sp>
        <p:nvSpPr>
          <p:cNvPr id="22" name="Shape 20"/>
          <p:cNvSpPr/>
          <p:nvPr/>
        </p:nvSpPr>
        <p:spPr>
          <a:xfrm>
            <a:off x="548640" y="3489960"/>
            <a:ext cx="6583680" cy="502920"/>
          </a:xfrm>
          <a:prstGeom prst="roundRect">
            <a:avLst>
              <a:gd name="adj" fmla="val 21818"/>
            </a:avLst>
          </a:prstGeom>
          <a:solidFill>
            <a:srgbClr val="F6F8F4"/>
          </a:solidFill>
          <a:ln/>
        </p:spPr>
      </p:sp>
      <p:sp>
        <p:nvSpPr>
          <p:cNvPr id="23" name="Shape 21"/>
          <p:cNvSpPr/>
          <p:nvPr/>
        </p:nvSpPr>
        <p:spPr>
          <a:xfrm>
            <a:off x="713232" y="3558540"/>
            <a:ext cx="365760" cy="365760"/>
          </a:xfrm>
          <a:prstGeom prst="ellipse">
            <a:avLst/>
          </a:prstGeom>
          <a:solidFill>
            <a:srgbClr val="5E9E5A"/>
          </a:solidFill>
          <a:ln/>
        </p:spPr>
      </p:sp>
      <p:sp>
        <p:nvSpPr>
          <p:cNvPr id="24" name="Text 22"/>
          <p:cNvSpPr txBox="1"/>
          <p:nvPr/>
        </p:nvSpPr>
        <p:spPr>
          <a:xfrm>
            <a:off x="713232" y="355854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a:t>
            </a:r>
            <a:endParaRPr lang="en-US" sz="1200" dirty="0"/>
          </a:p>
        </p:txBody>
      </p:sp>
      <p:sp>
        <p:nvSpPr>
          <p:cNvPr id="25" name="Text 23"/>
          <p:cNvSpPr txBox="1"/>
          <p:nvPr/>
        </p:nvSpPr>
        <p:spPr>
          <a:xfrm>
            <a:off x="1234440" y="3489960"/>
            <a:ext cx="5806440" cy="502920"/>
          </a:xfrm>
          <a:prstGeom prst="rect">
            <a:avLst/>
          </a:prstGeom>
          <a:noFill/>
          <a:ln/>
        </p:spPr>
        <p:txBody>
          <a:bodyPr wrap="square" lIns="635" tIns="635" rIns="635" bIns="635" rtlCol="0" anchor="ctr"/>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重要な食のあり方に氣づく</a:t>
            </a:r>
            <a:endParaRPr lang="en-US" sz="1600" dirty="0"/>
          </a:p>
        </p:txBody>
      </p:sp>
      <p:sp>
        <p:nvSpPr>
          <p:cNvPr id="26" name="Shape 24"/>
          <p:cNvSpPr/>
          <p:nvPr/>
        </p:nvSpPr>
        <p:spPr>
          <a:xfrm>
            <a:off x="548640" y="4175760"/>
            <a:ext cx="6583680" cy="762000"/>
          </a:xfrm>
          <a:prstGeom prst="roundRect">
            <a:avLst>
              <a:gd name="adj" fmla="val 14400"/>
            </a:avLst>
          </a:prstGeom>
          <a:solidFill>
            <a:srgbClr val="FBF0DC"/>
          </a:solidFill>
          <a:ln/>
        </p:spPr>
      </p:sp>
      <p:sp>
        <p:nvSpPr>
          <p:cNvPr id="27" name="Shape 25"/>
          <p:cNvSpPr/>
          <p:nvPr/>
        </p:nvSpPr>
        <p:spPr>
          <a:xfrm>
            <a:off x="713232" y="4373880"/>
            <a:ext cx="365760" cy="365760"/>
          </a:xfrm>
          <a:prstGeom prst="ellipse">
            <a:avLst/>
          </a:prstGeom>
          <a:solidFill>
            <a:srgbClr val="E8A33D"/>
          </a:solidFill>
          <a:ln/>
        </p:spPr>
      </p:sp>
      <p:sp>
        <p:nvSpPr>
          <p:cNvPr id="28" name="Text 26"/>
          <p:cNvSpPr txBox="1"/>
          <p:nvPr/>
        </p:nvSpPr>
        <p:spPr>
          <a:xfrm>
            <a:off x="713232" y="437388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a:t>
            </a:r>
            <a:endParaRPr lang="en-US" sz="1200" dirty="0"/>
          </a:p>
        </p:txBody>
      </p:sp>
      <p:sp>
        <p:nvSpPr>
          <p:cNvPr id="29" name="Text 27"/>
          <p:cNvSpPr txBox="1"/>
          <p:nvPr/>
        </p:nvSpPr>
        <p:spPr>
          <a:xfrm>
            <a:off x="1234440" y="4175760"/>
            <a:ext cx="5806440" cy="762000"/>
          </a:xfrm>
          <a:prstGeom prst="rect">
            <a:avLst/>
          </a:prstGeom>
          <a:noFill/>
          <a:ln/>
        </p:spPr>
        <p:txBody>
          <a:bodyPr wrap="square" lIns="635" tIns="635" rIns="635" bIns="635" rtlCol="0" anchor="ctr"/>
          <a:lstStyle/>
          <a:p>
            <a:pPr indent="0" marL="0">
              <a:lnSpc>
                <a:spcPct val="120000"/>
              </a:lnSpc>
              <a:buNone/>
            </a:pPr>
            <a:r>
              <a:rPr lang="en-US" sz="1600" b="1" dirty="0">
                <a:solidFill>
                  <a:srgbClr val="7A4A0B"/>
                </a:solidFill>
                <a:latin typeface="BIZ UDPGothic" pitchFamily="34" charset="0"/>
                <a:ea typeface="BIZ UDPGothic" pitchFamily="34" charset="-122"/>
                <a:cs typeface="BIZ UDPGothic" pitchFamily="34" charset="-120"/>
              </a:rPr>
              <a:t>帰国後、田舎に帰り「自然に根ざした食創り」の豊かさは、三ツ星以上だと氣づく</a:t>
            </a:r>
            <a:endParaRPr lang="en-US" sz="1600" dirty="0"/>
          </a:p>
        </p:txBody>
      </p:sp>
      <p:pic>
        <p:nvPicPr>
          <p:cNvPr id="30" name="Image 0" descr="/root/work/gen/p_s05_cb3e8430_720x384_FFFFFF.jpg">    </p:cNvPr>
          <p:cNvPicPr>
            <a:picLocks noChangeAspect="1"/>
          </p:cNvPicPr>
          <p:nvPr/>
        </p:nvPicPr>
        <p:blipFill>
          <a:blip r:embed="rId1"/>
          <a:stretch>
            <a:fillRect/>
          </a:stretch>
        </p:blipFill>
        <p:spPr>
          <a:xfrm>
            <a:off x="7498080" y="1600200"/>
            <a:ext cx="4114800" cy="2194560"/>
          </a:xfrm>
          <a:prstGeom prst="rect">
            <a:avLst/>
          </a:prstGeom>
          <a:effectLst>
            <a:outerShdw sx="100000" sy="100000" kx="0" ky="0" algn="bl" rotWithShape="0" blurRad="127000" dist="25400" dir="5400000">
              <a:srgbClr val="000000">
                <a:alpha val="13000"/>
              </a:srgbClr>
            </a:outerShdw>
          </a:effectLst>
        </p:spPr>
      </p:pic>
      <p:pic>
        <p:nvPicPr>
          <p:cNvPr id="31" name="Image 1" descr="/root/work/gen/p_s05_2e78bf08_720x384_FFFFFF.jpg">    </p:cNvPr>
          <p:cNvPicPr>
            <a:picLocks noChangeAspect="1"/>
          </p:cNvPicPr>
          <p:nvPr/>
        </p:nvPicPr>
        <p:blipFill>
          <a:blip r:embed="rId2"/>
          <a:stretch>
            <a:fillRect/>
          </a:stretch>
        </p:blipFill>
        <p:spPr>
          <a:xfrm>
            <a:off x="7498080" y="3977640"/>
            <a:ext cx="4114800" cy="219456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わたしの歩み ③</a:t>
            </a:r>
            <a:endParaRPr lang="en-US" sz="1300" dirty="0"/>
          </a:p>
        </p:txBody>
      </p:sp>
      <p:sp>
        <p:nvSpPr>
          <p:cNvPr id="3" name="Shape 1"/>
          <p:cNvSpPr/>
          <p:nvPr/>
        </p:nvSpPr>
        <p:spPr>
          <a:xfrm>
            <a:off x="7589520" y="274320"/>
            <a:ext cx="749808" cy="292608"/>
          </a:xfrm>
          <a:prstGeom prst="roundRect">
            <a:avLst>
              <a:gd name="adj" fmla="val 50000"/>
            </a:avLst>
          </a:prstGeom>
          <a:solidFill>
            <a:srgbClr val="EEF5EA"/>
          </a:solidFill>
          <a:ln/>
        </p:spPr>
      </p:sp>
      <p:sp>
        <p:nvSpPr>
          <p:cNvPr id="4" name="Text 2"/>
          <p:cNvSpPr txBox="1"/>
          <p:nvPr/>
        </p:nvSpPr>
        <p:spPr>
          <a:xfrm>
            <a:off x="758952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上京</a:t>
            </a:r>
            <a:endParaRPr lang="en-US" sz="1000" dirty="0"/>
          </a:p>
        </p:txBody>
      </p:sp>
      <p:sp>
        <p:nvSpPr>
          <p:cNvPr id="5" name="Shape 3"/>
          <p:cNvSpPr/>
          <p:nvPr/>
        </p:nvSpPr>
        <p:spPr>
          <a:xfrm>
            <a:off x="8412480" y="274320"/>
            <a:ext cx="749808" cy="292608"/>
          </a:xfrm>
          <a:prstGeom prst="roundRect">
            <a:avLst>
              <a:gd name="adj" fmla="val 50000"/>
            </a:avLst>
          </a:prstGeom>
          <a:solidFill>
            <a:srgbClr val="EEF5EA"/>
          </a:solidFill>
          <a:ln/>
        </p:spPr>
      </p:sp>
      <p:sp>
        <p:nvSpPr>
          <p:cNvPr id="6" name="Text 4"/>
          <p:cNvSpPr txBox="1"/>
          <p:nvPr/>
        </p:nvSpPr>
        <p:spPr>
          <a:xfrm>
            <a:off x="841248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渡欧</a:t>
            </a:r>
            <a:endParaRPr lang="en-US" sz="1000" dirty="0"/>
          </a:p>
        </p:txBody>
      </p:sp>
      <p:sp>
        <p:nvSpPr>
          <p:cNvPr id="7" name="Shape 5"/>
          <p:cNvSpPr/>
          <p:nvPr/>
        </p:nvSpPr>
        <p:spPr>
          <a:xfrm>
            <a:off x="9235440" y="274320"/>
            <a:ext cx="749808" cy="292608"/>
          </a:xfrm>
          <a:prstGeom prst="roundRect">
            <a:avLst>
              <a:gd name="adj" fmla="val 50000"/>
            </a:avLst>
          </a:prstGeom>
          <a:solidFill>
            <a:srgbClr val="E8A33D"/>
          </a:solidFill>
          <a:ln/>
        </p:spPr>
      </p:sp>
      <p:sp>
        <p:nvSpPr>
          <p:cNvPr id="8" name="Text 6"/>
          <p:cNvSpPr txBox="1"/>
          <p:nvPr/>
        </p:nvSpPr>
        <p:spPr>
          <a:xfrm>
            <a:off x="9235440" y="274320"/>
            <a:ext cx="749808" cy="29260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BIZ UDPGothic" pitchFamily="34" charset="0"/>
                <a:ea typeface="BIZ UDPGothic" pitchFamily="34" charset="-122"/>
                <a:cs typeface="BIZ UDPGothic" pitchFamily="34" charset="-120"/>
              </a:rPr>
              <a:t>横浜レジオン</a:t>
            </a:r>
            <a:endParaRPr lang="en-US" sz="1000" dirty="0"/>
          </a:p>
        </p:txBody>
      </p:sp>
      <p:sp>
        <p:nvSpPr>
          <p:cNvPr id="9" name="Shape 7"/>
          <p:cNvSpPr/>
          <p:nvPr/>
        </p:nvSpPr>
        <p:spPr>
          <a:xfrm>
            <a:off x="10058400" y="274320"/>
            <a:ext cx="749808" cy="292608"/>
          </a:xfrm>
          <a:prstGeom prst="roundRect">
            <a:avLst>
              <a:gd name="adj" fmla="val 50000"/>
            </a:avLst>
          </a:prstGeom>
          <a:solidFill>
            <a:srgbClr val="EEF5EA"/>
          </a:solidFill>
          <a:ln/>
        </p:spPr>
      </p:sp>
      <p:sp>
        <p:nvSpPr>
          <p:cNvPr id="10" name="Text 8"/>
          <p:cNvSpPr txBox="1"/>
          <p:nvPr/>
        </p:nvSpPr>
        <p:spPr>
          <a:xfrm>
            <a:off x="1005840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講師</a:t>
            </a:r>
            <a:endParaRPr lang="en-US" sz="1000" dirty="0"/>
          </a:p>
        </p:txBody>
      </p:sp>
      <p:sp>
        <p:nvSpPr>
          <p:cNvPr id="11" name="Shape 9"/>
          <p:cNvSpPr/>
          <p:nvPr/>
        </p:nvSpPr>
        <p:spPr>
          <a:xfrm>
            <a:off x="10881360" y="274320"/>
            <a:ext cx="749808" cy="292608"/>
          </a:xfrm>
          <a:prstGeom prst="roundRect">
            <a:avLst>
              <a:gd name="adj" fmla="val 50000"/>
            </a:avLst>
          </a:prstGeom>
          <a:solidFill>
            <a:srgbClr val="EEF5EA"/>
          </a:solidFill>
          <a:ln/>
        </p:spPr>
      </p:sp>
      <p:sp>
        <p:nvSpPr>
          <p:cNvPr id="12" name="Text 10"/>
          <p:cNvSpPr txBox="1"/>
          <p:nvPr/>
        </p:nvSpPr>
        <p:spPr>
          <a:xfrm>
            <a:off x="1088136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八ヶ岳</a:t>
            </a:r>
            <a:endParaRPr lang="en-US" sz="1000" dirty="0"/>
          </a:p>
        </p:txBody>
      </p:sp>
      <p:sp>
        <p:nvSpPr>
          <p:cNvPr id="1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横浜レジオン時代</a:t>
            </a:r>
            <a:endParaRPr lang="en-US" sz="3000" dirty="0"/>
          </a:p>
        </p:txBody>
      </p:sp>
      <p:sp>
        <p:nvSpPr>
          <p:cNvPr id="14" name="Text 12"/>
          <p:cNvSpPr txBox="1"/>
          <p:nvPr/>
        </p:nvSpPr>
        <p:spPr>
          <a:xfrm>
            <a:off x="548640" y="1508760"/>
            <a:ext cx="6766560" cy="411480"/>
          </a:xfrm>
          <a:prstGeom prst="rect">
            <a:avLst/>
          </a:prstGeom>
          <a:noFill/>
          <a:ln/>
        </p:spPr>
        <p:txBody>
          <a:bodyPr wrap="square" lIns="635" tIns="635" rIns="635" bIns="635" rtlCol="0" anchor="t"/>
          <a:lstStyle/>
          <a:p>
            <a:pPr indent="0" marL="0">
              <a:lnSpc>
                <a:spcPct val="120000"/>
              </a:lnSpc>
              <a:buNone/>
            </a:pPr>
            <a:r>
              <a:rPr lang="en-US" sz="1800" b="1" dirty="0">
                <a:solidFill>
                  <a:srgbClr val="2B2B2B"/>
                </a:solidFill>
                <a:latin typeface="BIZ UDPGothic" pitchFamily="34" charset="0"/>
                <a:ea typeface="BIZ UDPGothic" pitchFamily="34" charset="-122"/>
                <a:cs typeface="BIZ UDPGothic" pitchFamily="34" charset="-120"/>
              </a:rPr>
              <a:t>横浜都筑区センター北に自店をオープン</a:t>
            </a:r>
            <a:endParaRPr lang="en-US" sz="1800" dirty="0"/>
          </a:p>
        </p:txBody>
      </p:sp>
      <p:sp>
        <p:nvSpPr>
          <p:cNvPr id="15" name="Shape 13"/>
          <p:cNvSpPr/>
          <p:nvPr/>
        </p:nvSpPr>
        <p:spPr>
          <a:xfrm>
            <a:off x="548640" y="2057400"/>
            <a:ext cx="2103120" cy="1828800"/>
          </a:xfrm>
          <a:prstGeom prst="roundRect">
            <a:avLst>
              <a:gd name="adj" fmla="val 6000"/>
            </a:avLst>
          </a:prstGeom>
          <a:solidFill>
            <a:srgbClr val="F6F8F4"/>
          </a:solidFill>
          <a:ln/>
          <a:effectLst>
            <a:outerShdw sx="100000" sy="100000" kx="0" ky="0" algn="bl" rotWithShape="0" blurRad="127000" dist="25400" dir="5400000">
              <a:srgbClr val="000000">
                <a:alpha val="13000"/>
              </a:srgbClr>
            </a:outerShdw>
          </a:effectLst>
        </p:spPr>
      </p:sp>
      <p:sp>
        <p:nvSpPr>
          <p:cNvPr id="16" name="Text 14"/>
          <p:cNvSpPr txBox="1"/>
          <p:nvPr/>
        </p:nvSpPr>
        <p:spPr>
          <a:xfrm>
            <a:off x="548640" y="2148840"/>
            <a:ext cx="2103120" cy="1005840"/>
          </a:xfrm>
          <a:prstGeom prst="rect">
            <a:avLst/>
          </a:prstGeom>
          <a:noFill/>
          <a:ln/>
        </p:spPr>
        <p:txBody>
          <a:bodyPr wrap="square" lIns="635" tIns="635" rIns="635" bIns="635" rtlCol="0" anchor="ctr"/>
          <a:lstStyle/>
          <a:p>
            <a:pPr algn="ctr" indent="0" marL="0">
              <a:lnSpc>
                <a:spcPct val="120000"/>
              </a:lnSpc>
              <a:buNone/>
            </a:pPr>
            <a:r>
              <a:rPr lang="en-US" sz="5400" b="1" dirty="0">
                <a:solidFill>
                  <a:srgbClr val="1E4D3A"/>
                </a:solidFill>
                <a:latin typeface="BIZ UDPGothic" pitchFamily="34" charset="0"/>
                <a:ea typeface="BIZ UDPGothic" pitchFamily="34" charset="-122"/>
                <a:cs typeface="BIZ UDPGothic" pitchFamily="34" charset="-120"/>
              </a:rPr>
              <a:t>21</a:t>
            </a:r>
            <a:pPr algn="ct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年間</a:t>
            </a:r>
            <a:endParaRPr lang="en-US" sz="1600" dirty="0"/>
          </a:p>
        </p:txBody>
      </p:sp>
      <p:sp>
        <p:nvSpPr>
          <p:cNvPr id="17" name="Text 15"/>
          <p:cNvSpPr txBox="1"/>
          <p:nvPr/>
        </p:nvSpPr>
        <p:spPr>
          <a:xfrm>
            <a:off x="548640" y="3200400"/>
            <a:ext cx="2103120" cy="411480"/>
          </a:xfrm>
          <a:prstGeom prst="rect">
            <a:avLst/>
          </a:prstGeom>
          <a:noFill/>
          <a:ln/>
        </p:spPr>
        <p:txBody>
          <a:bodyPr wrap="square" lIns="635" tIns="635" rIns="635" bIns="635" rtlCol="0" anchor="t"/>
          <a:lstStyle/>
          <a:p>
            <a:pPr algn="ctr" indent="0" marL="0">
              <a:lnSpc>
                <a:spcPct val="120000"/>
              </a:lnSpc>
              <a:buNone/>
            </a:pPr>
            <a:r>
              <a:rPr lang="en-US" sz="1600" dirty="0">
                <a:solidFill>
                  <a:srgbClr val="666666"/>
                </a:solidFill>
                <a:latin typeface="BIZ UDPGothic" pitchFamily="34" charset="0"/>
                <a:ea typeface="BIZ UDPGothic" pitchFamily="34" charset="-122"/>
                <a:cs typeface="BIZ UDPGothic" pitchFamily="34" charset="-120"/>
              </a:rPr>
              <a:t>お店を営業</a:t>
            </a:r>
            <a:endParaRPr lang="en-US" sz="1600" dirty="0"/>
          </a:p>
        </p:txBody>
      </p:sp>
      <p:sp>
        <p:nvSpPr>
          <p:cNvPr id="18" name="Shape 16"/>
          <p:cNvSpPr/>
          <p:nvPr/>
        </p:nvSpPr>
        <p:spPr>
          <a:xfrm>
            <a:off x="2834640" y="2057400"/>
            <a:ext cx="2103120" cy="1828800"/>
          </a:xfrm>
          <a:prstGeom prst="roundRect">
            <a:avLst>
              <a:gd name="adj" fmla="val 6000"/>
            </a:avLst>
          </a:prstGeom>
          <a:solidFill>
            <a:srgbClr val="F6F8F4"/>
          </a:solidFill>
          <a:ln/>
          <a:effectLst>
            <a:outerShdw sx="100000" sy="100000" kx="0" ky="0" algn="bl" rotWithShape="0" blurRad="127000" dist="25400" dir="5400000">
              <a:srgbClr val="000000">
                <a:alpha val="13000"/>
              </a:srgbClr>
            </a:outerShdw>
          </a:effectLst>
        </p:spPr>
      </p:sp>
      <p:sp>
        <p:nvSpPr>
          <p:cNvPr id="19" name="Text 17"/>
          <p:cNvSpPr txBox="1"/>
          <p:nvPr/>
        </p:nvSpPr>
        <p:spPr>
          <a:xfrm>
            <a:off x="2834640" y="2148840"/>
            <a:ext cx="2103120" cy="1005840"/>
          </a:xfrm>
          <a:prstGeom prst="rect">
            <a:avLst/>
          </a:prstGeom>
          <a:noFill/>
          <a:ln/>
        </p:spPr>
        <p:txBody>
          <a:bodyPr wrap="square" lIns="635" tIns="635" rIns="635" bIns="635" rtlCol="0" anchor="ctr"/>
          <a:lstStyle/>
          <a:p>
            <a:pPr algn="ctr" indent="0" marL="0">
              <a:lnSpc>
                <a:spcPct val="120000"/>
              </a:lnSpc>
              <a:buNone/>
            </a:pPr>
            <a:r>
              <a:rPr lang="en-US" sz="5400" b="1" dirty="0">
                <a:solidFill>
                  <a:srgbClr val="1E4D3A"/>
                </a:solidFill>
                <a:latin typeface="BIZ UDPGothic" pitchFamily="34" charset="0"/>
                <a:ea typeface="BIZ UDPGothic" pitchFamily="34" charset="-122"/>
                <a:cs typeface="BIZ UDPGothic" pitchFamily="34" charset="-120"/>
              </a:rPr>
              <a:t>15</a:t>
            </a:r>
            <a:pPr algn="ct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年間</a:t>
            </a:r>
            <a:endParaRPr lang="en-US" sz="1600" dirty="0"/>
          </a:p>
        </p:txBody>
      </p:sp>
      <p:sp>
        <p:nvSpPr>
          <p:cNvPr id="20" name="Text 18"/>
          <p:cNvSpPr txBox="1"/>
          <p:nvPr/>
        </p:nvSpPr>
        <p:spPr>
          <a:xfrm>
            <a:off x="2834640" y="3200400"/>
            <a:ext cx="2103120" cy="411480"/>
          </a:xfrm>
          <a:prstGeom prst="rect">
            <a:avLst/>
          </a:prstGeom>
          <a:noFill/>
          <a:ln/>
        </p:spPr>
        <p:txBody>
          <a:bodyPr wrap="square" lIns="635" tIns="635" rIns="635" bIns="635" rtlCol="0" anchor="t"/>
          <a:lstStyle/>
          <a:p>
            <a:pPr algn="ctr" indent="0" marL="0">
              <a:lnSpc>
                <a:spcPct val="120000"/>
              </a:lnSpc>
              <a:buNone/>
            </a:pPr>
            <a:r>
              <a:rPr lang="en-US" sz="1600" dirty="0">
                <a:solidFill>
                  <a:srgbClr val="666666"/>
                </a:solidFill>
                <a:latin typeface="BIZ UDPGothic" pitchFamily="34" charset="0"/>
                <a:ea typeface="BIZ UDPGothic" pitchFamily="34" charset="-122"/>
                <a:cs typeface="BIZ UDPGothic" pitchFamily="34" charset="-120"/>
              </a:rPr>
              <a:t>フランス菓子教室</a:t>
            </a:r>
            <a:endParaRPr lang="en-US" sz="1600" dirty="0"/>
          </a:p>
        </p:txBody>
      </p:sp>
      <p:sp>
        <p:nvSpPr>
          <p:cNvPr id="21" name="Shape 19"/>
          <p:cNvSpPr/>
          <p:nvPr/>
        </p:nvSpPr>
        <p:spPr>
          <a:xfrm>
            <a:off x="5120640" y="2057400"/>
            <a:ext cx="2103120" cy="1828800"/>
          </a:xfrm>
          <a:prstGeom prst="roundRect">
            <a:avLst>
              <a:gd name="adj" fmla="val 6000"/>
            </a:avLst>
          </a:prstGeom>
          <a:solidFill>
            <a:srgbClr val="F6F8F4"/>
          </a:solidFill>
          <a:ln/>
          <a:effectLst>
            <a:outerShdw sx="100000" sy="100000" kx="0" ky="0" algn="bl" rotWithShape="0" blurRad="127000" dist="25400" dir="5400000">
              <a:srgbClr val="000000">
                <a:alpha val="13000"/>
              </a:srgbClr>
            </a:outerShdw>
          </a:effectLst>
        </p:spPr>
      </p:sp>
      <p:sp>
        <p:nvSpPr>
          <p:cNvPr id="22" name="Text 20"/>
          <p:cNvSpPr txBox="1"/>
          <p:nvPr/>
        </p:nvSpPr>
        <p:spPr>
          <a:xfrm>
            <a:off x="5120640" y="2148840"/>
            <a:ext cx="2103120" cy="1005840"/>
          </a:xfrm>
          <a:prstGeom prst="rect">
            <a:avLst/>
          </a:prstGeom>
          <a:noFill/>
          <a:ln/>
        </p:spPr>
        <p:txBody>
          <a:bodyPr wrap="square" lIns="635" tIns="635" rIns="635" bIns="635" rtlCol="0" anchor="ctr"/>
          <a:lstStyle/>
          <a:p>
            <a:pPr algn="ctr" indent="0" marL="0">
              <a:lnSpc>
                <a:spcPct val="120000"/>
              </a:lnSpc>
              <a:buNone/>
            </a:pPr>
            <a:r>
              <a:rPr lang="en-US" sz="5400" b="1" dirty="0">
                <a:solidFill>
                  <a:srgbClr val="1E4D3A"/>
                </a:solidFill>
                <a:latin typeface="BIZ UDPGothic" pitchFamily="34" charset="0"/>
                <a:ea typeface="BIZ UDPGothic" pitchFamily="34" charset="-122"/>
                <a:cs typeface="BIZ UDPGothic" pitchFamily="34" charset="-120"/>
              </a:rPr>
              <a:t>15</a:t>
            </a:r>
            <a:pPr algn="ct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年間</a:t>
            </a:r>
            <a:endParaRPr lang="en-US" sz="1600" dirty="0"/>
          </a:p>
        </p:txBody>
      </p:sp>
      <p:sp>
        <p:nvSpPr>
          <p:cNvPr id="23" name="Text 21"/>
          <p:cNvSpPr txBox="1"/>
          <p:nvPr/>
        </p:nvSpPr>
        <p:spPr>
          <a:xfrm>
            <a:off x="5120640" y="3200400"/>
            <a:ext cx="2103120" cy="411480"/>
          </a:xfrm>
          <a:prstGeom prst="rect">
            <a:avLst/>
          </a:prstGeom>
          <a:noFill/>
          <a:ln/>
        </p:spPr>
        <p:txBody>
          <a:bodyPr wrap="square" lIns="635" tIns="635" rIns="635" bIns="635" rtlCol="0" anchor="t"/>
          <a:lstStyle/>
          <a:p>
            <a:pPr algn="ctr" indent="0" marL="0">
              <a:lnSpc>
                <a:spcPct val="120000"/>
              </a:lnSpc>
              <a:buNone/>
            </a:pPr>
            <a:r>
              <a:rPr lang="en-US" sz="1600" dirty="0">
                <a:solidFill>
                  <a:srgbClr val="666666"/>
                </a:solidFill>
                <a:latin typeface="BIZ UDPGothic" pitchFamily="34" charset="0"/>
                <a:ea typeface="BIZ UDPGothic" pitchFamily="34" charset="-122"/>
                <a:cs typeface="BIZ UDPGothic" pitchFamily="34" charset="-120"/>
              </a:rPr>
              <a:t>パン教室</a:t>
            </a:r>
            <a:endParaRPr lang="en-US" sz="1600" dirty="0"/>
          </a:p>
        </p:txBody>
      </p:sp>
      <p:sp>
        <p:nvSpPr>
          <p:cNvPr id="24" name="Shape 22"/>
          <p:cNvSpPr/>
          <p:nvPr/>
        </p:nvSpPr>
        <p:spPr>
          <a:xfrm>
            <a:off x="548640" y="4160520"/>
            <a:ext cx="6766560" cy="502920"/>
          </a:xfrm>
          <a:prstGeom prst="roundRect">
            <a:avLst>
              <a:gd name="adj" fmla="val 21818"/>
            </a:avLst>
          </a:prstGeom>
          <a:solidFill>
            <a:srgbClr val="F6F8F4"/>
          </a:solidFill>
          <a:ln/>
        </p:spPr>
      </p:sp>
      <p:sp>
        <p:nvSpPr>
          <p:cNvPr id="25" name="Shape 23"/>
          <p:cNvSpPr/>
          <p:nvPr/>
        </p:nvSpPr>
        <p:spPr>
          <a:xfrm>
            <a:off x="713232" y="4229100"/>
            <a:ext cx="365760" cy="365760"/>
          </a:xfrm>
          <a:prstGeom prst="ellipse">
            <a:avLst/>
          </a:prstGeom>
          <a:solidFill>
            <a:srgbClr val="5E9E5A"/>
          </a:solidFill>
          <a:ln/>
        </p:spPr>
      </p:sp>
      <p:sp>
        <p:nvSpPr>
          <p:cNvPr id="26" name="Text 24"/>
          <p:cNvSpPr txBox="1"/>
          <p:nvPr/>
        </p:nvSpPr>
        <p:spPr>
          <a:xfrm>
            <a:off x="713232" y="422910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a:t>
            </a:r>
            <a:endParaRPr lang="en-US" sz="1200" dirty="0"/>
          </a:p>
        </p:txBody>
      </p:sp>
      <p:sp>
        <p:nvSpPr>
          <p:cNvPr id="27" name="Text 25"/>
          <p:cNvSpPr txBox="1"/>
          <p:nvPr/>
        </p:nvSpPr>
        <p:spPr>
          <a:xfrm>
            <a:off x="1234440" y="4160520"/>
            <a:ext cx="5989320" cy="5029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自分で野菜作りから始める教室をスタート</a:t>
            </a:r>
            <a:endParaRPr lang="en-US" sz="1700" dirty="0"/>
          </a:p>
        </p:txBody>
      </p:sp>
      <p:sp>
        <p:nvSpPr>
          <p:cNvPr id="28" name="Shape 26"/>
          <p:cNvSpPr/>
          <p:nvPr/>
        </p:nvSpPr>
        <p:spPr>
          <a:xfrm>
            <a:off x="548640" y="4846320"/>
            <a:ext cx="6766560" cy="502920"/>
          </a:xfrm>
          <a:prstGeom prst="roundRect">
            <a:avLst>
              <a:gd name="adj" fmla="val 21818"/>
            </a:avLst>
          </a:prstGeom>
          <a:solidFill>
            <a:srgbClr val="FBF0DC"/>
          </a:solidFill>
          <a:ln/>
        </p:spPr>
      </p:sp>
      <p:sp>
        <p:nvSpPr>
          <p:cNvPr id="29" name="Shape 27"/>
          <p:cNvSpPr/>
          <p:nvPr/>
        </p:nvSpPr>
        <p:spPr>
          <a:xfrm>
            <a:off x="713232" y="4914900"/>
            <a:ext cx="365760" cy="365760"/>
          </a:xfrm>
          <a:prstGeom prst="ellipse">
            <a:avLst/>
          </a:prstGeom>
          <a:solidFill>
            <a:srgbClr val="E8A33D"/>
          </a:solidFill>
          <a:ln/>
        </p:spPr>
      </p:sp>
      <p:sp>
        <p:nvSpPr>
          <p:cNvPr id="30" name="Text 28"/>
          <p:cNvSpPr txBox="1"/>
          <p:nvPr/>
        </p:nvSpPr>
        <p:spPr>
          <a:xfrm>
            <a:off x="713232" y="4914900"/>
            <a:ext cx="36576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a:t>
            </a:r>
            <a:endParaRPr lang="en-US" sz="1200" dirty="0"/>
          </a:p>
        </p:txBody>
      </p:sp>
      <p:sp>
        <p:nvSpPr>
          <p:cNvPr id="31" name="Text 29"/>
          <p:cNvSpPr txBox="1"/>
          <p:nvPr/>
        </p:nvSpPr>
        <p:spPr>
          <a:xfrm>
            <a:off x="1234440" y="4846320"/>
            <a:ext cx="5989320" cy="502920"/>
          </a:xfrm>
          <a:prstGeom prst="rect">
            <a:avLst/>
          </a:prstGeom>
          <a:noFill/>
          <a:ln/>
        </p:spPr>
        <p:txBody>
          <a:bodyPr wrap="square" lIns="635" tIns="635" rIns="635" bIns="635" rtlCol="0" anchor="ctr"/>
          <a:lstStyle/>
          <a:p>
            <a:pPr indent="0" marL="0">
              <a:lnSpc>
                <a:spcPct val="120000"/>
              </a:lnSpc>
              <a:buNone/>
            </a:pPr>
            <a:r>
              <a:rPr lang="en-US" sz="1700" b="1" dirty="0">
                <a:solidFill>
                  <a:srgbClr val="7A4A0B"/>
                </a:solidFill>
                <a:latin typeface="BIZ UDPGothic" pitchFamily="34" charset="0"/>
                <a:ea typeface="BIZ UDPGothic" pitchFamily="34" charset="-122"/>
                <a:cs typeface="BIZ UDPGothic" pitchFamily="34" charset="-120"/>
              </a:rPr>
              <a:t>生ゴミを畑に返す自然農を始める</a:t>
            </a:r>
            <a:endParaRPr lang="en-US" sz="1700" dirty="0"/>
          </a:p>
        </p:txBody>
      </p:sp>
      <p:pic>
        <p:nvPicPr>
          <p:cNvPr id="32" name="Image 0" descr="/root/work/gen/p_s06_cf5a15cb_688x816_FFFFFF.jpg">    </p:cNvPr>
          <p:cNvPicPr>
            <a:picLocks noChangeAspect="1"/>
          </p:cNvPicPr>
          <p:nvPr/>
        </p:nvPicPr>
        <p:blipFill>
          <a:blip r:embed="rId1"/>
          <a:stretch>
            <a:fillRect/>
          </a:stretch>
        </p:blipFill>
        <p:spPr>
          <a:xfrm>
            <a:off x="7680960" y="1508760"/>
            <a:ext cx="3931920" cy="466344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わたしの歩み ④</a:t>
            </a:r>
            <a:endParaRPr lang="en-US" sz="1300" dirty="0"/>
          </a:p>
        </p:txBody>
      </p:sp>
      <p:sp>
        <p:nvSpPr>
          <p:cNvPr id="3" name="Shape 1"/>
          <p:cNvSpPr/>
          <p:nvPr/>
        </p:nvSpPr>
        <p:spPr>
          <a:xfrm>
            <a:off x="7589520" y="274320"/>
            <a:ext cx="749808" cy="292608"/>
          </a:xfrm>
          <a:prstGeom prst="roundRect">
            <a:avLst>
              <a:gd name="adj" fmla="val 50000"/>
            </a:avLst>
          </a:prstGeom>
          <a:solidFill>
            <a:srgbClr val="EEF5EA"/>
          </a:solidFill>
          <a:ln/>
        </p:spPr>
      </p:sp>
      <p:sp>
        <p:nvSpPr>
          <p:cNvPr id="4" name="Text 2"/>
          <p:cNvSpPr txBox="1"/>
          <p:nvPr/>
        </p:nvSpPr>
        <p:spPr>
          <a:xfrm>
            <a:off x="758952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上京</a:t>
            </a:r>
            <a:endParaRPr lang="en-US" sz="1000" dirty="0"/>
          </a:p>
        </p:txBody>
      </p:sp>
      <p:sp>
        <p:nvSpPr>
          <p:cNvPr id="5" name="Shape 3"/>
          <p:cNvSpPr/>
          <p:nvPr/>
        </p:nvSpPr>
        <p:spPr>
          <a:xfrm>
            <a:off x="8412480" y="274320"/>
            <a:ext cx="749808" cy="292608"/>
          </a:xfrm>
          <a:prstGeom prst="roundRect">
            <a:avLst>
              <a:gd name="adj" fmla="val 50000"/>
            </a:avLst>
          </a:prstGeom>
          <a:solidFill>
            <a:srgbClr val="EEF5EA"/>
          </a:solidFill>
          <a:ln/>
        </p:spPr>
      </p:sp>
      <p:sp>
        <p:nvSpPr>
          <p:cNvPr id="6" name="Text 4"/>
          <p:cNvSpPr txBox="1"/>
          <p:nvPr/>
        </p:nvSpPr>
        <p:spPr>
          <a:xfrm>
            <a:off x="841248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渡欧</a:t>
            </a:r>
            <a:endParaRPr lang="en-US" sz="1000" dirty="0"/>
          </a:p>
        </p:txBody>
      </p:sp>
      <p:sp>
        <p:nvSpPr>
          <p:cNvPr id="7" name="Shape 5"/>
          <p:cNvSpPr/>
          <p:nvPr/>
        </p:nvSpPr>
        <p:spPr>
          <a:xfrm>
            <a:off x="9235440" y="274320"/>
            <a:ext cx="749808" cy="292608"/>
          </a:xfrm>
          <a:prstGeom prst="roundRect">
            <a:avLst>
              <a:gd name="adj" fmla="val 50000"/>
            </a:avLst>
          </a:prstGeom>
          <a:solidFill>
            <a:srgbClr val="EEF5EA"/>
          </a:solidFill>
          <a:ln/>
        </p:spPr>
      </p:sp>
      <p:sp>
        <p:nvSpPr>
          <p:cNvPr id="8" name="Text 6"/>
          <p:cNvSpPr txBox="1"/>
          <p:nvPr/>
        </p:nvSpPr>
        <p:spPr>
          <a:xfrm>
            <a:off x="923544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横浜レジオン</a:t>
            </a:r>
            <a:endParaRPr lang="en-US" sz="1000" dirty="0"/>
          </a:p>
        </p:txBody>
      </p:sp>
      <p:sp>
        <p:nvSpPr>
          <p:cNvPr id="9" name="Shape 7"/>
          <p:cNvSpPr/>
          <p:nvPr/>
        </p:nvSpPr>
        <p:spPr>
          <a:xfrm>
            <a:off x="10058400" y="274320"/>
            <a:ext cx="749808" cy="292608"/>
          </a:xfrm>
          <a:prstGeom prst="roundRect">
            <a:avLst>
              <a:gd name="adj" fmla="val 50000"/>
            </a:avLst>
          </a:prstGeom>
          <a:solidFill>
            <a:srgbClr val="E8A33D"/>
          </a:solidFill>
          <a:ln/>
        </p:spPr>
      </p:sp>
      <p:sp>
        <p:nvSpPr>
          <p:cNvPr id="10" name="Text 8"/>
          <p:cNvSpPr txBox="1"/>
          <p:nvPr/>
        </p:nvSpPr>
        <p:spPr>
          <a:xfrm>
            <a:off x="10058400" y="274320"/>
            <a:ext cx="749808" cy="29260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BIZ UDPGothic" pitchFamily="34" charset="0"/>
                <a:ea typeface="BIZ UDPGothic" pitchFamily="34" charset="-122"/>
                <a:cs typeface="BIZ UDPGothic" pitchFamily="34" charset="-120"/>
              </a:rPr>
              <a:t>講師</a:t>
            </a:r>
            <a:endParaRPr lang="en-US" sz="1000" dirty="0"/>
          </a:p>
        </p:txBody>
      </p:sp>
      <p:sp>
        <p:nvSpPr>
          <p:cNvPr id="11" name="Shape 9"/>
          <p:cNvSpPr/>
          <p:nvPr/>
        </p:nvSpPr>
        <p:spPr>
          <a:xfrm>
            <a:off x="10881360" y="274320"/>
            <a:ext cx="749808" cy="292608"/>
          </a:xfrm>
          <a:prstGeom prst="roundRect">
            <a:avLst>
              <a:gd name="adj" fmla="val 50000"/>
            </a:avLst>
          </a:prstGeom>
          <a:solidFill>
            <a:srgbClr val="EEF5EA"/>
          </a:solidFill>
          <a:ln/>
        </p:spPr>
      </p:sp>
      <p:sp>
        <p:nvSpPr>
          <p:cNvPr id="12" name="Text 10"/>
          <p:cNvSpPr txBox="1"/>
          <p:nvPr/>
        </p:nvSpPr>
        <p:spPr>
          <a:xfrm>
            <a:off x="1088136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八ヶ岳</a:t>
            </a:r>
            <a:endParaRPr lang="en-US" sz="1000" dirty="0"/>
          </a:p>
        </p:txBody>
      </p:sp>
      <p:sp>
        <p:nvSpPr>
          <p:cNvPr id="1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講師として</a:t>
            </a:r>
            <a:endParaRPr lang="en-US" sz="3000" dirty="0"/>
          </a:p>
        </p:txBody>
      </p:sp>
      <p:sp>
        <p:nvSpPr>
          <p:cNvPr id="14" name="Shape 12"/>
          <p:cNvSpPr/>
          <p:nvPr/>
        </p:nvSpPr>
        <p:spPr>
          <a:xfrm>
            <a:off x="548640" y="1600200"/>
            <a:ext cx="640080" cy="640080"/>
          </a:xfrm>
          <a:prstGeom prst="ellipse">
            <a:avLst/>
          </a:prstGeom>
          <a:solidFill>
            <a:srgbClr val="EEF5EA"/>
          </a:solidFill>
          <a:ln/>
        </p:spPr>
      </p:sp>
      <p:pic>
        <p:nvPicPr>
          <p:cNvPr id="15" name="Image 0" descr="preencoded.png">    </p:cNvPr>
          <p:cNvPicPr>
            <a:picLocks noChangeAspect="1"/>
          </p:cNvPicPr>
          <p:nvPr/>
        </p:nvPicPr>
        <p:blipFill>
          <a:blip r:embed="rId1"/>
          <a:stretch>
            <a:fillRect/>
          </a:stretch>
        </p:blipFill>
        <p:spPr>
          <a:xfrm>
            <a:off x="702259" y="1753819"/>
            <a:ext cx="332842" cy="332842"/>
          </a:xfrm>
          <a:prstGeom prst="rect">
            <a:avLst/>
          </a:prstGeom>
        </p:spPr>
      </p:pic>
      <p:sp>
        <p:nvSpPr>
          <p:cNvPr id="16" name="Text 13"/>
          <p:cNvSpPr txBox="1"/>
          <p:nvPr/>
        </p:nvSpPr>
        <p:spPr>
          <a:xfrm>
            <a:off x="1371600" y="1600200"/>
            <a:ext cx="4114800" cy="68580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天給自足・ポタジェ作り・野草を生活に落とし込む</a:t>
            </a:r>
            <a:endParaRPr lang="en-US" sz="1700" dirty="0"/>
          </a:p>
        </p:txBody>
      </p:sp>
      <p:sp>
        <p:nvSpPr>
          <p:cNvPr id="17" name="Shape 14"/>
          <p:cNvSpPr/>
          <p:nvPr/>
        </p:nvSpPr>
        <p:spPr>
          <a:xfrm>
            <a:off x="548640" y="2468880"/>
            <a:ext cx="640080" cy="640080"/>
          </a:xfrm>
          <a:prstGeom prst="ellipse">
            <a:avLst/>
          </a:prstGeom>
          <a:solidFill>
            <a:srgbClr val="EEF5EA"/>
          </a:solidFill>
          <a:ln/>
        </p:spPr>
      </p:sp>
      <p:pic>
        <p:nvPicPr>
          <p:cNvPr id="18" name="Image 1" descr="preencoded.png">    </p:cNvPr>
          <p:cNvPicPr>
            <a:picLocks noChangeAspect="1"/>
          </p:cNvPicPr>
          <p:nvPr/>
        </p:nvPicPr>
        <p:blipFill>
          <a:blip r:embed="rId2"/>
          <a:stretch>
            <a:fillRect/>
          </a:stretch>
        </p:blipFill>
        <p:spPr>
          <a:xfrm>
            <a:off x="702259" y="2622499"/>
            <a:ext cx="332842" cy="332842"/>
          </a:xfrm>
          <a:prstGeom prst="rect">
            <a:avLst/>
          </a:prstGeom>
        </p:spPr>
      </p:pic>
      <p:sp>
        <p:nvSpPr>
          <p:cNvPr id="19" name="Text 15"/>
          <p:cNvSpPr txBox="1"/>
          <p:nvPr/>
        </p:nvSpPr>
        <p:spPr>
          <a:xfrm>
            <a:off x="1371600" y="2468880"/>
            <a:ext cx="4114800" cy="68580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米で作るフランス菓子・米パン、醗酵実践塾、乾物活用</a:t>
            </a:r>
            <a:endParaRPr lang="en-US" sz="1700" dirty="0"/>
          </a:p>
        </p:txBody>
      </p:sp>
      <p:sp>
        <p:nvSpPr>
          <p:cNvPr id="20" name="Shape 16"/>
          <p:cNvSpPr/>
          <p:nvPr/>
        </p:nvSpPr>
        <p:spPr>
          <a:xfrm>
            <a:off x="548640" y="3474720"/>
            <a:ext cx="4937760" cy="1051560"/>
          </a:xfrm>
          <a:prstGeom prst="roundRect">
            <a:avLst>
              <a:gd name="adj" fmla="val 10435"/>
            </a:avLst>
          </a:prstGeom>
          <a:solidFill>
            <a:srgbClr val="FBF0DC"/>
          </a:solidFill>
          <a:ln/>
        </p:spPr>
      </p:sp>
      <p:sp>
        <p:nvSpPr>
          <p:cNvPr id="21" name="Text 17"/>
          <p:cNvSpPr txBox="1"/>
          <p:nvPr/>
        </p:nvSpPr>
        <p:spPr>
          <a:xfrm>
            <a:off x="777240" y="3474720"/>
            <a:ext cx="4572000" cy="1051560"/>
          </a:xfrm>
          <a:prstGeom prst="rect">
            <a:avLst/>
          </a:prstGeom>
          <a:noFill/>
          <a:ln/>
        </p:spPr>
        <p:txBody>
          <a:bodyPr wrap="square" lIns="635" tIns="635" rIns="635" bIns="635" rtlCol="0" anchor="ctr"/>
          <a:lstStyle/>
          <a:p>
            <a:pPr indent="0" marL="0">
              <a:lnSpc>
                <a:spcPct val="120000"/>
              </a:lnSpc>
              <a:buNone/>
            </a:pPr>
            <a:r>
              <a:rPr lang="en-US" sz="1800" b="1" dirty="0">
                <a:solidFill>
                  <a:srgbClr val="7A4A0B"/>
                </a:solidFill>
                <a:latin typeface="BIZ UDPGothic" pitchFamily="34" charset="0"/>
                <a:ea typeface="BIZ UDPGothic" pitchFamily="34" charset="-122"/>
                <a:cs typeface="BIZ UDPGothic" pitchFamily="34" charset="-120"/>
              </a:rPr>
              <a:t>一生モノのスキルとマインドを伝える</a:t>
            </a:r>
            <a:endParaRPr lang="en-US" sz="1800" dirty="0"/>
          </a:p>
        </p:txBody>
      </p:sp>
      <p:sp>
        <p:nvSpPr>
          <p:cNvPr id="22" name="Shape 18"/>
          <p:cNvSpPr/>
          <p:nvPr/>
        </p:nvSpPr>
        <p:spPr>
          <a:xfrm>
            <a:off x="548640" y="4709160"/>
            <a:ext cx="4937760" cy="1280160"/>
          </a:xfrm>
          <a:prstGeom prst="roundRect">
            <a:avLst>
              <a:gd name="adj" fmla="val 8571"/>
            </a:avLst>
          </a:prstGeom>
          <a:solidFill>
            <a:srgbClr val="1E4D3A"/>
          </a:solidFill>
          <a:ln/>
        </p:spPr>
      </p:sp>
      <p:sp>
        <p:nvSpPr>
          <p:cNvPr id="23" name="Text 19"/>
          <p:cNvSpPr txBox="1"/>
          <p:nvPr/>
        </p:nvSpPr>
        <p:spPr>
          <a:xfrm>
            <a:off x="777240" y="4709160"/>
            <a:ext cx="4572000" cy="1280160"/>
          </a:xfrm>
          <a:prstGeom prst="rect">
            <a:avLst/>
          </a:prstGeom>
          <a:noFill/>
          <a:ln/>
        </p:spPr>
        <p:txBody>
          <a:bodyPr wrap="square" lIns="635" tIns="635" rIns="635" bIns="635" rtlCol="0" anchor="ctr"/>
          <a:lstStyle/>
          <a:p>
            <a:pPr indent="0" marL="0">
              <a:lnSpc>
                <a:spcPct val="120000"/>
              </a:lnSpc>
              <a:buNone/>
            </a:pPr>
            <a:r>
              <a:rPr lang="en-US" sz="1900" b="1" dirty="0">
                <a:solidFill>
                  <a:srgbClr val="FFFFFF"/>
                </a:solidFill>
                <a:latin typeface="BIZ UDPGothic" pitchFamily="34" charset="0"/>
                <a:ea typeface="BIZ UDPGothic" pitchFamily="34" charset="-122"/>
                <a:cs typeface="BIZ UDPGothic" pitchFamily="34" charset="-120"/>
              </a:rPr>
              <a:t>好きで得意なことで社会貢献できる講師を増やす</a:t>
            </a:r>
            <a:endParaRPr lang="en-US" sz="1900" dirty="0"/>
          </a:p>
        </p:txBody>
      </p:sp>
      <p:pic>
        <p:nvPicPr>
          <p:cNvPr id="24" name="Image 2" descr="/root/work/gen/p_s07_ace14c89_1008x768_FFFFFF.jpg">    </p:cNvPr>
          <p:cNvPicPr>
            <a:picLocks noChangeAspect="1"/>
          </p:cNvPicPr>
          <p:nvPr/>
        </p:nvPicPr>
        <p:blipFill>
          <a:blip r:embed="rId3"/>
          <a:stretch>
            <a:fillRect/>
          </a:stretch>
        </p:blipFill>
        <p:spPr>
          <a:xfrm>
            <a:off x="5852160" y="1600200"/>
            <a:ext cx="5760720" cy="438912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わたしの歩み ⑤</a:t>
            </a:r>
            <a:endParaRPr lang="en-US" sz="1300" dirty="0"/>
          </a:p>
        </p:txBody>
      </p:sp>
      <p:sp>
        <p:nvSpPr>
          <p:cNvPr id="3" name="Shape 1"/>
          <p:cNvSpPr/>
          <p:nvPr/>
        </p:nvSpPr>
        <p:spPr>
          <a:xfrm>
            <a:off x="7589520" y="274320"/>
            <a:ext cx="749808" cy="292608"/>
          </a:xfrm>
          <a:prstGeom prst="roundRect">
            <a:avLst>
              <a:gd name="adj" fmla="val 50000"/>
            </a:avLst>
          </a:prstGeom>
          <a:solidFill>
            <a:srgbClr val="EEF5EA"/>
          </a:solidFill>
          <a:ln/>
        </p:spPr>
      </p:sp>
      <p:sp>
        <p:nvSpPr>
          <p:cNvPr id="4" name="Text 2"/>
          <p:cNvSpPr txBox="1"/>
          <p:nvPr/>
        </p:nvSpPr>
        <p:spPr>
          <a:xfrm>
            <a:off x="758952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上京</a:t>
            </a:r>
            <a:endParaRPr lang="en-US" sz="1000" dirty="0"/>
          </a:p>
        </p:txBody>
      </p:sp>
      <p:sp>
        <p:nvSpPr>
          <p:cNvPr id="5" name="Shape 3"/>
          <p:cNvSpPr/>
          <p:nvPr/>
        </p:nvSpPr>
        <p:spPr>
          <a:xfrm>
            <a:off x="8412480" y="274320"/>
            <a:ext cx="749808" cy="292608"/>
          </a:xfrm>
          <a:prstGeom prst="roundRect">
            <a:avLst>
              <a:gd name="adj" fmla="val 50000"/>
            </a:avLst>
          </a:prstGeom>
          <a:solidFill>
            <a:srgbClr val="EEF5EA"/>
          </a:solidFill>
          <a:ln/>
        </p:spPr>
      </p:sp>
      <p:sp>
        <p:nvSpPr>
          <p:cNvPr id="6" name="Text 4"/>
          <p:cNvSpPr txBox="1"/>
          <p:nvPr/>
        </p:nvSpPr>
        <p:spPr>
          <a:xfrm>
            <a:off x="841248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渡欧</a:t>
            </a:r>
            <a:endParaRPr lang="en-US" sz="1000" dirty="0"/>
          </a:p>
        </p:txBody>
      </p:sp>
      <p:sp>
        <p:nvSpPr>
          <p:cNvPr id="7" name="Shape 5"/>
          <p:cNvSpPr/>
          <p:nvPr/>
        </p:nvSpPr>
        <p:spPr>
          <a:xfrm>
            <a:off x="9235440" y="274320"/>
            <a:ext cx="749808" cy="292608"/>
          </a:xfrm>
          <a:prstGeom prst="roundRect">
            <a:avLst>
              <a:gd name="adj" fmla="val 50000"/>
            </a:avLst>
          </a:prstGeom>
          <a:solidFill>
            <a:srgbClr val="EEF5EA"/>
          </a:solidFill>
          <a:ln/>
        </p:spPr>
      </p:sp>
      <p:sp>
        <p:nvSpPr>
          <p:cNvPr id="8" name="Text 6"/>
          <p:cNvSpPr txBox="1"/>
          <p:nvPr/>
        </p:nvSpPr>
        <p:spPr>
          <a:xfrm>
            <a:off x="923544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横浜レジオン</a:t>
            </a:r>
            <a:endParaRPr lang="en-US" sz="1000" dirty="0"/>
          </a:p>
        </p:txBody>
      </p:sp>
      <p:sp>
        <p:nvSpPr>
          <p:cNvPr id="9" name="Shape 7"/>
          <p:cNvSpPr/>
          <p:nvPr/>
        </p:nvSpPr>
        <p:spPr>
          <a:xfrm>
            <a:off x="10058400" y="274320"/>
            <a:ext cx="749808" cy="292608"/>
          </a:xfrm>
          <a:prstGeom prst="roundRect">
            <a:avLst>
              <a:gd name="adj" fmla="val 50000"/>
            </a:avLst>
          </a:prstGeom>
          <a:solidFill>
            <a:srgbClr val="EEF5EA"/>
          </a:solidFill>
          <a:ln/>
        </p:spPr>
      </p:sp>
      <p:sp>
        <p:nvSpPr>
          <p:cNvPr id="10" name="Text 8"/>
          <p:cNvSpPr txBox="1"/>
          <p:nvPr/>
        </p:nvSpPr>
        <p:spPr>
          <a:xfrm>
            <a:off x="10058400" y="274320"/>
            <a:ext cx="749808" cy="292608"/>
          </a:xfrm>
          <a:prstGeom prst="rect">
            <a:avLst/>
          </a:prstGeom>
          <a:noFill/>
          <a:ln/>
        </p:spPr>
        <p:txBody>
          <a:bodyPr wrap="square" lIns="0" tIns="0" rIns="0" bIns="0" rtlCol="0" anchor="ctr"/>
          <a:lstStyle/>
          <a:p>
            <a:pPr algn="ctr" indent="0" marL="0">
              <a:lnSpc>
                <a:spcPct val="120000"/>
              </a:lnSpc>
              <a:buNone/>
            </a:pPr>
            <a:r>
              <a:rPr lang="en-US" sz="1000" dirty="0">
                <a:solidFill>
                  <a:srgbClr val="5E9E5A"/>
                </a:solidFill>
                <a:latin typeface="BIZ UDPGothic" pitchFamily="34" charset="0"/>
                <a:ea typeface="BIZ UDPGothic" pitchFamily="34" charset="-122"/>
                <a:cs typeface="BIZ UDPGothic" pitchFamily="34" charset="-120"/>
              </a:rPr>
              <a:t>講師</a:t>
            </a:r>
            <a:endParaRPr lang="en-US" sz="1000" dirty="0"/>
          </a:p>
        </p:txBody>
      </p:sp>
      <p:sp>
        <p:nvSpPr>
          <p:cNvPr id="11" name="Shape 9"/>
          <p:cNvSpPr/>
          <p:nvPr/>
        </p:nvSpPr>
        <p:spPr>
          <a:xfrm>
            <a:off x="10881360" y="274320"/>
            <a:ext cx="749808" cy="292608"/>
          </a:xfrm>
          <a:prstGeom prst="roundRect">
            <a:avLst>
              <a:gd name="adj" fmla="val 50000"/>
            </a:avLst>
          </a:prstGeom>
          <a:solidFill>
            <a:srgbClr val="E8A33D"/>
          </a:solidFill>
          <a:ln/>
        </p:spPr>
      </p:sp>
      <p:sp>
        <p:nvSpPr>
          <p:cNvPr id="12" name="Text 10"/>
          <p:cNvSpPr txBox="1"/>
          <p:nvPr/>
        </p:nvSpPr>
        <p:spPr>
          <a:xfrm>
            <a:off x="10881360" y="274320"/>
            <a:ext cx="749808" cy="292608"/>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BIZ UDPGothic" pitchFamily="34" charset="0"/>
                <a:ea typeface="BIZ UDPGothic" pitchFamily="34" charset="-122"/>
                <a:cs typeface="BIZ UDPGothic" pitchFamily="34" charset="-120"/>
              </a:rPr>
              <a:t>八ヶ岳</a:t>
            </a:r>
            <a:endParaRPr lang="en-US" sz="1000" dirty="0"/>
          </a:p>
        </p:txBody>
      </p:sp>
      <p:sp>
        <p:nvSpPr>
          <p:cNvPr id="1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横浜レジオンから八ヶ岳へ ― 志の変化</a:t>
            </a:r>
            <a:endParaRPr lang="en-US" sz="3000" dirty="0"/>
          </a:p>
        </p:txBody>
      </p:sp>
      <p:sp>
        <p:nvSpPr>
          <p:cNvPr id="14" name="Shape 12"/>
          <p:cNvSpPr/>
          <p:nvPr/>
        </p:nvSpPr>
        <p:spPr>
          <a:xfrm>
            <a:off x="548640" y="1554480"/>
            <a:ext cx="4206240" cy="960120"/>
          </a:xfrm>
          <a:prstGeom prst="roundRect">
            <a:avLst>
              <a:gd name="adj" fmla="val 11429"/>
            </a:avLst>
          </a:prstGeom>
          <a:solidFill>
            <a:srgbClr val="F6F8F4"/>
          </a:solidFill>
          <a:ln/>
        </p:spPr>
      </p:sp>
      <p:sp>
        <p:nvSpPr>
          <p:cNvPr id="15" name="Text 13"/>
          <p:cNvSpPr txBox="1"/>
          <p:nvPr/>
        </p:nvSpPr>
        <p:spPr>
          <a:xfrm>
            <a:off x="731520" y="1554480"/>
            <a:ext cx="3931920" cy="96012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新宿高島屋への出店、結婚式のウエディング商品作り</a:t>
            </a:r>
            <a:endParaRPr lang="en-US" sz="1500" dirty="0"/>
          </a:p>
        </p:txBody>
      </p:sp>
      <p:pic>
        <p:nvPicPr>
          <p:cNvPr id="16" name="Image 0" descr="preencoded.png">    </p:cNvPr>
          <p:cNvPicPr>
            <a:picLocks noChangeAspect="1"/>
          </p:cNvPicPr>
          <p:nvPr/>
        </p:nvPicPr>
        <p:blipFill>
          <a:blip r:embed="rId1"/>
          <a:stretch>
            <a:fillRect/>
          </a:stretch>
        </p:blipFill>
        <p:spPr>
          <a:xfrm>
            <a:off x="4892040" y="1869948"/>
            <a:ext cx="329184" cy="329184"/>
          </a:xfrm>
          <a:prstGeom prst="rect">
            <a:avLst/>
          </a:prstGeom>
        </p:spPr>
      </p:pic>
      <p:sp>
        <p:nvSpPr>
          <p:cNvPr id="17" name="Shape 14"/>
          <p:cNvSpPr/>
          <p:nvPr/>
        </p:nvSpPr>
        <p:spPr>
          <a:xfrm>
            <a:off x="5349240" y="1554480"/>
            <a:ext cx="3200400" cy="960120"/>
          </a:xfrm>
          <a:prstGeom prst="roundRect">
            <a:avLst>
              <a:gd name="adj" fmla="val 11429"/>
            </a:avLst>
          </a:prstGeom>
          <a:solidFill>
            <a:srgbClr val="1E4D3A"/>
          </a:solidFill>
          <a:ln/>
        </p:spPr>
      </p:sp>
      <p:sp>
        <p:nvSpPr>
          <p:cNvPr id="18" name="Text 15"/>
          <p:cNvSpPr txBox="1"/>
          <p:nvPr/>
        </p:nvSpPr>
        <p:spPr>
          <a:xfrm>
            <a:off x="5486400" y="1554480"/>
            <a:ext cx="2971800" cy="960120"/>
          </a:xfrm>
          <a:prstGeom prst="rect">
            <a:avLst/>
          </a:prstGeom>
          <a:noFill/>
          <a:ln/>
        </p:spPr>
        <p:txBody>
          <a:bodyPr wrap="square" lIns="635" tIns="635" rIns="635" bIns="635" rtlCol="0" anchor="ctr"/>
          <a:lstStyle/>
          <a:p>
            <a:pPr indent="0" marL="0">
              <a:lnSpc>
                <a:spcPct val="120000"/>
              </a:lnSpc>
              <a:buNone/>
            </a:pPr>
            <a:r>
              <a:rPr lang="en-US" sz="1600" b="1" dirty="0">
                <a:solidFill>
                  <a:srgbClr val="FFFFFF"/>
                </a:solidFill>
                <a:latin typeface="BIZ UDPGothic" pitchFamily="34" charset="0"/>
                <a:ea typeface="BIZ UDPGothic" pitchFamily="34" charset="-122"/>
                <a:cs typeface="BIZ UDPGothic" pitchFamily="34" charset="-120"/>
              </a:rPr>
              <a:t>幸せ作りに貢献</a:t>
            </a:r>
            <a:endParaRPr lang="en-US" sz="1600" dirty="0"/>
          </a:p>
        </p:txBody>
      </p:sp>
      <p:sp>
        <p:nvSpPr>
          <p:cNvPr id="19" name="Shape 16"/>
          <p:cNvSpPr/>
          <p:nvPr/>
        </p:nvSpPr>
        <p:spPr>
          <a:xfrm>
            <a:off x="548640" y="2651760"/>
            <a:ext cx="4206240" cy="960120"/>
          </a:xfrm>
          <a:prstGeom prst="roundRect">
            <a:avLst>
              <a:gd name="adj" fmla="val 11429"/>
            </a:avLst>
          </a:prstGeom>
          <a:solidFill>
            <a:srgbClr val="F6F8F4"/>
          </a:solidFill>
          <a:ln/>
        </p:spPr>
      </p:sp>
      <p:sp>
        <p:nvSpPr>
          <p:cNvPr id="20" name="Text 17"/>
          <p:cNvSpPr txBox="1"/>
          <p:nvPr/>
        </p:nvSpPr>
        <p:spPr>
          <a:xfrm>
            <a:off x="731520" y="2651760"/>
            <a:ext cx="3931920" cy="96012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常に季節を意識した商品創りでオリジナリティを磨く</a:t>
            </a:r>
            <a:endParaRPr lang="en-US" sz="1500" dirty="0"/>
          </a:p>
        </p:txBody>
      </p:sp>
      <p:pic>
        <p:nvPicPr>
          <p:cNvPr id="21" name="Image 1" descr="preencoded.png">    </p:cNvPr>
          <p:cNvPicPr>
            <a:picLocks noChangeAspect="1"/>
          </p:cNvPicPr>
          <p:nvPr/>
        </p:nvPicPr>
        <p:blipFill>
          <a:blip r:embed="rId2"/>
          <a:stretch>
            <a:fillRect/>
          </a:stretch>
        </p:blipFill>
        <p:spPr>
          <a:xfrm>
            <a:off x="4892040" y="2967228"/>
            <a:ext cx="329184" cy="329184"/>
          </a:xfrm>
          <a:prstGeom prst="rect">
            <a:avLst/>
          </a:prstGeom>
        </p:spPr>
      </p:pic>
      <p:sp>
        <p:nvSpPr>
          <p:cNvPr id="22" name="Shape 18"/>
          <p:cNvSpPr/>
          <p:nvPr/>
        </p:nvSpPr>
        <p:spPr>
          <a:xfrm>
            <a:off x="5349240" y="2651760"/>
            <a:ext cx="3200400" cy="960120"/>
          </a:xfrm>
          <a:prstGeom prst="roundRect">
            <a:avLst>
              <a:gd name="adj" fmla="val 11429"/>
            </a:avLst>
          </a:prstGeom>
          <a:solidFill>
            <a:srgbClr val="1E4D3A"/>
          </a:solidFill>
          <a:ln/>
        </p:spPr>
      </p:sp>
      <p:sp>
        <p:nvSpPr>
          <p:cNvPr id="23" name="Text 19"/>
          <p:cNvSpPr txBox="1"/>
          <p:nvPr/>
        </p:nvSpPr>
        <p:spPr>
          <a:xfrm>
            <a:off x="5486400" y="2651760"/>
            <a:ext cx="2971800" cy="960120"/>
          </a:xfrm>
          <a:prstGeom prst="rect">
            <a:avLst/>
          </a:prstGeom>
          <a:noFill/>
          <a:ln/>
        </p:spPr>
        <p:txBody>
          <a:bodyPr wrap="square" lIns="635" tIns="635" rIns="635" bIns="635" rtlCol="0" anchor="ctr"/>
          <a:lstStyle/>
          <a:p>
            <a:pPr indent="0" marL="0">
              <a:lnSpc>
                <a:spcPct val="120000"/>
              </a:lnSpc>
              <a:buNone/>
            </a:pPr>
            <a:r>
              <a:rPr lang="en-US" sz="1600" b="1" dirty="0">
                <a:solidFill>
                  <a:srgbClr val="FFFFFF"/>
                </a:solidFill>
                <a:latin typeface="BIZ UDPGothic" pitchFamily="34" charset="0"/>
                <a:ea typeface="BIZ UDPGothic" pitchFamily="34" charset="-122"/>
                <a:cs typeface="BIZ UDPGothic" pitchFamily="34" charset="-120"/>
              </a:rPr>
              <a:t>楽しさ、美味しさ作り</a:t>
            </a:r>
            <a:endParaRPr lang="en-US" sz="1600" dirty="0"/>
          </a:p>
        </p:txBody>
      </p:sp>
      <p:sp>
        <p:nvSpPr>
          <p:cNvPr id="24" name="Shape 20"/>
          <p:cNvSpPr/>
          <p:nvPr/>
        </p:nvSpPr>
        <p:spPr>
          <a:xfrm>
            <a:off x="548640" y="3749040"/>
            <a:ext cx="4206240" cy="960120"/>
          </a:xfrm>
          <a:prstGeom prst="roundRect">
            <a:avLst>
              <a:gd name="adj" fmla="val 11429"/>
            </a:avLst>
          </a:prstGeom>
          <a:solidFill>
            <a:srgbClr val="F6F8F4"/>
          </a:solidFill>
          <a:ln/>
        </p:spPr>
      </p:sp>
      <p:sp>
        <p:nvSpPr>
          <p:cNvPr id="25" name="Text 21"/>
          <p:cNvSpPr txBox="1"/>
          <p:nvPr/>
        </p:nvSpPr>
        <p:spPr>
          <a:xfrm>
            <a:off x="731520" y="3749040"/>
            <a:ext cx="3931920" cy="96012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プロ向けの共著2冊を出版、料理新聞社の表紙を2年間担当</a:t>
            </a:r>
            <a:endParaRPr lang="en-US" sz="1500" dirty="0"/>
          </a:p>
        </p:txBody>
      </p:sp>
      <p:pic>
        <p:nvPicPr>
          <p:cNvPr id="26" name="Image 2" descr="preencoded.png">    </p:cNvPr>
          <p:cNvPicPr>
            <a:picLocks noChangeAspect="1"/>
          </p:cNvPicPr>
          <p:nvPr/>
        </p:nvPicPr>
        <p:blipFill>
          <a:blip r:embed="rId3"/>
          <a:stretch>
            <a:fillRect/>
          </a:stretch>
        </p:blipFill>
        <p:spPr>
          <a:xfrm>
            <a:off x="4892040" y="4064508"/>
            <a:ext cx="329184" cy="329184"/>
          </a:xfrm>
          <a:prstGeom prst="rect">
            <a:avLst/>
          </a:prstGeom>
        </p:spPr>
      </p:pic>
      <p:sp>
        <p:nvSpPr>
          <p:cNvPr id="27" name="Shape 22"/>
          <p:cNvSpPr/>
          <p:nvPr/>
        </p:nvSpPr>
        <p:spPr>
          <a:xfrm>
            <a:off x="5349240" y="3749040"/>
            <a:ext cx="3200400" cy="960120"/>
          </a:xfrm>
          <a:prstGeom prst="roundRect">
            <a:avLst>
              <a:gd name="adj" fmla="val 11429"/>
            </a:avLst>
          </a:prstGeom>
          <a:solidFill>
            <a:srgbClr val="1E4D3A"/>
          </a:solidFill>
          <a:ln/>
        </p:spPr>
      </p:sp>
      <p:sp>
        <p:nvSpPr>
          <p:cNvPr id="28" name="Text 23"/>
          <p:cNvSpPr txBox="1"/>
          <p:nvPr/>
        </p:nvSpPr>
        <p:spPr>
          <a:xfrm>
            <a:off x="5486400" y="3749040"/>
            <a:ext cx="2971800" cy="960120"/>
          </a:xfrm>
          <a:prstGeom prst="rect">
            <a:avLst/>
          </a:prstGeom>
          <a:noFill/>
          <a:ln/>
        </p:spPr>
        <p:txBody>
          <a:bodyPr wrap="square" lIns="635" tIns="635" rIns="635" bIns="635" rtlCol="0" anchor="ctr"/>
          <a:lstStyle/>
          <a:p>
            <a:pPr indent="0" marL="0">
              <a:lnSpc>
                <a:spcPct val="120000"/>
              </a:lnSpc>
              <a:buNone/>
            </a:pPr>
            <a:r>
              <a:rPr lang="en-US" sz="1600" b="1" dirty="0">
                <a:solidFill>
                  <a:srgbClr val="FFFFFF"/>
                </a:solidFill>
                <a:latin typeface="BIZ UDPGothic" pitchFamily="34" charset="0"/>
                <a:ea typeface="BIZ UDPGothic" pitchFamily="34" charset="-122"/>
                <a:cs typeface="BIZ UDPGothic" pitchFamily="34" charset="-120"/>
              </a:rPr>
              <a:t>広く幸せを広める活動で業界に貢献</a:t>
            </a:r>
            <a:endParaRPr lang="en-US" sz="1600" dirty="0"/>
          </a:p>
        </p:txBody>
      </p:sp>
      <p:sp>
        <p:nvSpPr>
          <p:cNvPr id="29" name="Shape 24"/>
          <p:cNvSpPr/>
          <p:nvPr/>
        </p:nvSpPr>
        <p:spPr>
          <a:xfrm>
            <a:off x="548640" y="4846320"/>
            <a:ext cx="4206240" cy="1143000"/>
          </a:xfrm>
          <a:prstGeom prst="roundRect">
            <a:avLst>
              <a:gd name="adj" fmla="val 9600"/>
            </a:avLst>
          </a:prstGeom>
          <a:solidFill>
            <a:srgbClr val="FBF0DC"/>
          </a:solidFill>
          <a:ln/>
        </p:spPr>
      </p:sp>
      <p:sp>
        <p:nvSpPr>
          <p:cNvPr id="30" name="Text 25"/>
          <p:cNvSpPr txBox="1"/>
          <p:nvPr/>
        </p:nvSpPr>
        <p:spPr>
          <a:xfrm>
            <a:off x="731520" y="4846320"/>
            <a:ext cx="3931920" cy="11430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八ヶ岳で食の安全安心、天給自足の重要性に氣づき活動</a:t>
            </a:r>
            <a:endParaRPr lang="en-US" sz="1500" dirty="0"/>
          </a:p>
        </p:txBody>
      </p:sp>
      <p:pic>
        <p:nvPicPr>
          <p:cNvPr id="31" name="Image 3" descr="preencoded.png">    </p:cNvPr>
          <p:cNvPicPr>
            <a:picLocks noChangeAspect="1"/>
          </p:cNvPicPr>
          <p:nvPr/>
        </p:nvPicPr>
        <p:blipFill>
          <a:blip r:embed="rId4"/>
          <a:stretch>
            <a:fillRect/>
          </a:stretch>
        </p:blipFill>
        <p:spPr>
          <a:xfrm>
            <a:off x="4892040" y="5253228"/>
            <a:ext cx="329184" cy="329184"/>
          </a:xfrm>
          <a:prstGeom prst="rect">
            <a:avLst/>
          </a:prstGeom>
        </p:spPr>
      </p:pic>
      <p:sp>
        <p:nvSpPr>
          <p:cNvPr id="32" name="Shape 26"/>
          <p:cNvSpPr/>
          <p:nvPr/>
        </p:nvSpPr>
        <p:spPr>
          <a:xfrm>
            <a:off x="5349240" y="4846320"/>
            <a:ext cx="3200400" cy="1143000"/>
          </a:xfrm>
          <a:prstGeom prst="roundRect">
            <a:avLst>
              <a:gd name="adj" fmla="val 9600"/>
            </a:avLst>
          </a:prstGeom>
          <a:solidFill>
            <a:srgbClr val="E8A33D"/>
          </a:solidFill>
          <a:ln/>
        </p:spPr>
      </p:sp>
      <p:sp>
        <p:nvSpPr>
          <p:cNvPr id="33" name="Text 27"/>
          <p:cNvSpPr txBox="1"/>
          <p:nvPr/>
        </p:nvSpPr>
        <p:spPr>
          <a:xfrm>
            <a:off x="5486400" y="4846320"/>
            <a:ext cx="2971800" cy="1143000"/>
          </a:xfrm>
          <a:prstGeom prst="rect">
            <a:avLst/>
          </a:prstGeom>
          <a:noFill/>
          <a:ln/>
        </p:spPr>
        <p:txBody>
          <a:bodyPr wrap="square" lIns="635" tIns="635" rIns="635" bIns="635" rtlCol="0" anchor="ctr"/>
          <a:lstStyle/>
          <a:p>
            <a:pPr indent="0" marL="0">
              <a:lnSpc>
                <a:spcPct val="120000"/>
              </a:lnSpc>
              <a:buNone/>
            </a:pPr>
            <a:r>
              <a:rPr lang="en-US" sz="1600" b="1" dirty="0">
                <a:solidFill>
                  <a:srgbClr val="FFFFFF"/>
                </a:solidFill>
                <a:latin typeface="BIZ UDPGothic" pitchFamily="34" charset="0"/>
                <a:ea typeface="BIZ UDPGothic" pitchFamily="34" charset="-122"/>
                <a:cs typeface="BIZ UDPGothic" pitchFamily="34" charset="-120"/>
              </a:rPr>
              <a:t>健康になるための食作り、伝承者・講師を増やす事が志に</a:t>
            </a:r>
            <a:endParaRPr lang="en-US" sz="1600" dirty="0"/>
          </a:p>
        </p:txBody>
      </p:sp>
      <p:pic>
        <p:nvPicPr>
          <p:cNvPr id="34" name="Image 4" descr="/root/work/gen/p_s08_88a55a6e_472x392_FFFFFF.jpg">    </p:cNvPr>
          <p:cNvPicPr>
            <a:picLocks noChangeAspect="1"/>
          </p:cNvPicPr>
          <p:nvPr/>
        </p:nvPicPr>
        <p:blipFill>
          <a:blip r:embed="rId5"/>
          <a:stretch>
            <a:fillRect/>
          </a:stretch>
        </p:blipFill>
        <p:spPr>
          <a:xfrm>
            <a:off x="8915400" y="1554480"/>
            <a:ext cx="2697480" cy="2240280"/>
          </a:xfrm>
          <a:prstGeom prst="rect">
            <a:avLst/>
          </a:prstGeom>
          <a:effectLst>
            <a:outerShdw sx="100000" sy="100000" kx="0" ky="0" algn="bl" rotWithShape="0" blurRad="127000" dist="25400" dir="5400000">
              <a:srgbClr val="000000">
                <a:alpha val="13000"/>
              </a:srgbClr>
            </a:outerShdw>
          </a:effectLst>
        </p:spPr>
      </p:pic>
      <p:pic>
        <p:nvPicPr>
          <p:cNvPr id="35" name="Image 5" descr="/root/work/gen/p_s08_1c68a53a_472x392_FFFFFF.jpg">    </p:cNvPr>
          <p:cNvPicPr>
            <a:picLocks noChangeAspect="1"/>
          </p:cNvPicPr>
          <p:nvPr/>
        </p:nvPicPr>
        <p:blipFill>
          <a:blip r:embed="rId6"/>
          <a:stretch>
            <a:fillRect/>
          </a:stretch>
        </p:blipFill>
        <p:spPr>
          <a:xfrm>
            <a:off x="8915400" y="3977640"/>
            <a:ext cx="2697480" cy="224028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22960" y="1554480"/>
            <a:ext cx="2743200" cy="109728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02</a:t>
            </a:r>
            <a:endParaRPr lang="en-US" sz="7200" dirty="0"/>
          </a:p>
        </p:txBody>
      </p:sp>
      <p:sp>
        <p:nvSpPr>
          <p:cNvPr id="3" name="Text 1"/>
          <p:cNvSpPr txBox="1"/>
          <p:nvPr/>
        </p:nvSpPr>
        <p:spPr>
          <a:xfrm>
            <a:off x="822960" y="2697480"/>
            <a:ext cx="10058400" cy="914400"/>
          </a:xfrm>
          <a:prstGeom prst="rect">
            <a:avLst/>
          </a:prstGeom>
          <a:noFill/>
          <a:ln/>
        </p:spPr>
        <p:txBody>
          <a:bodyPr wrap="square" lIns="635" tIns="635" rIns="635" bIns="635" rtlCol="0" anchor="t"/>
          <a:lstStyle/>
          <a:p>
            <a:pPr indent="0" marL="0">
              <a:lnSpc>
                <a:spcPct val="120000"/>
              </a:lnSpc>
              <a:buNone/>
            </a:pPr>
            <a:r>
              <a:rPr lang="en-US" sz="4400" dirty="0">
                <a:solidFill>
                  <a:srgbClr val="FFFFFF"/>
                </a:solidFill>
                <a:latin typeface="BIZ UDPMincho" pitchFamily="34" charset="0"/>
                <a:ea typeface="BIZ UDPMincho" pitchFamily="34" charset="-122"/>
                <a:cs typeface="BIZ UDPMincho" pitchFamily="34" charset="-120"/>
              </a:rPr>
              <a:t>天給自足実践塾とは</a:t>
            </a:r>
            <a:endParaRPr lang="en-US" sz="4400" dirty="0"/>
          </a:p>
        </p:txBody>
      </p:sp>
      <p:sp>
        <p:nvSpPr>
          <p:cNvPr id="4" name="Text 2"/>
          <p:cNvSpPr txBox="1"/>
          <p:nvPr/>
        </p:nvSpPr>
        <p:spPr>
          <a:xfrm>
            <a:off x="822960" y="3703320"/>
            <a:ext cx="9144000" cy="548640"/>
          </a:xfrm>
          <a:prstGeom prst="rect">
            <a:avLst/>
          </a:prstGeom>
          <a:noFill/>
          <a:ln/>
        </p:spPr>
        <p:txBody>
          <a:bodyPr wrap="square" lIns="635" tIns="635" rIns="635" bIns="635" rtlCol="0" anchor="t"/>
          <a:lstStyle/>
          <a:p>
            <a:pPr indent="0" marL="0">
              <a:lnSpc>
                <a:spcPct val="120000"/>
              </a:lnSpc>
              <a:buNone/>
            </a:pPr>
            <a:r>
              <a:rPr lang="en-US" sz="2000" dirty="0">
                <a:solidFill>
                  <a:srgbClr val="CFE0D3"/>
                </a:solidFill>
                <a:latin typeface="BIZ UDPGothic" pitchFamily="34" charset="0"/>
                <a:ea typeface="BIZ UDPGothic" pitchFamily="34" charset="-122"/>
                <a:cs typeface="BIZ UDPGothic" pitchFamily="34" charset="-120"/>
              </a:rPr>
              <a:t>季節の恵みを活かす、一生モノのスキル</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Before → After</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天給自足実践塾を受けると、どんな変化があるの？</a:t>
            </a:r>
            <a:endParaRPr lang="en-US" sz="3000" dirty="0"/>
          </a:p>
        </p:txBody>
      </p:sp>
      <p:sp>
        <p:nvSpPr>
          <p:cNvPr id="4" name="Shape 2"/>
          <p:cNvSpPr/>
          <p:nvPr/>
        </p:nvSpPr>
        <p:spPr>
          <a:xfrm>
            <a:off x="548640" y="1508760"/>
            <a:ext cx="4846320" cy="4709160"/>
          </a:xfrm>
          <a:prstGeom prst="roundRect">
            <a:avLst>
              <a:gd name="adj" fmla="val 2330"/>
            </a:avLst>
          </a:prstGeom>
          <a:solidFill>
            <a:srgbClr val="F1F1EF"/>
          </a:solidFill>
          <a:ln/>
        </p:spPr>
      </p:sp>
      <p:sp>
        <p:nvSpPr>
          <p:cNvPr id="5" name="Text 3"/>
          <p:cNvSpPr txBox="1"/>
          <p:nvPr/>
        </p:nvSpPr>
        <p:spPr>
          <a:xfrm>
            <a:off x="777240" y="1600200"/>
            <a:ext cx="2743200" cy="457200"/>
          </a:xfrm>
          <a:prstGeom prst="rect">
            <a:avLst/>
          </a:prstGeom>
          <a:noFill/>
          <a:ln/>
        </p:spPr>
        <p:txBody>
          <a:bodyPr wrap="square" lIns="635" tIns="635" rIns="635" bIns="635" rtlCol="0" anchor="t"/>
          <a:lstStyle/>
          <a:p>
            <a:pPr indent="0" marL="0">
              <a:lnSpc>
                <a:spcPct val="120000"/>
              </a:lnSpc>
              <a:buNone/>
            </a:pPr>
            <a:r>
              <a:rPr lang="en-US" sz="2200" b="1" dirty="0">
                <a:solidFill>
                  <a:srgbClr val="8A8A8A"/>
                </a:solidFill>
                <a:latin typeface="BIZ UDPGothic" pitchFamily="34" charset="0"/>
                <a:ea typeface="BIZ UDPGothic" pitchFamily="34" charset="-122"/>
                <a:cs typeface="BIZ UDPGothic" pitchFamily="34" charset="-120"/>
              </a:rPr>
              <a:t>Before</a:t>
            </a:r>
            <a:endParaRPr lang="en-US" sz="2200" dirty="0"/>
          </a:p>
        </p:txBody>
      </p:sp>
      <p:sp>
        <p:nvSpPr>
          <p:cNvPr id="6" name="Text 4"/>
          <p:cNvSpPr txBox="1"/>
          <p:nvPr/>
        </p:nvSpPr>
        <p:spPr>
          <a:xfrm>
            <a:off x="777240" y="2103120"/>
            <a:ext cx="4480560" cy="4023360"/>
          </a:xfrm>
          <a:prstGeom prst="rect">
            <a:avLst/>
          </a:prstGeom>
          <a:noFill/>
          <a:ln/>
        </p:spPr>
        <p:txBody>
          <a:bodyPr wrap="square" lIns="635" tIns="635" rIns="635" bIns="635" rtlCol="0" anchor="t"/>
          <a:lstStyle/>
          <a:p>
            <a:pPr indent="0" marL="0">
              <a:lnSpc>
                <a:spcPct val="110000"/>
              </a:lnSpc>
              <a:buNone/>
            </a:pPr>
            <a:r>
              <a:rPr lang="en-US" sz="1700" b="1" dirty="0">
                <a:solidFill>
                  <a:srgbClr val="666666"/>
                </a:solidFill>
                <a:latin typeface="BIZ UDPGothic" pitchFamily="34" charset="0"/>
                <a:ea typeface="BIZ UDPGothic" pitchFamily="34" charset="-122"/>
                <a:cs typeface="BIZ UDPGothic" pitchFamily="34" charset="-120"/>
              </a:rPr>
              <a:t>醗酵</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醗酵のすばらしさがわからない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味噌などの本物の調味料を作っていない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本物の漬物を作ることができない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多くの醗酵食を理解、実践できていない</a:t>
            </a:r>
            <a:endParaRPr lang="en-US" sz="1600" dirty="0"/>
          </a:p>
          <a:p>
            <a:pPr indent="0" marL="0">
              <a:lnSpc>
                <a:spcPct val="110000"/>
              </a:lnSpc>
              <a:spcBef>
                <a:spcPts val="600"/>
              </a:spcBef>
              <a:buNone/>
            </a:pPr>
            <a:r>
              <a:rPr lang="en-US" sz="1700" b="1" dirty="0">
                <a:solidFill>
                  <a:srgbClr val="666666"/>
                </a:solidFill>
                <a:latin typeface="BIZ UDPGothic" pitchFamily="34" charset="0"/>
                <a:ea typeface="BIZ UDPGothic" pitchFamily="34" charset="-122"/>
                <a:cs typeface="BIZ UDPGothic" pitchFamily="34" charset="-120"/>
              </a:rPr>
              <a:t>天給自足</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自然農の一歩が踏み出せない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野草の活用、見極めに自信がない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陸稲、菊芋の作り方がわからない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きのこ、山菜を楽しめていない</a:t>
            </a:r>
            <a:endParaRPr lang="en-US" sz="1600" dirty="0"/>
          </a:p>
          <a:p>
            <a:pPr marL="177800" indent="-177800">
              <a:lnSpc>
                <a:spcPct val="110000"/>
              </a:lnSpc>
              <a:buSzPct val="100000"/>
              <a:buChar char="•"/>
            </a:pPr>
            <a:r>
              <a:rPr lang="en-US" sz="1600" dirty="0">
                <a:solidFill>
                  <a:srgbClr val="555555"/>
                </a:solidFill>
                <a:latin typeface="BIZ UDPGothic" pitchFamily="34" charset="0"/>
                <a:ea typeface="BIZ UDPGothic" pitchFamily="34" charset="-122"/>
                <a:cs typeface="BIZ UDPGothic" pitchFamily="34" charset="-120"/>
              </a:rPr>
              <a:t>グルテンフリーお菓子、玄米100％・米粉100％パンを楽しく作れない</a:t>
            </a:r>
            <a:endParaRPr lang="en-US" sz="1600" dirty="0"/>
          </a:p>
        </p:txBody>
      </p:sp>
      <p:sp>
        <p:nvSpPr>
          <p:cNvPr id="7" name="Shape 5"/>
          <p:cNvSpPr/>
          <p:nvPr/>
        </p:nvSpPr>
        <p:spPr>
          <a:xfrm>
            <a:off x="6766560" y="1508760"/>
            <a:ext cx="4846320" cy="4709160"/>
          </a:xfrm>
          <a:prstGeom prst="roundRect">
            <a:avLst>
              <a:gd name="adj" fmla="val 2330"/>
            </a:avLst>
          </a:prstGeom>
          <a:solidFill>
            <a:srgbClr val="EEF5EA"/>
          </a:solidFill>
          <a:ln/>
          <a:effectLst>
            <a:outerShdw sx="100000" sy="100000" kx="0" ky="0" algn="bl" rotWithShape="0" blurRad="127000" dist="25400" dir="5400000">
              <a:srgbClr val="000000">
                <a:alpha val="13000"/>
              </a:srgbClr>
            </a:outerShdw>
          </a:effectLst>
        </p:spPr>
      </p:sp>
      <p:sp>
        <p:nvSpPr>
          <p:cNvPr id="8" name="Text 6"/>
          <p:cNvSpPr txBox="1"/>
          <p:nvPr/>
        </p:nvSpPr>
        <p:spPr>
          <a:xfrm>
            <a:off x="6995160" y="1600200"/>
            <a:ext cx="2743200" cy="457200"/>
          </a:xfrm>
          <a:prstGeom prst="rect">
            <a:avLst/>
          </a:prstGeom>
          <a:noFill/>
          <a:ln/>
        </p:spPr>
        <p:txBody>
          <a:bodyPr wrap="square" lIns="635" tIns="635" rIns="635" bIns="635" rtlCol="0" anchor="t"/>
          <a:lstStyle/>
          <a:p>
            <a:pPr indent="0" marL="0">
              <a:lnSpc>
                <a:spcPct val="120000"/>
              </a:lnSpc>
              <a:buNone/>
            </a:pPr>
            <a:r>
              <a:rPr lang="en-US" sz="2200" b="1" dirty="0">
                <a:solidFill>
                  <a:srgbClr val="1E4D3A"/>
                </a:solidFill>
                <a:latin typeface="BIZ UDPGothic" pitchFamily="34" charset="0"/>
                <a:ea typeface="BIZ UDPGothic" pitchFamily="34" charset="-122"/>
                <a:cs typeface="BIZ UDPGothic" pitchFamily="34" charset="-120"/>
              </a:rPr>
              <a:t>After</a:t>
            </a:r>
            <a:endParaRPr lang="en-US" sz="2200" dirty="0"/>
          </a:p>
        </p:txBody>
      </p:sp>
      <p:sp>
        <p:nvSpPr>
          <p:cNvPr id="9" name="Text 7"/>
          <p:cNvSpPr txBox="1"/>
          <p:nvPr/>
        </p:nvSpPr>
        <p:spPr>
          <a:xfrm>
            <a:off x="6995160" y="2103120"/>
            <a:ext cx="4480560" cy="4023360"/>
          </a:xfrm>
          <a:prstGeom prst="rect">
            <a:avLst/>
          </a:prstGeom>
          <a:noFill/>
          <a:ln/>
        </p:spPr>
        <p:txBody>
          <a:bodyPr wrap="square" lIns="635" tIns="635" rIns="635" bIns="635" rtlCol="0" anchor="t"/>
          <a:lstStyle/>
          <a:p>
            <a:pPr indent="0" marL="0">
              <a:lnSpc>
                <a:spcPct val="110000"/>
              </a:lnSpc>
              <a:buNone/>
            </a:pPr>
            <a:r>
              <a:rPr lang="en-US" sz="1700" b="1" dirty="0">
                <a:solidFill>
                  <a:srgbClr val="5E9E5A"/>
                </a:solidFill>
                <a:latin typeface="BIZ UDPGothic" pitchFamily="34" charset="0"/>
                <a:ea typeface="BIZ UDPGothic" pitchFamily="34" charset="-122"/>
                <a:cs typeface="BIZ UDPGothic" pitchFamily="34" charset="-120"/>
              </a:rPr>
              <a:t>醗酵</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醗酵食で腸から健康になる</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醗酵実践塾であらゆる発酵の理論と実践を学ぶ</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食の安心安全、食の保存・備蓄を学び伝承する</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発酵調味料での調理を楽しむ</a:t>
            </a:r>
            <a:endParaRPr lang="en-US" sz="1600" dirty="0"/>
          </a:p>
          <a:p>
            <a:pPr indent="0" marL="0">
              <a:lnSpc>
                <a:spcPct val="110000"/>
              </a:lnSpc>
              <a:spcBef>
                <a:spcPts val="600"/>
              </a:spcBef>
              <a:buNone/>
            </a:pPr>
            <a:r>
              <a:rPr lang="en-US" sz="1700" b="1" dirty="0">
                <a:solidFill>
                  <a:srgbClr val="5E9E5A"/>
                </a:solidFill>
                <a:latin typeface="BIZ UDPGothic" pitchFamily="34" charset="0"/>
                <a:ea typeface="BIZ UDPGothic" pitchFamily="34" charset="-122"/>
                <a:cs typeface="BIZ UDPGothic" pitchFamily="34" charset="-120"/>
              </a:rPr>
              <a:t>天給自足</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陸稲、野菜作りをスタート</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季節の恵み（きのこ、山菜、野草）を学び、自然に対する畏敬の念を伝承する</a:t>
            </a:r>
            <a:endParaRPr lang="en-US" sz="1600" dirty="0"/>
          </a:p>
          <a:p>
            <a:pPr marL="177800" indent="-177800">
              <a:lnSpc>
                <a:spcPct val="110000"/>
              </a:lnSpc>
              <a:buSzPct val="100000"/>
              <a:buChar char="•"/>
            </a:pPr>
            <a:r>
              <a:rPr lang="en-US" sz="1600" dirty="0">
                <a:solidFill>
                  <a:srgbClr val="2B2B2B"/>
                </a:solidFill>
                <a:latin typeface="BIZ UDPGothic" pitchFamily="34" charset="0"/>
                <a:ea typeface="BIZ UDPGothic" pitchFamily="34" charset="-122"/>
                <a:cs typeface="BIZ UDPGothic" pitchFamily="34" charset="-120"/>
              </a:rPr>
              <a:t>玄米パンやお米のお菓子を作り、加工する楽しさを伝える</a:t>
            </a:r>
            <a:endParaRPr lang="en-US" sz="1600" dirty="0"/>
          </a:p>
        </p:txBody>
      </p:sp>
      <p:sp>
        <p:nvSpPr>
          <p:cNvPr id="10" name="Shape 8"/>
          <p:cNvSpPr/>
          <p:nvPr/>
        </p:nvSpPr>
        <p:spPr>
          <a:xfrm>
            <a:off x="5257800" y="3063240"/>
            <a:ext cx="1645920" cy="1645920"/>
          </a:xfrm>
          <a:prstGeom prst="ellipse">
            <a:avLst/>
          </a:prstGeom>
          <a:solidFill>
            <a:srgbClr val="E8A33D"/>
          </a:solidFill>
          <a:ln/>
          <a:effectLst>
            <a:outerShdw sx="100000" sy="100000" kx="0" ky="0" algn="bl" rotWithShape="0" blurRad="127000" dist="25400" dir="5400000">
              <a:srgbClr val="000000">
                <a:alpha val="13000"/>
              </a:srgbClr>
            </a:outerShdw>
          </a:effectLst>
        </p:spPr>
      </p:sp>
      <p:sp>
        <p:nvSpPr>
          <p:cNvPr id="11" name="Text 9"/>
          <p:cNvSpPr txBox="1"/>
          <p:nvPr/>
        </p:nvSpPr>
        <p:spPr>
          <a:xfrm>
            <a:off x="5257800" y="3063240"/>
            <a:ext cx="1645920" cy="1645920"/>
          </a:xfrm>
          <a:prstGeom prst="rect">
            <a:avLst/>
          </a:prstGeom>
          <a:noFill/>
          <a:ln/>
        </p:spPr>
        <p:txBody>
          <a:bodyPr wrap="square" lIns="635" tIns="635" rIns="635" bIns="635" rtlCol="0" anchor="ctr"/>
          <a:lstStyle/>
          <a:p>
            <a:pPr algn="ctr" indent="0" marL="0">
              <a:lnSpc>
                <a:spcPct val="120000"/>
              </a:lnSpc>
              <a:buNone/>
            </a:pPr>
            <a:r>
              <a:rPr lang="en-US" sz="1500" b="1" dirty="0">
                <a:solidFill>
                  <a:srgbClr val="FFFFFF"/>
                </a:solidFill>
                <a:latin typeface="BIZ UDPGothic" pitchFamily="34" charset="0"/>
                <a:ea typeface="BIZ UDPGothic" pitchFamily="34" charset="-122"/>
                <a:cs typeface="BIZ UDPGothic" pitchFamily="34" charset="-120"/>
              </a:rPr>
              <a:t>一生モノの</a:t>
            </a:r>
            <a:endParaRPr lang="en-US" sz="1500" dirty="0"/>
          </a:p>
          <a:p>
            <a:pPr algn="ctr" indent="0" marL="0">
              <a:lnSpc>
                <a:spcPct val="120000"/>
              </a:lnSpc>
              <a:buNone/>
            </a:pPr>
            <a:r>
              <a:rPr lang="en-US" sz="1500" b="1" dirty="0">
                <a:solidFill>
                  <a:srgbClr val="FFFFFF"/>
                </a:solidFill>
                <a:latin typeface="BIZ UDPGothic" pitchFamily="34" charset="0"/>
                <a:ea typeface="BIZ UDPGothic" pitchFamily="34" charset="-122"/>
                <a:cs typeface="BIZ UDPGothic" pitchFamily="34" charset="-120"/>
              </a:rPr>
              <a:t>スキル</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課題</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天給自足がうまくいかない、2つの要因</a:t>
            </a:r>
            <a:endParaRPr lang="en-US" sz="3000" dirty="0"/>
          </a:p>
        </p:txBody>
      </p:sp>
      <p:sp>
        <p:nvSpPr>
          <p:cNvPr id="4" name="Shape 2"/>
          <p:cNvSpPr/>
          <p:nvPr/>
        </p:nvSpPr>
        <p:spPr>
          <a:xfrm>
            <a:off x="1463040" y="1828800"/>
            <a:ext cx="3657600" cy="3657600"/>
          </a:xfrm>
          <a:prstGeom prst="ellipse">
            <a:avLst/>
          </a:prstGeom>
          <a:solidFill>
            <a:srgbClr val="8A8F86"/>
          </a:solidFill>
          <a:ln/>
          <a:effectLst>
            <a:outerShdw sx="100000" sy="100000" kx="0" ky="0" algn="bl" rotWithShape="0" blurRad="127000" dist="25400" dir="5400000">
              <a:srgbClr val="000000">
                <a:alpha val="13000"/>
              </a:srgbClr>
            </a:outerShdw>
          </a:effectLst>
        </p:spPr>
      </p:sp>
      <p:sp>
        <p:nvSpPr>
          <p:cNvPr id="5" name="Shape 3"/>
          <p:cNvSpPr/>
          <p:nvPr/>
        </p:nvSpPr>
        <p:spPr>
          <a:xfrm>
            <a:off x="2880360" y="2148840"/>
            <a:ext cx="822960" cy="82296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3077870" y="2346350"/>
            <a:ext cx="427939" cy="427939"/>
          </a:xfrm>
          <a:prstGeom prst="rect">
            <a:avLst/>
          </a:prstGeom>
        </p:spPr>
      </p:pic>
      <p:sp>
        <p:nvSpPr>
          <p:cNvPr id="7" name="Text 4"/>
          <p:cNvSpPr txBox="1"/>
          <p:nvPr/>
        </p:nvSpPr>
        <p:spPr>
          <a:xfrm>
            <a:off x="1783080" y="3063240"/>
            <a:ext cx="3017520" cy="182880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経験が少ない</a:t>
            </a:r>
            <a:endParaRPr lang="en-US" sz="2200" dirty="0"/>
          </a:p>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（理論の学び・実践経験が少ない）</a:t>
            </a:r>
            <a:endParaRPr lang="en-US" sz="2200" dirty="0"/>
          </a:p>
        </p:txBody>
      </p:sp>
      <p:sp>
        <p:nvSpPr>
          <p:cNvPr id="8" name="Shape 5"/>
          <p:cNvSpPr/>
          <p:nvPr/>
        </p:nvSpPr>
        <p:spPr>
          <a:xfrm>
            <a:off x="7086600" y="1828800"/>
            <a:ext cx="3657600" cy="3657600"/>
          </a:xfrm>
          <a:prstGeom prst="ellipse">
            <a:avLst/>
          </a:prstGeom>
          <a:solidFill>
            <a:srgbClr val="8A8F86"/>
          </a:solidFill>
          <a:ln/>
          <a:effectLst>
            <a:outerShdw sx="100000" sy="100000" kx="0" ky="0" algn="bl" rotWithShape="0" blurRad="127000" dist="25400" dir="5400000">
              <a:srgbClr val="000000">
                <a:alpha val="13000"/>
              </a:srgbClr>
            </a:outerShdw>
          </a:effectLst>
        </p:spPr>
      </p:sp>
      <p:sp>
        <p:nvSpPr>
          <p:cNvPr id="9" name="Shape 6"/>
          <p:cNvSpPr/>
          <p:nvPr/>
        </p:nvSpPr>
        <p:spPr>
          <a:xfrm>
            <a:off x="8503920" y="2148840"/>
            <a:ext cx="822960" cy="822960"/>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8701430" y="2346350"/>
            <a:ext cx="427939" cy="427939"/>
          </a:xfrm>
          <a:prstGeom prst="rect">
            <a:avLst/>
          </a:prstGeom>
        </p:spPr>
      </p:pic>
      <p:sp>
        <p:nvSpPr>
          <p:cNvPr id="11" name="Text 7"/>
          <p:cNvSpPr txBox="1"/>
          <p:nvPr/>
        </p:nvSpPr>
        <p:spPr>
          <a:xfrm>
            <a:off x="7406640" y="3063240"/>
            <a:ext cx="3017520" cy="182880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楽しんでできる仲間がいない</a:t>
            </a:r>
            <a:endParaRPr lang="en-US" sz="2200" dirty="0"/>
          </a:p>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a:t>
            </a:r>
            <a:endParaRPr lang="en-US" sz="2200" dirty="0"/>
          </a:p>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いつでも聞ける環境がない</a:t>
            </a:r>
            <a:endParaRPr lang="en-US" sz="2200" dirty="0"/>
          </a:p>
        </p:txBody>
      </p:sp>
      <p:sp>
        <p:nvSpPr>
          <p:cNvPr id="12" name="Text 8"/>
          <p:cNvSpPr txBox="1"/>
          <p:nvPr/>
        </p:nvSpPr>
        <p:spPr>
          <a:xfrm>
            <a:off x="5394960" y="3063240"/>
            <a:ext cx="1371600" cy="1188720"/>
          </a:xfrm>
          <a:prstGeom prst="rect">
            <a:avLst/>
          </a:prstGeom>
          <a:noFill/>
          <a:ln/>
        </p:spPr>
        <p:txBody>
          <a:bodyPr wrap="square" lIns="635" tIns="635" rIns="635" bIns="635" rtlCol="0" anchor="ctr"/>
          <a:lstStyle/>
          <a:p>
            <a:pPr algn="ctr" indent="0" marL="0">
              <a:lnSpc>
                <a:spcPct val="120000"/>
              </a:lnSpc>
              <a:buNone/>
            </a:pPr>
            <a:r>
              <a:rPr lang="en-US" sz="6000" b="1" dirty="0">
                <a:solidFill>
                  <a:srgbClr val="C8502F"/>
                </a:solidFill>
                <a:latin typeface="BIZ UDPGothic" pitchFamily="34" charset="0"/>
                <a:ea typeface="BIZ UDPGothic" pitchFamily="34" charset="-122"/>
                <a:cs typeface="BIZ UDPGothic" pitchFamily="34" charset="-120"/>
              </a:rPr>
              <a:t>×</a:t>
            </a:r>
            <a:endParaRPr lang="en-US" sz="6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解決のカギ</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この2つを「同時に」進めることが必要です</a:t>
            </a:r>
            <a:endParaRPr lang="en-US" sz="3000" dirty="0"/>
          </a:p>
        </p:txBody>
      </p:sp>
      <p:sp>
        <p:nvSpPr>
          <p:cNvPr id="4" name="Text 2"/>
          <p:cNvSpPr txBox="1"/>
          <p:nvPr/>
        </p:nvSpPr>
        <p:spPr>
          <a:xfrm>
            <a:off x="548640" y="1325880"/>
            <a:ext cx="7315200" cy="365760"/>
          </a:xfrm>
          <a:prstGeom prst="rect">
            <a:avLst/>
          </a:prstGeom>
          <a:noFill/>
          <a:ln/>
        </p:spPr>
        <p:txBody>
          <a:bodyPr wrap="square" lIns="635" tIns="635" rIns="635" bIns="635" rtlCol="0" anchor="t"/>
          <a:lstStyle/>
          <a:p>
            <a:pPr indent="0" marL="0">
              <a:lnSpc>
                <a:spcPct val="120000"/>
              </a:lnSpc>
              <a:buNone/>
            </a:pPr>
            <a:r>
              <a:rPr lang="en-US" sz="1600" dirty="0">
                <a:solidFill>
                  <a:srgbClr val="666666"/>
                </a:solidFill>
                <a:latin typeface="BIZ UDPGothic" pitchFamily="34" charset="0"/>
                <a:ea typeface="BIZ UDPGothic" pitchFamily="34" charset="-122"/>
                <a:cs typeface="BIZ UDPGothic" pitchFamily="34" charset="-120"/>
              </a:rPr>
              <a:t>天給自足、醗酵食を楽しむためには</a:t>
            </a:r>
            <a:endParaRPr lang="en-US" sz="1600" dirty="0"/>
          </a:p>
        </p:txBody>
      </p:sp>
      <p:sp>
        <p:nvSpPr>
          <p:cNvPr id="5" name="Shape 3"/>
          <p:cNvSpPr/>
          <p:nvPr/>
        </p:nvSpPr>
        <p:spPr>
          <a:xfrm>
            <a:off x="1463040" y="1828800"/>
            <a:ext cx="3657600" cy="3657600"/>
          </a:xfrm>
          <a:prstGeom prst="ellipse">
            <a:avLst/>
          </a:prstGeom>
          <a:solidFill>
            <a:srgbClr val="5E9E5A"/>
          </a:solidFill>
          <a:ln/>
          <a:effectLst>
            <a:outerShdw sx="100000" sy="100000" kx="0" ky="0" algn="bl" rotWithShape="0" blurRad="127000" dist="25400" dir="5400000">
              <a:srgbClr val="000000">
                <a:alpha val="13000"/>
              </a:srgbClr>
            </a:outerShdw>
          </a:effectLst>
        </p:spPr>
      </p:sp>
      <p:sp>
        <p:nvSpPr>
          <p:cNvPr id="6" name="Shape 4"/>
          <p:cNvSpPr/>
          <p:nvPr/>
        </p:nvSpPr>
        <p:spPr>
          <a:xfrm>
            <a:off x="2880360" y="2148840"/>
            <a:ext cx="822960" cy="82296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3077870" y="2346350"/>
            <a:ext cx="427939" cy="427939"/>
          </a:xfrm>
          <a:prstGeom prst="rect">
            <a:avLst/>
          </a:prstGeom>
        </p:spPr>
      </p:pic>
      <p:sp>
        <p:nvSpPr>
          <p:cNvPr id="8" name="Text 5"/>
          <p:cNvSpPr txBox="1"/>
          <p:nvPr/>
        </p:nvSpPr>
        <p:spPr>
          <a:xfrm>
            <a:off x="1783080" y="3063240"/>
            <a:ext cx="3017520" cy="182880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季節ごとにする</a:t>
            </a:r>
            <a:endParaRPr lang="en-US" sz="2200" dirty="0"/>
          </a:p>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作業を知る</a:t>
            </a:r>
            <a:endParaRPr lang="en-US" sz="2200" dirty="0"/>
          </a:p>
        </p:txBody>
      </p:sp>
      <p:sp>
        <p:nvSpPr>
          <p:cNvPr id="9" name="Shape 6"/>
          <p:cNvSpPr/>
          <p:nvPr/>
        </p:nvSpPr>
        <p:spPr>
          <a:xfrm>
            <a:off x="7086600" y="1828800"/>
            <a:ext cx="3657600" cy="3657600"/>
          </a:xfrm>
          <a:prstGeom prst="ellipse">
            <a:avLst/>
          </a:prstGeom>
          <a:solidFill>
            <a:srgbClr val="1E4D3A"/>
          </a:solidFill>
          <a:ln/>
          <a:effectLst>
            <a:outerShdw sx="100000" sy="100000" kx="0" ky="0" algn="bl" rotWithShape="0" blurRad="127000" dist="25400" dir="5400000">
              <a:srgbClr val="000000">
                <a:alpha val="13000"/>
              </a:srgbClr>
            </a:outerShdw>
          </a:effectLst>
        </p:spPr>
      </p:sp>
      <p:sp>
        <p:nvSpPr>
          <p:cNvPr id="10" name="Shape 7"/>
          <p:cNvSpPr/>
          <p:nvPr/>
        </p:nvSpPr>
        <p:spPr>
          <a:xfrm>
            <a:off x="8503920" y="2148840"/>
            <a:ext cx="822960" cy="82296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8701430" y="2346350"/>
            <a:ext cx="427939" cy="427939"/>
          </a:xfrm>
          <a:prstGeom prst="rect">
            <a:avLst/>
          </a:prstGeom>
        </p:spPr>
      </p:pic>
      <p:sp>
        <p:nvSpPr>
          <p:cNvPr id="12" name="Text 8"/>
          <p:cNvSpPr txBox="1"/>
          <p:nvPr/>
        </p:nvSpPr>
        <p:spPr>
          <a:xfrm>
            <a:off x="7406640" y="3063240"/>
            <a:ext cx="3017520" cy="182880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活用し、生活に</a:t>
            </a:r>
            <a:endParaRPr lang="en-US" sz="2200" dirty="0"/>
          </a:p>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落とし込み実践する</a:t>
            </a:r>
            <a:endParaRPr lang="en-US" sz="2200" dirty="0"/>
          </a:p>
        </p:txBody>
      </p:sp>
      <p:sp>
        <p:nvSpPr>
          <p:cNvPr id="13" name="Text 9"/>
          <p:cNvSpPr txBox="1"/>
          <p:nvPr/>
        </p:nvSpPr>
        <p:spPr>
          <a:xfrm>
            <a:off x="5394960" y="3063240"/>
            <a:ext cx="1371600" cy="1188720"/>
          </a:xfrm>
          <a:prstGeom prst="rect">
            <a:avLst/>
          </a:prstGeom>
          <a:noFill/>
          <a:ln/>
        </p:spPr>
        <p:txBody>
          <a:bodyPr wrap="square" lIns="635" tIns="635" rIns="635" bIns="635" rtlCol="0" anchor="ctr"/>
          <a:lstStyle/>
          <a:p>
            <a:pPr algn="ctr" indent="0" marL="0">
              <a:lnSpc>
                <a:spcPct val="120000"/>
              </a:lnSpc>
              <a:buNone/>
            </a:pPr>
            <a:r>
              <a:rPr lang="en-US" sz="6000" b="1" dirty="0">
                <a:solidFill>
                  <a:srgbClr val="E8A33D"/>
                </a:solidFill>
                <a:latin typeface="BIZ UDPGothic" pitchFamily="34" charset="0"/>
                <a:ea typeface="BIZ UDPGothic" pitchFamily="34" charset="-122"/>
                <a:cs typeface="BIZ UDPGothic" pitchFamily="34" charset="-120"/>
              </a:rPr>
              <a:t>＋</a:t>
            </a:r>
            <a:endParaRPr lang="en-US" sz="6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E8A33D"/>
                </a:solidFill>
                <a:latin typeface="BIZ UDPGothic" pitchFamily="34" charset="0"/>
                <a:ea typeface="BIZ UDPGothic" pitchFamily="34" charset="-122"/>
                <a:cs typeface="BIZ UDPGothic" pitchFamily="34" charset="-120"/>
              </a:rPr>
              <a:t>ところが、他のサービスでは・・・</a:t>
            </a:r>
            <a:endParaRPr lang="en-US" sz="1300" dirty="0"/>
          </a:p>
        </p:txBody>
      </p:sp>
      <p:sp>
        <p:nvSpPr>
          <p:cNvPr id="3" name="Text 1"/>
          <p:cNvSpPr txBox="1"/>
          <p:nvPr/>
        </p:nvSpPr>
        <p:spPr>
          <a:xfrm>
            <a:off x="548640" y="914400"/>
            <a:ext cx="6583680" cy="2468880"/>
          </a:xfrm>
          <a:prstGeom prst="rect">
            <a:avLst/>
          </a:prstGeom>
          <a:noFill/>
          <a:ln/>
        </p:spPr>
        <p:txBody>
          <a:bodyPr wrap="square" lIns="635" tIns="635" rIns="635" bIns="635" rtlCol="0" anchor="t"/>
          <a:lstStyle/>
          <a:p>
            <a:pPr indent="0" marL="0">
              <a:lnSpc>
                <a:spcPct val="120000"/>
              </a:lnSpc>
              <a:buNone/>
            </a:pPr>
            <a:r>
              <a:rPr lang="en-US" sz="3200" dirty="0">
                <a:solidFill>
                  <a:srgbClr val="FFFFFF"/>
                </a:solidFill>
                <a:latin typeface="BIZ UDPMincho" pitchFamily="34" charset="0"/>
                <a:ea typeface="BIZ UDPMincho" pitchFamily="34" charset="-122"/>
                <a:cs typeface="BIZ UDPMincho" pitchFamily="34" charset="-120"/>
              </a:rPr>
              <a:t>両方を同時に、年間を通して</a:t>
            </a:r>
            <a:endParaRPr lang="en-US" sz="3200" dirty="0"/>
          </a:p>
          <a:p>
            <a:pPr indent="0" marL="0">
              <a:lnSpc>
                <a:spcPct val="120000"/>
              </a:lnSpc>
              <a:buNone/>
            </a:pPr>
            <a:r>
              <a:rPr lang="en-US" sz="3200" dirty="0">
                <a:solidFill>
                  <a:srgbClr val="FFFFFF"/>
                </a:solidFill>
                <a:latin typeface="BIZ UDPMincho" pitchFamily="34" charset="0"/>
                <a:ea typeface="BIZ UDPMincho" pitchFamily="34" charset="-122"/>
                <a:cs typeface="BIZ UDPMincho" pitchFamily="34" charset="-120"/>
              </a:rPr>
              <a:t>学び・楽しみながら問題解決し</a:t>
            </a:r>
            <a:endParaRPr lang="en-US" sz="3200" dirty="0"/>
          </a:p>
          <a:p>
            <a:pPr indent="0" marL="0">
              <a:lnSpc>
                <a:spcPct val="120000"/>
              </a:lnSpc>
              <a:buNone/>
            </a:pPr>
            <a:r>
              <a:rPr lang="en-US" sz="3200" dirty="0">
                <a:solidFill>
                  <a:srgbClr val="FFFFFF"/>
                </a:solidFill>
                <a:latin typeface="BIZ UDPMincho" pitchFamily="34" charset="0"/>
                <a:ea typeface="BIZ UDPMincho" pitchFamily="34" charset="-122"/>
                <a:cs typeface="BIZ UDPMincho" pitchFamily="34" charset="-120"/>
              </a:rPr>
              <a:t>成長できる場所がない。</a:t>
            </a:r>
            <a:endParaRPr lang="en-US" sz="3200" dirty="0"/>
          </a:p>
        </p:txBody>
      </p:sp>
      <p:sp>
        <p:nvSpPr>
          <p:cNvPr id="4" name="Text 2"/>
          <p:cNvSpPr txBox="1"/>
          <p:nvPr/>
        </p:nvSpPr>
        <p:spPr>
          <a:xfrm>
            <a:off x="548640" y="3566160"/>
            <a:ext cx="6400800" cy="822960"/>
          </a:xfrm>
          <a:prstGeom prst="rect">
            <a:avLst/>
          </a:prstGeom>
          <a:noFill/>
          <a:ln/>
        </p:spPr>
        <p:txBody>
          <a:bodyPr wrap="square" lIns="635" tIns="635" rIns="635" bIns="635" rtlCol="0" anchor="t"/>
          <a:lstStyle/>
          <a:p>
            <a:pPr indent="0" marL="0">
              <a:lnSpc>
                <a:spcPct val="120000"/>
              </a:lnSpc>
              <a:buNone/>
            </a:pPr>
            <a:r>
              <a:rPr lang="en-US" sz="4000" b="1" dirty="0">
                <a:solidFill>
                  <a:srgbClr val="E8A33D"/>
                </a:solidFill>
                <a:latin typeface="BIZ UDPGothic" pitchFamily="34" charset="0"/>
                <a:ea typeface="BIZ UDPGothic" pitchFamily="34" charset="-122"/>
                <a:cs typeface="BIZ UDPGothic" pitchFamily="34" charset="-120"/>
              </a:rPr>
              <a:t>だから、作ります！</a:t>
            </a:r>
            <a:endParaRPr lang="en-US" sz="4000" dirty="0"/>
          </a:p>
        </p:txBody>
      </p:sp>
      <p:sp>
        <p:nvSpPr>
          <p:cNvPr id="5" name="Shape 3"/>
          <p:cNvSpPr/>
          <p:nvPr/>
        </p:nvSpPr>
        <p:spPr>
          <a:xfrm>
            <a:off x="7680960" y="1005840"/>
            <a:ext cx="3931920" cy="4480560"/>
          </a:xfrm>
          <a:prstGeom prst="roundRect">
            <a:avLst>
              <a:gd name="adj" fmla="val 2791"/>
            </a:avLst>
          </a:prstGeom>
          <a:solidFill>
            <a:srgbClr val="FFFFFF">
              <a:alpha val="12000"/>
            </a:srgbClr>
          </a:solidFill>
          <a:ln w="12700">
            <a:solidFill>
              <a:srgbClr val="6F8F7C"/>
            </a:solidFill>
            <a:prstDash val="solid"/>
          </a:ln>
        </p:spPr>
      </p:sp>
      <p:sp>
        <p:nvSpPr>
          <p:cNvPr id="6" name="Text 4"/>
          <p:cNvSpPr txBox="1"/>
          <p:nvPr/>
        </p:nvSpPr>
        <p:spPr>
          <a:xfrm>
            <a:off x="7863840" y="1280160"/>
            <a:ext cx="3566160" cy="411480"/>
          </a:xfrm>
          <a:prstGeom prst="rect">
            <a:avLst/>
          </a:prstGeom>
          <a:noFill/>
          <a:ln/>
        </p:spPr>
        <p:txBody>
          <a:bodyPr wrap="square" lIns="635" tIns="635" rIns="635" bIns="635" rtlCol="0" anchor="t"/>
          <a:lstStyle/>
          <a:p>
            <a:pPr algn="ctr" indent="0" marL="0">
              <a:lnSpc>
                <a:spcPct val="120000"/>
              </a:lnSpc>
              <a:buNone/>
            </a:pPr>
            <a:r>
              <a:rPr lang="en-US" sz="1800" dirty="0">
                <a:solidFill>
                  <a:srgbClr val="DDE8DF"/>
                </a:solidFill>
                <a:latin typeface="BIZ UDPGothic" pitchFamily="34" charset="0"/>
                <a:ea typeface="BIZ UDPGothic" pitchFamily="34" charset="-122"/>
                <a:cs typeface="BIZ UDPGothic" pitchFamily="34" charset="-120"/>
              </a:rPr>
              <a:t>人間は学んだ次の日</a:t>
            </a:r>
            <a:endParaRPr lang="en-US" sz="1800" dirty="0"/>
          </a:p>
        </p:txBody>
      </p:sp>
      <p:sp>
        <p:nvSpPr>
          <p:cNvPr id="7" name="Text 5"/>
          <p:cNvSpPr txBox="1"/>
          <p:nvPr/>
        </p:nvSpPr>
        <p:spPr>
          <a:xfrm>
            <a:off x="7863840" y="1737360"/>
            <a:ext cx="3566160" cy="1463040"/>
          </a:xfrm>
          <a:prstGeom prst="rect">
            <a:avLst/>
          </a:prstGeom>
          <a:noFill/>
          <a:ln/>
        </p:spPr>
        <p:txBody>
          <a:bodyPr wrap="square" lIns="635" tIns="635" rIns="635" bIns="635" rtlCol="0" anchor="ctr"/>
          <a:lstStyle/>
          <a:p>
            <a:pPr algn="ctr" indent="0" marL="0">
              <a:lnSpc>
                <a:spcPct val="120000"/>
              </a:lnSpc>
              <a:buNone/>
            </a:pPr>
            <a:r>
              <a:rPr lang="en-US" sz="9600" b="1" dirty="0">
                <a:solidFill>
                  <a:srgbClr val="E8A33D"/>
                </a:solidFill>
                <a:latin typeface="BIZ UDPGothic" pitchFamily="34" charset="0"/>
                <a:ea typeface="BIZ UDPGothic" pitchFamily="34" charset="-122"/>
                <a:cs typeface="BIZ UDPGothic" pitchFamily="34" charset="-120"/>
              </a:rPr>
              <a:t>74</a:t>
            </a:r>
            <a:pPr algn="ctr" indent="0" marL="0">
              <a:lnSpc>
                <a:spcPct val="120000"/>
              </a:lnSpc>
              <a:buNone/>
            </a:pPr>
            <a:r>
              <a:rPr lang="en-US" sz="4000" b="1" dirty="0">
                <a:solidFill>
                  <a:srgbClr val="E8A33D"/>
                </a:solidFill>
                <a:latin typeface="BIZ UDPGothic" pitchFamily="34" charset="0"/>
                <a:ea typeface="BIZ UDPGothic" pitchFamily="34" charset="-122"/>
                <a:cs typeface="BIZ UDPGothic" pitchFamily="34" charset="-120"/>
              </a:rPr>
              <a:t>%</a:t>
            </a:r>
            <a:endParaRPr lang="en-US" sz="1600" dirty="0"/>
          </a:p>
        </p:txBody>
      </p:sp>
      <p:sp>
        <p:nvSpPr>
          <p:cNvPr id="8" name="Text 6"/>
          <p:cNvSpPr txBox="1"/>
          <p:nvPr/>
        </p:nvSpPr>
        <p:spPr>
          <a:xfrm>
            <a:off x="7863840" y="3200400"/>
            <a:ext cx="3566160" cy="411480"/>
          </a:xfrm>
          <a:prstGeom prst="rect">
            <a:avLst/>
          </a:prstGeom>
          <a:noFill/>
          <a:ln/>
        </p:spPr>
        <p:txBody>
          <a:bodyPr wrap="square" lIns="635" tIns="635" rIns="635" bIns="635" rtlCol="0" anchor="t"/>
          <a:lstStyle/>
          <a:p>
            <a:pPr algn="ctr" indent="0" marL="0">
              <a:lnSpc>
                <a:spcPct val="120000"/>
              </a:lnSpc>
              <a:buNone/>
            </a:pPr>
            <a:r>
              <a:rPr lang="en-US" sz="1800" dirty="0">
                <a:solidFill>
                  <a:srgbClr val="DDE8DF"/>
                </a:solidFill>
                <a:latin typeface="BIZ UDPGothic" pitchFamily="34" charset="0"/>
                <a:ea typeface="BIZ UDPGothic" pitchFamily="34" charset="-122"/>
                <a:cs typeface="BIZ UDPGothic" pitchFamily="34" charset="-120"/>
              </a:rPr>
              <a:t>を忘れてしまう</a:t>
            </a:r>
            <a:endParaRPr lang="en-US" sz="1800" dirty="0"/>
          </a:p>
        </p:txBody>
      </p:sp>
      <p:sp>
        <p:nvSpPr>
          <p:cNvPr id="9" name="Text 7"/>
          <p:cNvSpPr txBox="1"/>
          <p:nvPr/>
        </p:nvSpPr>
        <p:spPr>
          <a:xfrm>
            <a:off x="8001000" y="3840480"/>
            <a:ext cx="3291840" cy="1371600"/>
          </a:xfrm>
          <a:prstGeom prst="rect">
            <a:avLst/>
          </a:prstGeom>
          <a:noFill/>
          <a:ln/>
        </p:spPr>
        <p:txBody>
          <a:bodyPr wrap="square" lIns="635" tIns="635" rIns="635" bIns="635" rtlCol="0" anchor="t"/>
          <a:lstStyle/>
          <a:p>
            <a:pPr algn="ctr" indent="0" marL="0">
              <a:lnSpc>
                <a:spcPct val="120000"/>
              </a:lnSpc>
              <a:buNone/>
            </a:pPr>
            <a:r>
              <a:rPr lang="en-US" sz="1600" dirty="0">
                <a:solidFill>
                  <a:srgbClr val="FFFFFF"/>
                </a:solidFill>
                <a:latin typeface="BIZ UDPGothic" pitchFamily="34" charset="0"/>
                <a:ea typeface="BIZ UDPGothic" pitchFamily="34" charset="-122"/>
                <a:cs typeface="BIZ UDPGothic" pitchFamily="34" charset="-120"/>
              </a:rPr>
              <a:t>だから、いつでも聞ける環境と仲間が必要。1人では限界があります。</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だから天給自足実践塾は・・・</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3つの強みを掛け合わせ、輝く人生へ</a:t>
            </a:r>
            <a:endParaRPr lang="en-US" sz="3000" dirty="0"/>
          </a:p>
        </p:txBody>
      </p:sp>
      <p:sp>
        <p:nvSpPr>
          <p:cNvPr id="4" name="Shape 2"/>
          <p:cNvSpPr/>
          <p:nvPr/>
        </p:nvSpPr>
        <p:spPr>
          <a:xfrm>
            <a:off x="640080" y="1600200"/>
            <a:ext cx="2514600" cy="2514600"/>
          </a:xfrm>
          <a:prstGeom prst="ellipse">
            <a:avLst/>
          </a:prstGeom>
          <a:solidFill>
            <a:srgbClr val="5E9E5A">
              <a:alpha val="88000"/>
            </a:srgbClr>
          </a:solidFill>
          <a:ln/>
        </p:spPr>
      </p:sp>
      <p:sp>
        <p:nvSpPr>
          <p:cNvPr id="5" name="Text 3"/>
          <p:cNvSpPr txBox="1"/>
          <p:nvPr/>
        </p:nvSpPr>
        <p:spPr>
          <a:xfrm>
            <a:off x="960120" y="2011680"/>
            <a:ext cx="1874520" cy="1691640"/>
          </a:xfrm>
          <a:prstGeom prst="rect">
            <a:avLst/>
          </a:prstGeom>
          <a:noFill/>
          <a:ln/>
        </p:spPr>
        <p:txBody>
          <a:bodyPr wrap="square" lIns="635" tIns="635" rIns="635" bIns="635"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50年間で学んだ食（調理・菓子・パン）の技術</a:t>
            </a:r>
            <a:endParaRPr lang="en-US" sz="1400" dirty="0"/>
          </a:p>
        </p:txBody>
      </p:sp>
      <p:sp>
        <p:nvSpPr>
          <p:cNvPr id="6" name="Shape 4"/>
          <p:cNvSpPr/>
          <p:nvPr/>
        </p:nvSpPr>
        <p:spPr>
          <a:xfrm>
            <a:off x="2926080" y="1600200"/>
            <a:ext cx="2514600" cy="2514600"/>
          </a:xfrm>
          <a:prstGeom prst="ellipse">
            <a:avLst/>
          </a:prstGeom>
          <a:solidFill>
            <a:srgbClr val="3E7C9B">
              <a:alpha val="88000"/>
            </a:srgbClr>
          </a:solidFill>
          <a:ln/>
        </p:spPr>
      </p:sp>
      <p:sp>
        <p:nvSpPr>
          <p:cNvPr id="7" name="Text 5"/>
          <p:cNvSpPr txBox="1"/>
          <p:nvPr/>
        </p:nvSpPr>
        <p:spPr>
          <a:xfrm>
            <a:off x="3246120" y="2011680"/>
            <a:ext cx="1874520" cy="1691640"/>
          </a:xfrm>
          <a:prstGeom prst="rect">
            <a:avLst/>
          </a:prstGeom>
          <a:noFill/>
          <a:ln/>
        </p:spPr>
        <p:txBody>
          <a:bodyPr wrap="square" lIns="635" tIns="635" rIns="635" bIns="635"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自然農で陸稲・菊芋等を育て達成してきた、頑張らない天給自足の経験</a:t>
            </a:r>
            <a:endParaRPr lang="en-US" sz="1400" dirty="0"/>
          </a:p>
        </p:txBody>
      </p:sp>
      <p:sp>
        <p:nvSpPr>
          <p:cNvPr id="8" name="Shape 6"/>
          <p:cNvSpPr/>
          <p:nvPr/>
        </p:nvSpPr>
        <p:spPr>
          <a:xfrm>
            <a:off x="1783080" y="3657600"/>
            <a:ext cx="2514600" cy="2514600"/>
          </a:xfrm>
          <a:prstGeom prst="ellipse">
            <a:avLst/>
          </a:prstGeom>
          <a:solidFill>
            <a:srgbClr val="E8A33D">
              <a:alpha val="88000"/>
            </a:srgbClr>
          </a:solidFill>
          <a:ln/>
        </p:spPr>
      </p:sp>
      <p:sp>
        <p:nvSpPr>
          <p:cNvPr id="9" name="Text 7"/>
          <p:cNvSpPr txBox="1"/>
          <p:nvPr/>
        </p:nvSpPr>
        <p:spPr>
          <a:xfrm>
            <a:off x="2103120" y="4069080"/>
            <a:ext cx="1874520" cy="1691640"/>
          </a:xfrm>
          <a:prstGeom prst="rect">
            <a:avLst/>
          </a:prstGeom>
          <a:noFill/>
          <a:ln/>
        </p:spPr>
        <p:txBody>
          <a:bodyPr wrap="square" lIns="635" tIns="635" rIns="635" bIns="635"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自分で育てた食材で醗酵食を作り、食の安心安全（備蓄）を伝承してゆく</a:t>
            </a:r>
            <a:endParaRPr lang="en-US" sz="1400" dirty="0"/>
          </a:p>
        </p:txBody>
      </p:sp>
      <p:pic>
        <p:nvPicPr>
          <p:cNvPr id="10" name="Image 0" descr="preencoded.png">    </p:cNvPr>
          <p:cNvPicPr>
            <a:picLocks noChangeAspect="1"/>
          </p:cNvPicPr>
          <p:nvPr/>
        </p:nvPicPr>
        <p:blipFill>
          <a:blip r:embed="rId1"/>
          <a:stretch>
            <a:fillRect/>
          </a:stretch>
        </p:blipFill>
        <p:spPr>
          <a:xfrm>
            <a:off x="5989320" y="3337560"/>
            <a:ext cx="640080" cy="640080"/>
          </a:xfrm>
          <a:prstGeom prst="rect">
            <a:avLst/>
          </a:prstGeom>
        </p:spPr>
      </p:pic>
      <p:sp>
        <p:nvSpPr>
          <p:cNvPr id="11" name="Shape 8"/>
          <p:cNvSpPr/>
          <p:nvPr/>
        </p:nvSpPr>
        <p:spPr>
          <a:xfrm>
            <a:off x="6949440" y="1463040"/>
            <a:ext cx="4663440" cy="4663440"/>
          </a:xfrm>
          <a:prstGeom prst="ellipse">
            <a:avLst/>
          </a:prstGeom>
          <a:solidFill>
            <a:srgbClr val="FBF0DC"/>
          </a:solidFill>
          <a:ln w="25400">
            <a:solidFill>
              <a:srgbClr val="E8A33D"/>
            </a:solidFill>
            <a:prstDash val="solid"/>
          </a:ln>
        </p:spPr>
      </p:sp>
      <p:sp>
        <p:nvSpPr>
          <p:cNvPr id="12" name="Text 9"/>
          <p:cNvSpPr txBox="1"/>
          <p:nvPr/>
        </p:nvSpPr>
        <p:spPr>
          <a:xfrm>
            <a:off x="7406640" y="2103120"/>
            <a:ext cx="3749040" cy="1463040"/>
          </a:xfrm>
          <a:prstGeom prst="rect">
            <a:avLst/>
          </a:prstGeom>
          <a:noFill/>
          <a:ln/>
        </p:spPr>
        <p:txBody>
          <a:bodyPr wrap="square" lIns="635" tIns="635" rIns="635" bIns="635" rtlCol="0" anchor="ctr"/>
          <a:lstStyle/>
          <a:p>
            <a:pPr algn="ctr" indent="0" marL="0">
              <a:lnSpc>
                <a:spcPct val="120000"/>
              </a:lnSpc>
              <a:buNone/>
            </a:pPr>
            <a:r>
              <a:rPr lang="en-US" sz="2100" b="1" dirty="0">
                <a:solidFill>
                  <a:srgbClr val="1E4D3A"/>
                </a:solidFill>
                <a:latin typeface="BIZ UDPGothic" pitchFamily="34" charset="0"/>
                <a:ea typeface="BIZ UDPGothic" pitchFamily="34" charset="-122"/>
                <a:cs typeface="BIZ UDPGothic" pitchFamily="34" charset="-120"/>
              </a:rPr>
              <a:t>天給自足・醗酵で</a:t>
            </a:r>
            <a:endParaRPr lang="en-US" sz="2100" dirty="0"/>
          </a:p>
          <a:p>
            <a:pPr algn="ctr" indent="0" marL="0">
              <a:lnSpc>
                <a:spcPct val="120000"/>
              </a:lnSpc>
              <a:buNone/>
            </a:pPr>
            <a:r>
              <a:rPr lang="en-US" sz="2100" b="1" dirty="0">
                <a:solidFill>
                  <a:srgbClr val="1E4D3A"/>
                </a:solidFill>
                <a:latin typeface="BIZ UDPGothic" pitchFamily="34" charset="0"/>
                <a:ea typeface="BIZ UDPGothic" pitchFamily="34" charset="-122"/>
                <a:cs typeface="BIZ UDPGothic" pitchFamily="34" charset="-120"/>
              </a:rPr>
              <a:t>家族が最後まで健康で</a:t>
            </a:r>
            <a:endParaRPr lang="en-US" sz="2100" dirty="0"/>
          </a:p>
          <a:p>
            <a:pPr algn="ctr" indent="0" marL="0">
              <a:lnSpc>
                <a:spcPct val="120000"/>
              </a:lnSpc>
              <a:buNone/>
            </a:pPr>
            <a:r>
              <a:rPr lang="en-US" sz="2100" b="1" dirty="0">
                <a:solidFill>
                  <a:srgbClr val="1E4D3A"/>
                </a:solidFill>
                <a:latin typeface="BIZ UDPGothic" pitchFamily="34" charset="0"/>
                <a:ea typeface="BIZ UDPGothic" pitchFamily="34" charset="-122"/>
                <a:cs typeface="BIZ UDPGothic" pitchFamily="34" charset="-120"/>
              </a:rPr>
              <a:t>楽しい毎日を実現</a:t>
            </a:r>
            <a:endParaRPr lang="en-US" sz="2100" dirty="0"/>
          </a:p>
        </p:txBody>
      </p:sp>
      <p:sp>
        <p:nvSpPr>
          <p:cNvPr id="13" name="Text 10"/>
          <p:cNvSpPr txBox="1"/>
          <p:nvPr/>
        </p:nvSpPr>
        <p:spPr>
          <a:xfrm>
            <a:off x="7406640" y="3611880"/>
            <a:ext cx="3749040" cy="1463040"/>
          </a:xfrm>
          <a:prstGeom prst="rect">
            <a:avLst/>
          </a:prstGeom>
          <a:noFill/>
          <a:ln/>
        </p:spPr>
        <p:txBody>
          <a:bodyPr wrap="square" lIns="635" tIns="635" rIns="635" bIns="635" rtlCol="0" anchor="t"/>
          <a:lstStyle/>
          <a:p>
            <a:pPr algn="ctr" indent="0" marL="0">
              <a:lnSpc>
                <a:spcPct val="120000"/>
              </a:lnSpc>
              <a:buNone/>
            </a:pPr>
            <a:r>
              <a:rPr lang="en-US" sz="1700" dirty="0">
                <a:solidFill>
                  <a:srgbClr val="7A4A0B"/>
                </a:solidFill>
                <a:latin typeface="BIZ UDPGothic" pitchFamily="34" charset="0"/>
                <a:ea typeface="BIZ UDPGothic" pitchFamily="34" charset="-122"/>
                <a:cs typeface="BIZ UDPGothic" pitchFamily="34" charset="-120"/>
              </a:rPr>
              <a:t>伝承者・講師として社会貢献し、</a:t>
            </a:r>
            <a:endParaRPr lang="en-US" sz="1700" dirty="0"/>
          </a:p>
          <a:p>
            <a:pPr algn="ctr" indent="0" marL="0">
              <a:lnSpc>
                <a:spcPct val="120000"/>
              </a:lnSpc>
              <a:buNone/>
            </a:pPr>
            <a:r>
              <a:rPr lang="en-US" sz="1700" dirty="0">
                <a:solidFill>
                  <a:srgbClr val="7A4A0B"/>
                </a:solidFill>
                <a:latin typeface="BIZ UDPGothic" pitchFamily="34" charset="0"/>
                <a:ea typeface="BIZ UDPGothic" pitchFamily="34" charset="-122"/>
                <a:cs typeface="BIZ UDPGothic" pitchFamily="34" charset="-120"/>
              </a:rPr>
              <a:t>自分らしく自然を楽しみ</a:t>
            </a:r>
            <a:endParaRPr lang="en-US" sz="1700" dirty="0"/>
          </a:p>
          <a:p>
            <a:pPr algn="ctr" indent="0" marL="0">
              <a:lnSpc>
                <a:spcPct val="120000"/>
              </a:lnSpc>
              <a:buNone/>
            </a:pPr>
            <a:r>
              <a:rPr lang="en-US" sz="1700" dirty="0">
                <a:solidFill>
                  <a:srgbClr val="7A4A0B"/>
                </a:solidFill>
                <a:latin typeface="BIZ UDPGothic" pitchFamily="34" charset="0"/>
                <a:ea typeface="BIZ UDPGothic" pitchFamily="34" charset="-122"/>
                <a:cs typeface="BIZ UDPGothic" pitchFamily="34" charset="-120"/>
              </a:rPr>
              <a:t>輝く人生へ</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なぜ講師・伝承者を増やしたいのか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人に教えると、学びは90％浸透する</a:t>
            </a:r>
            <a:endParaRPr lang="en-US" sz="3000" dirty="0"/>
          </a:p>
        </p:txBody>
      </p:sp>
      <p:graphicFrame>
        <p:nvGraphicFramePr>
          <p:cNvPr id="4" name="Chart 0" descr=""/>
          <p:cNvGraphicFramePr/>
          <p:nvPr/>
        </p:nvGraphicFramePr>
        <p:xfrm>
          <a:off x="548640" y="1508760"/>
          <a:ext cx="6035040" cy="4663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508760"/>
            <a:ext cx="4663440" cy="1417320"/>
          </a:xfrm>
          <a:prstGeom prst="roundRect">
            <a:avLst>
              <a:gd name="adj" fmla="val 7742"/>
            </a:avLst>
          </a:prstGeom>
          <a:solidFill>
            <a:srgbClr val="F6F8F4"/>
          </a:solidFill>
          <a:ln/>
        </p:spPr>
      </p:sp>
      <p:sp>
        <p:nvSpPr>
          <p:cNvPr id="6" name="Text 3"/>
          <p:cNvSpPr txBox="1"/>
          <p:nvPr/>
        </p:nvSpPr>
        <p:spPr>
          <a:xfrm>
            <a:off x="7178040" y="1554480"/>
            <a:ext cx="4297680" cy="1325880"/>
          </a:xfrm>
          <a:prstGeom prst="rect">
            <a:avLst/>
          </a:prstGeom>
          <a:noFill/>
          <a:ln/>
        </p:spPr>
        <p:txBody>
          <a:bodyPr wrap="square" lIns="635" tIns="635" rIns="635" bIns="635" rtlCol="0" anchor="ctr"/>
          <a:lstStyle/>
          <a:p>
            <a:pPr indent="0" marL="0">
              <a:lnSpc>
                <a:spcPct val="120000"/>
              </a:lnSpc>
              <a:buNone/>
            </a:pPr>
            <a:r>
              <a:rPr lang="en-US" sz="1500" b="1" dirty="0">
                <a:solidFill>
                  <a:srgbClr val="5E9E5A"/>
                </a:solidFill>
                <a:latin typeface="BIZ UDPGothic" pitchFamily="34" charset="0"/>
                <a:ea typeface="BIZ UDPGothic" pitchFamily="34" charset="-122"/>
                <a:cs typeface="BIZ UDPGothic" pitchFamily="34" charset="-120"/>
              </a:rPr>
              <a:t>うすめの法則</a:t>
            </a:r>
            <a:endParaRPr lang="en-US" sz="1500" dirty="0"/>
          </a:p>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うなずき・スマイル・メモをしている人ほど、学びがよく浸透します。</a:t>
            </a:r>
            <a:endParaRPr lang="en-US" sz="1500" dirty="0"/>
          </a:p>
        </p:txBody>
      </p:sp>
      <p:sp>
        <p:nvSpPr>
          <p:cNvPr id="7" name="Shape 4"/>
          <p:cNvSpPr/>
          <p:nvPr/>
        </p:nvSpPr>
        <p:spPr>
          <a:xfrm>
            <a:off x="6949440" y="3108960"/>
            <a:ext cx="4663440" cy="1783080"/>
          </a:xfrm>
          <a:prstGeom prst="roundRect">
            <a:avLst>
              <a:gd name="adj" fmla="val 6154"/>
            </a:avLst>
          </a:prstGeom>
          <a:solidFill>
            <a:srgbClr val="F6F8F4"/>
          </a:solidFill>
          <a:ln/>
        </p:spPr>
      </p:sp>
      <p:sp>
        <p:nvSpPr>
          <p:cNvPr id="8" name="Text 5"/>
          <p:cNvSpPr txBox="1"/>
          <p:nvPr/>
        </p:nvSpPr>
        <p:spPr>
          <a:xfrm>
            <a:off x="7178040" y="3154680"/>
            <a:ext cx="4297680" cy="16916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昨年から受講者に「次の日に講師・伝承者として教える」心構えで参加をお願いしたところ、受講後の翌週に早速講座を開催する方が出てきました。</a:t>
            </a:r>
            <a:endParaRPr lang="en-US" sz="1500" dirty="0"/>
          </a:p>
        </p:txBody>
      </p:sp>
      <p:sp>
        <p:nvSpPr>
          <p:cNvPr id="9" name="Shape 6"/>
          <p:cNvSpPr/>
          <p:nvPr/>
        </p:nvSpPr>
        <p:spPr>
          <a:xfrm>
            <a:off x="6949440" y="5074920"/>
            <a:ext cx="4663440" cy="1097280"/>
          </a:xfrm>
          <a:prstGeom prst="roundRect">
            <a:avLst>
              <a:gd name="adj" fmla="val 10000"/>
            </a:avLst>
          </a:prstGeom>
          <a:solidFill>
            <a:srgbClr val="1E4D3A"/>
          </a:solidFill>
          <a:ln/>
        </p:spPr>
      </p:sp>
      <p:sp>
        <p:nvSpPr>
          <p:cNvPr id="10" name="Text 7"/>
          <p:cNvSpPr txBox="1"/>
          <p:nvPr/>
        </p:nvSpPr>
        <p:spPr>
          <a:xfrm>
            <a:off x="7178040" y="5074920"/>
            <a:ext cx="4297680" cy="1097280"/>
          </a:xfrm>
          <a:prstGeom prst="rect">
            <a:avLst/>
          </a:prstGeom>
          <a:noFill/>
          <a:ln/>
        </p:spPr>
        <p:txBody>
          <a:bodyPr wrap="square" lIns="635" tIns="635" rIns="635" bIns="635" rtlCol="0" anchor="ctr"/>
          <a:lstStyle/>
          <a:p>
            <a:pPr indent="0" marL="0">
              <a:lnSpc>
                <a:spcPct val="120000"/>
              </a:lnSpc>
              <a:buNone/>
            </a:pPr>
            <a:r>
              <a:rPr lang="en-US" sz="1900" b="1" dirty="0">
                <a:solidFill>
                  <a:srgbClr val="FFFFFF"/>
                </a:solidFill>
                <a:latin typeface="BIZ UDPGothic" pitchFamily="34" charset="0"/>
                <a:ea typeface="BIZ UDPGothic" pitchFamily="34" charset="-122"/>
                <a:cs typeface="BIZ UDPGothic" pitchFamily="34" charset="-120"/>
              </a:rPr>
              <a:t>伝える心構えが、学びを深める</a:t>
            </a:r>
            <a:endParaRPr lang="en-US" sz="19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22960" y="1554480"/>
            <a:ext cx="2743200" cy="109728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03</a:t>
            </a:r>
            <a:endParaRPr lang="en-US" sz="7200" dirty="0"/>
          </a:p>
        </p:txBody>
      </p:sp>
      <p:sp>
        <p:nvSpPr>
          <p:cNvPr id="3" name="Text 1"/>
          <p:cNvSpPr txBox="1"/>
          <p:nvPr/>
        </p:nvSpPr>
        <p:spPr>
          <a:xfrm>
            <a:off x="822960" y="2697480"/>
            <a:ext cx="10058400" cy="914400"/>
          </a:xfrm>
          <a:prstGeom prst="rect">
            <a:avLst/>
          </a:prstGeom>
          <a:noFill/>
          <a:ln/>
        </p:spPr>
        <p:txBody>
          <a:bodyPr wrap="square" lIns="635" tIns="635" rIns="635" bIns="635" rtlCol="0" anchor="t"/>
          <a:lstStyle/>
          <a:p>
            <a:pPr indent="0" marL="0">
              <a:lnSpc>
                <a:spcPct val="120000"/>
              </a:lnSpc>
              <a:buNone/>
            </a:pPr>
            <a:r>
              <a:rPr lang="en-US" sz="4400" dirty="0">
                <a:solidFill>
                  <a:srgbClr val="FFFFFF"/>
                </a:solidFill>
                <a:latin typeface="BIZ UDPMincho" pitchFamily="34" charset="0"/>
                <a:ea typeface="BIZ UDPMincho" pitchFamily="34" charset="-122"/>
                <a:cs typeface="BIZ UDPMincho" pitchFamily="34" charset="-120"/>
              </a:rPr>
              <a:t>受講された方の声</a:t>
            </a:r>
            <a:endParaRPr lang="en-US" sz="4400" dirty="0"/>
          </a:p>
        </p:txBody>
      </p:sp>
      <p:sp>
        <p:nvSpPr>
          <p:cNvPr id="4" name="Text 2"/>
          <p:cNvSpPr txBox="1"/>
          <p:nvPr/>
        </p:nvSpPr>
        <p:spPr>
          <a:xfrm>
            <a:off x="822960" y="3703320"/>
            <a:ext cx="9144000" cy="548640"/>
          </a:xfrm>
          <a:prstGeom prst="rect">
            <a:avLst/>
          </a:prstGeom>
          <a:noFill/>
          <a:ln/>
        </p:spPr>
        <p:txBody>
          <a:bodyPr wrap="square" lIns="635" tIns="635" rIns="635" bIns="635" rtlCol="0" anchor="t"/>
          <a:lstStyle/>
          <a:p>
            <a:pPr indent="0" marL="0">
              <a:lnSpc>
                <a:spcPct val="120000"/>
              </a:lnSpc>
              <a:buNone/>
            </a:pPr>
            <a:r>
              <a:rPr lang="en-US" sz="2000" dirty="0">
                <a:solidFill>
                  <a:srgbClr val="CFE0D3"/>
                </a:solidFill>
                <a:latin typeface="BIZ UDPGothic" pitchFamily="34" charset="0"/>
                <a:ea typeface="BIZ UDPGothic" pitchFamily="34" charset="-122"/>
                <a:cs typeface="BIZ UDPGothic" pitchFamily="34" charset="-120"/>
              </a:rPr>
              <a:t>全国、そして海外から学びに来られています</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お客様の声</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内科循環器科の医者様ご夫婦でご参加</a:t>
            </a:r>
            <a:endParaRPr lang="en-US" sz="3000" dirty="0"/>
          </a:p>
        </p:txBody>
      </p:sp>
      <p:pic>
        <p:nvPicPr>
          <p:cNvPr id="4" name="Image 0" descr="/root/work/gen/p_s15_d148145a_640x736_FFFFFF.jpg">    </p:cNvPr>
          <p:cNvPicPr>
            <a:picLocks noChangeAspect="1"/>
          </p:cNvPicPr>
          <p:nvPr/>
        </p:nvPicPr>
        <p:blipFill>
          <a:blip r:embed="rId1"/>
          <a:stretch>
            <a:fillRect/>
          </a:stretch>
        </p:blipFill>
        <p:spPr>
          <a:xfrm>
            <a:off x="548640" y="1554480"/>
            <a:ext cx="3657600" cy="4206240"/>
          </a:xfrm>
          <a:prstGeom prst="rect">
            <a:avLst/>
          </a:prstGeom>
          <a:effectLst>
            <a:outerShdw sx="100000" sy="100000" kx="0" ky="0" algn="bl" rotWithShape="0" blurRad="127000" dist="25400" dir="5400000">
              <a:srgbClr val="000000">
                <a:alpha val="13000"/>
              </a:srgbClr>
            </a:outerShdw>
          </a:effectLst>
        </p:spPr>
      </p:pic>
      <p:sp>
        <p:nvSpPr>
          <p:cNvPr id="5" name="Text 2"/>
          <p:cNvSpPr txBox="1"/>
          <p:nvPr/>
        </p:nvSpPr>
        <p:spPr>
          <a:xfrm>
            <a:off x="4663440" y="1554480"/>
            <a:ext cx="6949440" cy="502920"/>
          </a:xfrm>
          <a:prstGeom prst="rect">
            <a:avLst/>
          </a:prstGeom>
          <a:noFill/>
          <a:ln/>
        </p:spPr>
        <p:txBody>
          <a:bodyPr wrap="square" lIns="635" tIns="635" rIns="635" bIns="635" rtlCol="0" anchor="t"/>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清水啓司先生 ＆ 千秋さん</a:t>
            </a:r>
            <a:endParaRPr lang="en-US" sz="2400" dirty="0"/>
          </a:p>
        </p:txBody>
      </p:sp>
      <p:sp>
        <p:nvSpPr>
          <p:cNvPr id="6" name="Text 3"/>
          <p:cNvSpPr txBox="1"/>
          <p:nvPr/>
        </p:nvSpPr>
        <p:spPr>
          <a:xfrm>
            <a:off x="4663440" y="2057400"/>
            <a:ext cx="6949440" cy="41148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60歳代 ／ 清水内科循環器医院 経営 ／ 福井県福井市</a:t>
            </a:r>
            <a:endParaRPr lang="en-US" sz="1500" dirty="0"/>
          </a:p>
        </p:txBody>
      </p:sp>
      <p:sp>
        <p:nvSpPr>
          <p:cNvPr id="7" name="Shape 4"/>
          <p:cNvSpPr/>
          <p:nvPr/>
        </p:nvSpPr>
        <p:spPr>
          <a:xfrm>
            <a:off x="4663440" y="2697480"/>
            <a:ext cx="6949440" cy="3474720"/>
          </a:xfrm>
          <a:prstGeom prst="roundRect">
            <a:avLst>
              <a:gd name="adj" fmla="val 3158"/>
            </a:avLst>
          </a:prstGeom>
          <a:solidFill>
            <a:srgbClr val="EEF5EA"/>
          </a:solidFill>
          <a:ln/>
        </p:spPr>
      </p:sp>
      <p:pic>
        <p:nvPicPr>
          <p:cNvPr id="8" name="Image 1" descr="preencoded.png">    </p:cNvPr>
          <p:cNvPicPr>
            <a:picLocks noChangeAspect="1"/>
          </p:cNvPicPr>
          <p:nvPr/>
        </p:nvPicPr>
        <p:blipFill>
          <a:blip r:embed="rId2"/>
          <a:stretch>
            <a:fillRect/>
          </a:stretch>
        </p:blipFill>
        <p:spPr>
          <a:xfrm>
            <a:off x="4892040" y="2880360"/>
            <a:ext cx="457200" cy="457200"/>
          </a:xfrm>
          <a:prstGeom prst="rect">
            <a:avLst/>
          </a:prstGeom>
        </p:spPr>
      </p:pic>
      <p:sp>
        <p:nvSpPr>
          <p:cNvPr id="9" name="Text 5"/>
          <p:cNvSpPr txBox="1"/>
          <p:nvPr/>
        </p:nvSpPr>
        <p:spPr>
          <a:xfrm>
            <a:off x="4937760" y="3429000"/>
            <a:ext cx="6446520" cy="2651760"/>
          </a:xfrm>
          <a:prstGeom prst="rect">
            <a:avLst/>
          </a:prstGeom>
          <a:noFill/>
          <a:ln/>
        </p:spPr>
        <p:txBody>
          <a:bodyPr wrap="square" lIns="635" tIns="635" rIns="635" bIns="635" rtlCol="0" anchor="t"/>
          <a:lstStyle/>
          <a:p>
            <a:pPr indent="0" marL="0">
              <a:lnSpc>
                <a:spcPct val="120000"/>
              </a:lnSpc>
              <a:buNone/>
            </a:pPr>
            <a:r>
              <a:rPr lang="en-US" sz="1900" dirty="0">
                <a:solidFill>
                  <a:srgbClr val="1E4D3A"/>
                </a:solidFill>
                <a:latin typeface="BIZ UDPGothic" pitchFamily="34" charset="0"/>
                <a:ea typeface="BIZ UDPGothic" pitchFamily="34" charset="-122"/>
                <a:cs typeface="BIZ UDPGothic" pitchFamily="34" charset="-120"/>
              </a:rPr>
              <a:t>息子さんがおなかを下しやすい体質とのことで、醗酵食が身体によいとお考えになり参加。今ではいろんな醗酵食を作りアレンジして楽しんでいらっしゃいます。とても喜ばれています。</a:t>
            </a:r>
            <a:endParaRPr lang="en-US" sz="19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お客様の声</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料理研究家</a:t>
            </a:r>
            <a:endParaRPr lang="en-US" sz="3000" dirty="0"/>
          </a:p>
        </p:txBody>
      </p:sp>
      <p:pic>
        <p:nvPicPr>
          <p:cNvPr id="4" name="Image 0" descr="/root/work/gen/p_s16_fcea3cb7_640x736_FFFFFF.jpg">    </p:cNvPr>
          <p:cNvPicPr>
            <a:picLocks noChangeAspect="1"/>
          </p:cNvPicPr>
          <p:nvPr/>
        </p:nvPicPr>
        <p:blipFill>
          <a:blip r:embed="rId1"/>
          <a:stretch>
            <a:fillRect/>
          </a:stretch>
        </p:blipFill>
        <p:spPr>
          <a:xfrm>
            <a:off x="548640" y="1554480"/>
            <a:ext cx="3657600" cy="4206240"/>
          </a:xfrm>
          <a:prstGeom prst="rect">
            <a:avLst/>
          </a:prstGeom>
          <a:effectLst>
            <a:outerShdw sx="100000" sy="100000" kx="0" ky="0" algn="bl" rotWithShape="0" blurRad="127000" dist="25400" dir="5400000">
              <a:srgbClr val="000000">
                <a:alpha val="13000"/>
              </a:srgbClr>
            </a:outerShdw>
          </a:effectLst>
        </p:spPr>
      </p:pic>
      <p:sp>
        <p:nvSpPr>
          <p:cNvPr id="5" name="Text 2"/>
          <p:cNvSpPr txBox="1"/>
          <p:nvPr/>
        </p:nvSpPr>
        <p:spPr>
          <a:xfrm>
            <a:off x="4663440" y="1554480"/>
            <a:ext cx="6949440" cy="502920"/>
          </a:xfrm>
          <a:prstGeom prst="rect">
            <a:avLst/>
          </a:prstGeom>
          <a:noFill/>
          <a:ln/>
        </p:spPr>
        <p:txBody>
          <a:bodyPr wrap="square" lIns="635" tIns="635" rIns="635" bIns="635" rtlCol="0" anchor="t"/>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michi kiyono さん</a:t>
            </a:r>
            <a:endParaRPr lang="en-US" sz="2400" dirty="0"/>
          </a:p>
        </p:txBody>
      </p:sp>
      <p:sp>
        <p:nvSpPr>
          <p:cNvPr id="6" name="Text 3"/>
          <p:cNvSpPr txBox="1"/>
          <p:nvPr/>
        </p:nvSpPr>
        <p:spPr>
          <a:xfrm>
            <a:off x="4663440" y="2057400"/>
            <a:ext cx="6949440" cy="41148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50代 ／ 料理研究家 ／ 九州から参加</a:t>
            </a:r>
            <a:endParaRPr lang="en-US" sz="1500" dirty="0"/>
          </a:p>
        </p:txBody>
      </p:sp>
      <p:sp>
        <p:nvSpPr>
          <p:cNvPr id="7" name="Shape 4"/>
          <p:cNvSpPr/>
          <p:nvPr/>
        </p:nvSpPr>
        <p:spPr>
          <a:xfrm>
            <a:off x="4663440" y="2697480"/>
            <a:ext cx="6949440" cy="3474720"/>
          </a:xfrm>
          <a:prstGeom prst="roundRect">
            <a:avLst>
              <a:gd name="adj" fmla="val 3158"/>
            </a:avLst>
          </a:prstGeom>
          <a:solidFill>
            <a:srgbClr val="EEF5EA"/>
          </a:solidFill>
          <a:ln/>
        </p:spPr>
      </p:sp>
      <p:pic>
        <p:nvPicPr>
          <p:cNvPr id="8" name="Image 1" descr="preencoded.png">    </p:cNvPr>
          <p:cNvPicPr>
            <a:picLocks noChangeAspect="1"/>
          </p:cNvPicPr>
          <p:nvPr/>
        </p:nvPicPr>
        <p:blipFill>
          <a:blip r:embed="rId2"/>
          <a:stretch>
            <a:fillRect/>
          </a:stretch>
        </p:blipFill>
        <p:spPr>
          <a:xfrm>
            <a:off x="4892040" y="2880360"/>
            <a:ext cx="457200" cy="457200"/>
          </a:xfrm>
          <a:prstGeom prst="rect">
            <a:avLst/>
          </a:prstGeom>
        </p:spPr>
      </p:pic>
      <p:sp>
        <p:nvSpPr>
          <p:cNvPr id="9" name="Text 5"/>
          <p:cNvSpPr txBox="1"/>
          <p:nvPr/>
        </p:nvSpPr>
        <p:spPr>
          <a:xfrm>
            <a:off x="4937760" y="3429000"/>
            <a:ext cx="6446520" cy="2651760"/>
          </a:xfrm>
          <a:prstGeom prst="rect">
            <a:avLst/>
          </a:prstGeom>
          <a:noFill/>
          <a:ln/>
        </p:spPr>
        <p:txBody>
          <a:bodyPr wrap="square" lIns="635" tIns="635" rIns="635" bIns="635" rtlCol="0" anchor="t"/>
          <a:lstStyle/>
          <a:p>
            <a:pPr indent="0" marL="0">
              <a:lnSpc>
                <a:spcPct val="120000"/>
              </a:lnSpc>
              <a:buNone/>
            </a:pPr>
            <a:r>
              <a:rPr lang="en-US" sz="1800" dirty="0">
                <a:solidFill>
                  <a:srgbClr val="1E4D3A"/>
                </a:solidFill>
                <a:latin typeface="BIZ UDPGothic" pitchFamily="34" charset="0"/>
                <a:ea typeface="BIZ UDPGothic" pitchFamily="34" charset="-122"/>
                <a:cs typeface="BIZ UDPGothic" pitchFamily="34" charset="-120"/>
              </a:rPr>
              <a:t>濃く、幸せな、学びの3日間でした。</a:t>
            </a:r>
            <a:endParaRPr lang="en-US" sz="1800" dirty="0"/>
          </a:p>
          <a:p>
            <a:pPr indent="0" marL="0">
              <a:lnSpc>
                <a:spcPct val="120000"/>
              </a:lnSpc>
              <a:buNone/>
            </a:pPr>
            <a:r>
              <a:rPr lang="en-US" sz="1800" dirty="0">
                <a:solidFill>
                  <a:srgbClr val="1E4D3A"/>
                </a:solidFill>
                <a:latin typeface="BIZ UDPGothic" pitchFamily="34" charset="0"/>
                <a:ea typeface="BIZ UDPGothic" pitchFamily="34" charset="-122"/>
                <a:cs typeface="BIZ UDPGothic" pitchFamily="34" charset="-120"/>
              </a:rPr>
              <a:t>シェフの手際を見ながら、実際に手を動かしながら習う発酵食品作りは、本を見て見様見真似で作るのとは全く違う。気付きがたくさんありました。どれもこれも本当に美味しくて、さらに身体にもいいなんて最高。</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お客様の声</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保育園経営</a:t>
            </a:r>
            <a:endParaRPr lang="en-US" sz="3000" dirty="0"/>
          </a:p>
        </p:txBody>
      </p:sp>
      <p:pic>
        <p:nvPicPr>
          <p:cNvPr id="4" name="Image 0" descr="/root/work/gen/p_s17_f2033b8c_640x736_FFFFFF.jpg">    </p:cNvPr>
          <p:cNvPicPr>
            <a:picLocks noChangeAspect="1"/>
          </p:cNvPicPr>
          <p:nvPr/>
        </p:nvPicPr>
        <p:blipFill>
          <a:blip r:embed="rId1"/>
          <a:stretch>
            <a:fillRect/>
          </a:stretch>
        </p:blipFill>
        <p:spPr>
          <a:xfrm>
            <a:off x="548640" y="1554480"/>
            <a:ext cx="3657600" cy="4206240"/>
          </a:xfrm>
          <a:prstGeom prst="rect">
            <a:avLst/>
          </a:prstGeom>
          <a:effectLst>
            <a:outerShdw sx="100000" sy="100000" kx="0" ky="0" algn="bl" rotWithShape="0" blurRad="127000" dist="25400" dir="5400000">
              <a:srgbClr val="000000">
                <a:alpha val="13000"/>
              </a:srgbClr>
            </a:outerShdw>
          </a:effectLst>
        </p:spPr>
      </p:pic>
      <p:sp>
        <p:nvSpPr>
          <p:cNvPr id="5" name="Text 2"/>
          <p:cNvSpPr txBox="1"/>
          <p:nvPr/>
        </p:nvSpPr>
        <p:spPr>
          <a:xfrm>
            <a:off x="4663440" y="1554480"/>
            <a:ext cx="6949440" cy="502920"/>
          </a:xfrm>
          <a:prstGeom prst="rect">
            <a:avLst/>
          </a:prstGeom>
          <a:noFill/>
          <a:ln/>
        </p:spPr>
        <p:txBody>
          <a:bodyPr wrap="square" lIns="635" tIns="635" rIns="635" bIns="635" rtlCol="0" anchor="t"/>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野末いずみ さん</a:t>
            </a:r>
            <a:endParaRPr lang="en-US" sz="2400" dirty="0"/>
          </a:p>
        </p:txBody>
      </p:sp>
      <p:sp>
        <p:nvSpPr>
          <p:cNvPr id="6" name="Text 3"/>
          <p:cNvSpPr txBox="1"/>
          <p:nvPr/>
        </p:nvSpPr>
        <p:spPr>
          <a:xfrm>
            <a:off x="4663440" y="2057400"/>
            <a:ext cx="6949440" cy="41148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40代 ／ 保育園経営 ／ 神奈川県</a:t>
            </a:r>
            <a:endParaRPr lang="en-US" sz="1500" dirty="0"/>
          </a:p>
        </p:txBody>
      </p:sp>
      <p:sp>
        <p:nvSpPr>
          <p:cNvPr id="7" name="Shape 4"/>
          <p:cNvSpPr/>
          <p:nvPr/>
        </p:nvSpPr>
        <p:spPr>
          <a:xfrm>
            <a:off x="4663440" y="2697480"/>
            <a:ext cx="6949440" cy="3474720"/>
          </a:xfrm>
          <a:prstGeom prst="roundRect">
            <a:avLst>
              <a:gd name="adj" fmla="val 3158"/>
            </a:avLst>
          </a:prstGeom>
          <a:solidFill>
            <a:srgbClr val="EEF5EA"/>
          </a:solidFill>
          <a:ln/>
        </p:spPr>
      </p:sp>
      <p:pic>
        <p:nvPicPr>
          <p:cNvPr id="8" name="Image 1" descr="preencoded.png">    </p:cNvPr>
          <p:cNvPicPr>
            <a:picLocks noChangeAspect="1"/>
          </p:cNvPicPr>
          <p:nvPr/>
        </p:nvPicPr>
        <p:blipFill>
          <a:blip r:embed="rId2"/>
          <a:stretch>
            <a:fillRect/>
          </a:stretch>
        </p:blipFill>
        <p:spPr>
          <a:xfrm>
            <a:off x="4892040" y="2880360"/>
            <a:ext cx="457200" cy="457200"/>
          </a:xfrm>
          <a:prstGeom prst="rect">
            <a:avLst/>
          </a:prstGeom>
        </p:spPr>
      </p:pic>
      <p:sp>
        <p:nvSpPr>
          <p:cNvPr id="9" name="Text 5"/>
          <p:cNvSpPr txBox="1"/>
          <p:nvPr/>
        </p:nvSpPr>
        <p:spPr>
          <a:xfrm>
            <a:off x="4937760" y="3429000"/>
            <a:ext cx="6446520" cy="2651760"/>
          </a:xfrm>
          <a:prstGeom prst="rect">
            <a:avLst/>
          </a:prstGeom>
          <a:noFill/>
          <a:ln/>
        </p:spPr>
        <p:txBody>
          <a:bodyPr wrap="square" lIns="635" tIns="635" rIns="635" bIns="635" rtlCol="0" anchor="t"/>
          <a:lstStyle/>
          <a:p>
            <a:pPr indent="0" marL="0">
              <a:lnSpc>
                <a:spcPct val="120000"/>
              </a:lnSpc>
              <a:buNone/>
            </a:pPr>
            <a:r>
              <a:rPr lang="en-US" sz="2400" dirty="0">
                <a:solidFill>
                  <a:srgbClr val="1E4D3A"/>
                </a:solidFill>
                <a:latin typeface="BIZ UDPGothic" pitchFamily="34" charset="0"/>
                <a:ea typeface="BIZ UDPGothic" pitchFamily="34" charset="-122"/>
                <a:cs typeface="BIZ UDPGothic" pitchFamily="34" charset="-120"/>
              </a:rPr>
              <a:t>いろんな発酵が学べて、楽しい充実した時間でした。</a:t>
            </a:r>
            <a:endParaRPr lang="en-US" sz="2400" dirty="0"/>
          </a:p>
          <a:p>
            <a:pPr indent="0" marL="0">
              <a:lnSpc>
                <a:spcPct val="120000"/>
              </a:lnSpc>
              <a:buNone/>
            </a:pPr>
            <a:r>
              <a:rPr lang="en-US" sz="2400" dirty="0">
                <a:solidFill>
                  <a:srgbClr val="1E4D3A"/>
                </a:solidFill>
                <a:latin typeface="BIZ UDPGothic" pitchFamily="34" charset="0"/>
                <a:ea typeface="BIZ UDPGothic" pitchFamily="34" charset="-122"/>
                <a:cs typeface="BIZ UDPGothic" pitchFamily="34" charset="-120"/>
              </a:rPr>
              <a:t>生活にしっかりと落とし込みたいと思います。</a:t>
            </a:r>
            <a:endParaRPr lang="en-US" sz="2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お客様の声</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機能性医学認定ヘルスコーチ</a:t>
            </a:r>
            <a:endParaRPr lang="en-US" sz="3000" dirty="0"/>
          </a:p>
        </p:txBody>
      </p:sp>
      <p:pic>
        <p:nvPicPr>
          <p:cNvPr id="4" name="Image 0" descr="/root/work/gen/p_s18_d4ea9a3c_640x736_FFFFFF.jpg">    </p:cNvPr>
          <p:cNvPicPr>
            <a:picLocks noChangeAspect="1"/>
          </p:cNvPicPr>
          <p:nvPr/>
        </p:nvPicPr>
        <p:blipFill>
          <a:blip r:embed="rId1"/>
          <a:stretch>
            <a:fillRect/>
          </a:stretch>
        </p:blipFill>
        <p:spPr>
          <a:xfrm>
            <a:off x="548640" y="1554480"/>
            <a:ext cx="3657600" cy="4206240"/>
          </a:xfrm>
          <a:prstGeom prst="rect">
            <a:avLst/>
          </a:prstGeom>
          <a:effectLst>
            <a:outerShdw sx="100000" sy="100000" kx="0" ky="0" algn="bl" rotWithShape="0" blurRad="127000" dist="25400" dir="5400000">
              <a:srgbClr val="000000">
                <a:alpha val="13000"/>
              </a:srgbClr>
            </a:outerShdw>
          </a:effectLst>
        </p:spPr>
      </p:pic>
      <p:sp>
        <p:nvSpPr>
          <p:cNvPr id="5" name="Text 2"/>
          <p:cNvSpPr txBox="1"/>
          <p:nvPr/>
        </p:nvSpPr>
        <p:spPr>
          <a:xfrm>
            <a:off x="4663440" y="1554480"/>
            <a:ext cx="6949440" cy="502920"/>
          </a:xfrm>
          <a:prstGeom prst="rect">
            <a:avLst/>
          </a:prstGeom>
          <a:noFill/>
          <a:ln/>
        </p:spPr>
        <p:txBody>
          <a:bodyPr wrap="square" lIns="635" tIns="635" rIns="635" bIns="635" rtlCol="0" anchor="t"/>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あげな れいこ さん</a:t>
            </a:r>
            <a:endParaRPr lang="en-US" sz="2400" dirty="0"/>
          </a:p>
        </p:txBody>
      </p:sp>
      <p:sp>
        <p:nvSpPr>
          <p:cNvPr id="6" name="Text 3"/>
          <p:cNvSpPr txBox="1"/>
          <p:nvPr/>
        </p:nvSpPr>
        <p:spPr>
          <a:xfrm>
            <a:off x="4663440" y="2057400"/>
            <a:ext cx="6949440" cy="41148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50代 ／ 機能性医学認定ヘルスコーチ ／ ハワイから参加</a:t>
            </a:r>
            <a:endParaRPr lang="en-US" sz="1500" dirty="0"/>
          </a:p>
        </p:txBody>
      </p:sp>
      <p:sp>
        <p:nvSpPr>
          <p:cNvPr id="7" name="Shape 4"/>
          <p:cNvSpPr/>
          <p:nvPr/>
        </p:nvSpPr>
        <p:spPr>
          <a:xfrm>
            <a:off x="4663440" y="2697480"/>
            <a:ext cx="6949440" cy="3474720"/>
          </a:xfrm>
          <a:prstGeom prst="roundRect">
            <a:avLst>
              <a:gd name="adj" fmla="val 3158"/>
            </a:avLst>
          </a:prstGeom>
          <a:solidFill>
            <a:srgbClr val="EEF5EA"/>
          </a:solidFill>
          <a:ln/>
        </p:spPr>
      </p:sp>
      <p:pic>
        <p:nvPicPr>
          <p:cNvPr id="8" name="Image 1" descr="preencoded.png">    </p:cNvPr>
          <p:cNvPicPr>
            <a:picLocks noChangeAspect="1"/>
          </p:cNvPicPr>
          <p:nvPr/>
        </p:nvPicPr>
        <p:blipFill>
          <a:blip r:embed="rId2"/>
          <a:stretch>
            <a:fillRect/>
          </a:stretch>
        </p:blipFill>
        <p:spPr>
          <a:xfrm>
            <a:off x="4892040" y="2880360"/>
            <a:ext cx="457200" cy="457200"/>
          </a:xfrm>
          <a:prstGeom prst="rect">
            <a:avLst/>
          </a:prstGeom>
        </p:spPr>
      </p:pic>
      <p:sp>
        <p:nvSpPr>
          <p:cNvPr id="9" name="Text 5"/>
          <p:cNvSpPr txBox="1"/>
          <p:nvPr/>
        </p:nvSpPr>
        <p:spPr>
          <a:xfrm>
            <a:off x="4937760" y="3429000"/>
            <a:ext cx="6446520" cy="2651760"/>
          </a:xfrm>
          <a:prstGeom prst="rect">
            <a:avLst/>
          </a:prstGeom>
          <a:noFill/>
          <a:ln/>
        </p:spPr>
        <p:txBody>
          <a:bodyPr wrap="square" lIns="635" tIns="635" rIns="635" bIns="635" rtlCol="0" anchor="t"/>
          <a:lstStyle/>
          <a:p>
            <a:pPr indent="0" marL="0">
              <a:lnSpc>
                <a:spcPct val="120000"/>
              </a:lnSpc>
              <a:buNone/>
            </a:pPr>
            <a:r>
              <a:rPr lang="en-US" sz="1800" dirty="0">
                <a:solidFill>
                  <a:srgbClr val="1E4D3A"/>
                </a:solidFill>
                <a:latin typeface="BIZ UDPGothic" pitchFamily="34" charset="0"/>
                <a:ea typeface="BIZ UDPGothic" pitchFamily="34" charset="-122"/>
                <a:cs typeface="BIZ UDPGothic" pitchFamily="34" charset="-120"/>
              </a:rPr>
              <a:t>『気づきは、はじめの一歩！』を合言葉に、アメリカから機能性医学に基づく最新の個育て改善法＆発達凸凹を消していける情報を発信！</a:t>
            </a:r>
            <a:endParaRPr lang="en-US" sz="1800" dirty="0"/>
          </a:p>
          <a:p>
            <a:pPr indent="0" marL="0">
              <a:lnSpc>
                <a:spcPct val="120000"/>
              </a:lnSpc>
              <a:buNone/>
            </a:pPr>
            <a:r>
              <a:rPr lang="en-US" sz="1800" dirty="0">
                <a:solidFill>
                  <a:srgbClr val="1E4D3A"/>
                </a:solidFill>
                <a:latin typeface="BIZ UDPGothic" pitchFamily="34" charset="0"/>
                <a:ea typeface="BIZ UDPGothic" pitchFamily="34" charset="-122"/>
                <a:cs typeface="BIZ UDPGothic" pitchFamily="34" charset="-120"/>
              </a:rPr>
              <a:t>発酵食をハワイで広げて頂けると思います。</a:t>
            </a:r>
            <a:endParaRPr lang="en-US" sz="1800" dirty="0"/>
          </a:p>
          <a:p>
            <a:pPr indent="0" marL="0">
              <a:lnSpc>
                <a:spcPct val="120000"/>
              </a:lnSpc>
              <a:buNone/>
            </a:pPr>
            <a:r>
              <a:rPr lang="en-US" sz="1800" dirty="0">
                <a:solidFill>
                  <a:srgbClr val="1E4D3A"/>
                </a:solidFill>
                <a:latin typeface="BIZ UDPGothic" pitchFamily="34" charset="0"/>
                <a:ea typeface="BIZ UDPGothic" pitchFamily="34" charset="-122"/>
                <a:cs typeface="BIZ UDPGothic" pitchFamily="34" charset="-120"/>
              </a:rPr>
              <a:t>『ママの笑顔』が私のエネルギーの源です♡</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22960" y="1554480"/>
            <a:ext cx="2743200" cy="109728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04</a:t>
            </a:r>
            <a:endParaRPr lang="en-US" sz="7200" dirty="0"/>
          </a:p>
        </p:txBody>
      </p:sp>
      <p:sp>
        <p:nvSpPr>
          <p:cNvPr id="3" name="Text 1"/>
          <p:cNvSpPr txBox="1"/>
          <p:nvPr/>
        </p:nvSpPr>
        <p:spPr>
          <a:xfrm>
            <a:off x="822960" y="2697480"/>
            <a:ext cx="10058400" cy="914400"/>
          </a:xfrm>
          <a:prstGeom prst="rect">
            <a:avLst/>
          </a:prstGeom>
          <a:noFill/>
          <a:ln/>
        </p:spPr>
        <p:txBody>
          <a:bodyPr wrap="square" lIns="635" tIns="635" rIns="635" bIns="635" rtlCol="0" anchor="t"/>
          <a:lstStyle/>
          <a:p>
            <a:pPr indent="0" marL="0">
              <a:lnSpc>
                <a:spcPct val="120000"/>
              </a:lnSpc>
              <a:buNone/>
            </a:pPr>
            <a:r>
              <a:rPr lang="en-US" sz="4400" dirty="0">
                <a:solidFill>
                  <a:srgbClr val="FFFFFF"/>
                </a:solidFill>
                <a:latin typeface="BIZ UDPMincho" pitchFamily="34" charset="0"/>
                <a:ea typeface="BIZ UDPMincho" pitchFamily="34" charset="-122"/>
                <a:cs typeface="BIZ UDPMincho" pitchFamily="34" charset="-120"/>
              </a:rPr>
              <a:t>プログラム内容</a:t>
            </a:r>
            <a:endParaRPr lang="en-US" sz="4400" dirty="0"/>
          </a:p>
        </p:txBody>
      </p:sp>
      <p:sp>
        <p:nvSpPr>
          <p:cNvPr id="4" name="Text 2"/>
          <p:cNvSpPr txBox="1"/>
          <p:nvPr/>
        </p:nvSpPr>
        <p:spPr>
          <a:xfrm>
            <a:off x="822960" y="3703320"/>
            <a:ext cx="9144000" cy="548640"/>
          </a:xfrm>
          <a:prstGeom prst="rect">
            <a:avLst/>
          </a:prstGeom>
          <a:noFill/>
          <a:ln/>
        </p:spPr>
        <p:txBody>
          <a:bodyPr wrap="square" lIns="635" tIns="635" rIns="635" bIns="635" rtlCol="0" anchor="t"/>
          <a:lstStyle/>
          <a:p>
            <a:pPr indent="0" marL="0">
              <a:lnSpc>
                <a:spcPct val="120000"/>
              </a:lnSpc>
              <a:buNone/>
            </a:pPr>
            <a:r>
              <a:rPr lang="en-US" sz="2000" dirty="0">
                <a:solidFill>
                  <a:srgbClr val="CFE0D3"/>
                </a:solidFill>
                <a:latin typeface="BIZ UDPGothic" pitchFamily="34" charset="0"/>
                <a:ea typeface="BIZ UDPGothic" pitchFamily="34" charset="-122"/>
                <a:cs typeface="BIZ UDPGothic" pitchFamily="34" charset="-120"/>
              </a:rPr>
              <a:t>50年の経験を、あなたに合わせてオーダーメイドで</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50年の経験のすべてを</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天給自足塾でお伝えできること</a:t>
            </a:r>
            <a:endParaRPr lang="en-US" sz="3000" dirty="0"/>
          </a:p>
        </p:txBody>
      </p:sp>
      <p:sp>
        <p:nvSpPr>
          <p:cNvPr id="4" name="Shape 2"/>
          <p:cNvSpPr/>
          <p:nvPr/>
        </p:nvSpPr>
        <p:spPr>
          <a:xfrm>
            <a:off x="548640" y="1472184"/>
            <a:ext cx="402336" cy="402336"/>
          </a:xfrm>
          <a:prstGeom prst="ellipse">
            <a:avLst/>
          </a:prstGeom>
          <a:solidFill>
            <a:srgbClr val="EEF5EA"/>
          </a:solidFill>
          <a:ln/>
        </p:spPr>
      </p:sp>
      <p:pic>
        <p:nvPicPr>
          <p:cNvPr id="5" name="Image 0" descr="preencoded.png">    </p:cNvPr>
          <p:cNvPicPr>
            <a:picLocks noChangeAspect="1"/>
          </p:cNvPicPr>
          <p:nvPr/>
        </p:nvPicPr>
        <p:blipFill>
          <a:blip r:embed="rId1"/>
          <a:stretch>
            <a:fillRect/>
          </a:stretch>
        </p:blipFill>
        <p:spPr>
          <a:xfrm>
            <a:off x="645201" y="1568745"/>
            <a:ext cx="209215" cy="209215"/>
          </a:xfrm>
          <a:prstGeom prst="rect">
            <a:avLst/>
          </a:prstGeom>
        </p:spPr>
      </p:pic>
      <p:sp>
        <p:nvSpPr>
          <p:cNvPr id="6" name="Text 3"/>
          <p:cNvSpPr txBox="1"/>
          <p:nvPr/>
        </p:nvSpPr>
        <p:spPr>
          <a:xfrm>
            <a:off x="1097280" y="1444752"/>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スイス1年・フランス3年のお菓子作り修行</a:t>
            </a:r>
            <a:endParaRPr lang="en-US" sz="1500" dirty="0"/>
          </a:p>
        </p:txBody>
      </p:sp>
      <p:sp>
        <p:nvSpPr>
          <p:cNvPr id="7" name="Shape 4"/>
          <p:cNvSpPr/>
          <p:nvPr/>
        </p:nvSpPr>
        <p:spPr>
          <a:xfrm>
            <a:off x="8092440" y="1499616"/>
            <a:ext cx="2057400" cy="347472"/>
          </a:xfrm>
          <a:prstGeom prst="roundRect">
            <a:avLst>
              <a:gd name="adj" fmla="val 50000"/>
            </a:avLst>
          </a:prstGeom>
          <a:solidFill>
            <a:srgbClr val="EEF5EA"/>
          </a:solidFill>
          <a:ln/>
        </p:spPr>
      </p:sp>
      <p:sp>
        <p:nvSpPr>
          <p:cNvPr id="8" name="Text 5"/>
          <p:cNvSpPr txBox="1"/>
          <p:nvPr/>
        </p:nvSpPr>
        <p:spPr>
          <a:xfrm>
            <a:off x="8092440" y="1499616"/>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修行4年4か月＋50年</a:t>
            </a:r>
            <a:endParaRPr lang="en-US" sz="1200" dirty="0"/>
          </a:p>
        </p:txBody>
      </p:sp>
      <p:sp>
        <p:nvSpPr>
          <p:cNvPr id="9" name="Text 6"/>
          <p:cNvSpPr txBox="1"/>
          <p:nvPr/>
        </p:nvSpPr>
        <p:spPr>
          <a:xfrm>
            <a:off x="10195560" y="1444752"/>
            <a:ext cx="1417320" cy="457200"/>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1,000万円〜</a:t>
            </a:r>
            <a:endParaRPr lang="en-US" sz="1700" dirty="0"/>
          </a:p>
        </p:txBody>
      </p:sp>
      <p:sp>
        <p:nvSpPr>
          <p:cNvPr id="10" name="Shape 7"/>
          <p:cNvSpPr/>
          <p:nvPr/>
        </p:nvSpPr>
        <p:spPr>
          <a:xfrm>
            <a:off x="548640" y="2093976"/>
            <a:ext cx="402336" cy="402336"/>
          </a:xfrm>
          <a:prstGeom prst="ellipse">
            <a:avLst/>
          </a:prstGeom>
          <a:solidFill>
            <a:srgbClr val="EEF5EA"/>
          </a:solidFill>
          <a:ln/>
        </p:spPr>
      </p:sp>
      <p:pic>
        <p:nvPicPr>
          <p:cNvPr id="11" name="Image 1" descr="preencoded.png">    </p:cNvPr>
          <p:cNvPicPr>
            <a:picLocks noChangeAspect="1"/>
          </p:cNvPicPr>
          <p:nvPr/>
        </p:nvPicPr>
        <p:blipFill>
          <a:blip r:embed="rId2"/>
          <a:stretch>
            <a:fillRect/>
          </a:stretch>
        </p:blipFill>
        <p:spPr>
          <a:xfrm>
            <a:off x="645201" y="2190537"/>
            <a:ext cx="209215" cy="209215"/>
          </a:xfrm>
          <a:prstGeom prst="rect">
            <a:avLst/>
          </a:prstGeom>
        </p:spPr>
      </p:pic>
      <p:sp>
        <p:nvSpPr>
          <p:cNvPr id="12" name="Text 8"/>
          <p:cNvSpPr txBox="1"/>
          <p:nvPr/>
        </p:nvSpPr>
        <p:spPr>
          <a:xfrm>
            <a:off x="1097280" y="1956816"/>
            <a:ext cx="6858000" cy="676656"/>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新潟県柏崎農業高等学校 食品化学科で、食の理論と実践を学ぶ ＆ 家庭で簡単にできる糀作り（だき糀作り）</a:t>
            </a:r>
            <a:endParaRPr lang="en-US" sz="1500" dirty="0"/>
          </a:p>
        </p:txBody>
      </p:sp>
      <p:sp>
        <p:nvSpPr>
          <p:cNvPr id="13" name="Shape 9"/>
          <p:cNvSpPr/>
          <p:nvPr/>
        </p:nvSpPr>
        <p:spPr>
          <a:xfrm>
            <a:off x="8092440" y="2121408"/>
            <a:ext cx="2057400" cy="347472"/>
          </a:xfrm>
          <a:prstGeom prst="roundRect">
            <a:avLst>
              <a:gd name="adj" fmla="val 50000"/>
            </a:avLst>
          </a:prstGeom>
          <a:solidFill>
            <a:srgbClr val="EEF5EA"/>
          </a:solidFill>
          <a:ln/>
        </p:spPr>
      </p:sp>
      <p:sp>
        <p:nvSpPr>
          <p:cNvPr id="14" name="Text 10"/>
          <p:cNvSpPr txBox="1"/>
          <p:nvPr/>
        </p:nvSpPr>
        <p:spPr>
          <a:xfrm>
            <a:off x="8092440" y="2121408"/>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3年</a:t>
            </a:r>
            <a:endParaRPr lang="en-US" sz="1200" dirty="0"/>
          </a:p>
        </p:txBody>
      </p:sp>
      <p:sp>
        <p:nvSpPr>
          <p:cNvPr id="15" name="Text 11"/>
          <p:cNvSpPr txBox="1"/>
          <p:nvPr/>
        </p:nvSpPr>
        <p:spPr>
          <a:xfrm>
            <a:off x="10195560" y="1956816"/>
            <a:ext cx="1417320" cy="676656"/>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30万円〜</a:t>
            </a:r>
            <a:endParaRPr lang="en-US" sz="1700" dirty="0"/>
          </a:p>
        </p:txBody>
      </p:sp>
      <p:sp>
        <p:nvSpPr>
          <p:cNvPr id="16" name="Shape 12"/>
          <p:cNvSpPr/>
          <p:nvPr/>
        </p:nvSpPr>
        <p:spPr>
          <a:xfrm>
            <a:off x="548640" y="2825496"/>
            <a:ext cx="402336" cy="402336"/>
          </a:xfrm>
          <a:prstGeom prst="ellipse">
            <a:avLst/>
          </a:prstGeom>
          <a:solidFill>
            <a:srgbClr val="EEF5EA"/>
          </a:solidFill>
          <a:ln/>
        </p:spPr>
      </p:sp>
      <p:pic>
        <p:nvPicPr>
          <p:cNvPr id="17" name="Image 2" descr="preencoded.png">    </p:cNvPr>
          <p:cNvPicPr>
            <a:picLocks noChangeAspect="1"/>
          </p:cNvPicPr>
          <p:nvPr/>
        </p:nvPicPr>
        <p:blipFill>
          <a:blip r:embed="rId3"/>
          <a:stretch>
            <a:fillRect/>
          </a:stretch>
        </p:blipFill>
        <p:spPr>
          <a:xfrm>
            <a:off x="645201" y="2922057"/>
            <a:ext cx="209215" cy="209215"/>
          </a:xfrm>
          <a:prstGeom prst="rect">
            <a:avLst/>
          </a:prstGeom>
        </p:spPr>
      </p:pic>
      <p:sp>
        <p:nvSpPr>
          <p:cNvPr id="18" name="Text 13"/>
          <p:cNvSpPr txBox="1"/>
          <p:nvPr/>
        </p:nvSpPr>
        <p:spPr>
          <a:xfrm>
            <a:off x="1097280" y="2688336"/>
            <a:ext cx="6858000" cy="676656"/>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陸稲（畑のお米づくり）・菌ちゃん農法・自然農・野草塾・きのこ塾・ポタジェ（キッチンガーデン）作り・サバイバル術講座</a:t>
            </a:r>
            <a:endParaRPr lang="en-US" sz="1500" dirty="0"/>
          </a:p>
        </p:txBody>
      </p:sp>
      <p:sp>
        <p:nvSpPr>
          <p:cNvPr id="19" name="Shape 14"/>
          <p:cNvSpPr/>
          <p:nvPr/>
        </p:nvSpPr>
        <p:spPr>
          <a:xfrm>
            <a:off x="8092440" y="2852928"/>
            <a:ext cx="2057400" cy="347472"/>
          </a:xfrm>
          <a:prstGeom prst="roundRect">
            <a:avLst>
              <a:gd name="adj" fmla="val 50000"/>
            </a:avLst>
          </a:prstGeom>
          <a:solidFill>
            <a:srgbClr val="EEF5EA"/>
          </a:solidFill>
          <a:ln/>
        </p:spPr>
      </p:sp>
      <p:sp>
        <p:nvSpPr>
          <p:cNvPr id="20" name="Text 15"/>
          <p:cNvSpPr txBox="1"/>
          <p:nvPr/>
        </p:nvSpPr>
        <p:spPr>
          <a:xfrm>
            <a:off x="8092440" y="2852928"/>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1〜5年</a:t>
            </a:r>
            <a:endParaRPr lang="en-US" sz="1200" dirty="0"/>
          </a:p>
        </p:txBody>
      </p:sp>
      <p:sp>
        <p:nvSpPr>
          <p:cNvPr id="21" name="Text 16"/>
          <p:cNvSpPr txBox="1"/>
          <p:nvPr/>
        </p:nvSpPr>
        <p:spPr>
          <a:xfrm>
            <a:off x="10195560" y="2688336"/>
            <a:ext cx="1417320" cy="676656"/>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30万円〜</a:t>
            </a:r>
            <a:endParaRPr lang="en-US" sz="1700" dirty="0"/>
          </a:p>
        </p:txBody>
      </p:sp>
      <p:sp>
        <p:nvSpPr>
          <p:cNvPr id="22" name="Shape 17"/>
          <p:cNvSpPr/>
          <p:nvPr/>
        </p:nvSpPr>
        <p:spPr>
          <a:xfrm>
            <a:off x="548640" y="3447288"/>
            <a:ext cx="402336" cy="402336"/>
          </a:xfrm>
          <a:prstGeom prst="ellipse">
            <a:avLst/>
          </a:prstGeom>
          <a:solidFill>
            <a:srgbClr val="EEF5EA"/>
          </a:solidFill>
          <a:ln/>
        </p:spPr>
      </p:sp>
      <p:pic>
        <p:nvPicPr>
          <p:cNvPr id="23" name="Image 3" descr="preencoded.png">    </p:cNvPr>
          <p:cNvPicPr>
            <a:picLocks noChangeAspect="1"/>
          </p:cNvPicPr>
          <p:nvPr/>
        </p:nvPicPr>
        <p:blipFill>
          <a:blip r:embed="rId4"/>
          <a:stretch>
            <a:fillRect/>
          </a:stretch>
        </p:blipFill>
        <p:spPr>
          <a:xfrm>
            <a:off x="645201" y="3543849"/>
            <a:ext cx="209215" cy="209215"/>
          </a:xfrm>
          <a:prstGeom prst="rect">
            <a:avLst/>
          </a:prstGeom>
        </p:spPr>
      </p:pic>
      <p:sp>
        <p:nvSpPr>
          <p:cNvPr id="24" name="Text 18"/>
          <p:cNvSpPr txBox="1"/>
          <p:nvPr/>
        </p:nvSpPr>
        <p:spPr>
          <a:xfrm>
            <a:off x="1097280" y="3419856"/>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お米・玄米で作るフランス菓子講座</a:t>
            </a:r>
            <a:endParaRPr lang="en-US" sz="1500" dirty="0"/>
          </a:p>
        </p:txBody>
      </p:sp>
      <p:sp>
        <p:nvSpPr>
          <p:cNvPr id="25" name="Shape 19"/>
          <p:cNvSpPr/>
          <p:nvPr/>
        </p:nvSpPr>
        <p:spPr>
          <a:xfrm>
            <a:off x="8092440" y="3474720"/>
            <a:ext cx="2057400" cy="347472"/>
          </a:xfrm>
          <a:prstGeom prst="roundRect">
            <a:avLst>
              <a:gd name="adj" fmla="val 50000"/>
            </a:avLst>
          </a:prstGeom>
          <a:solidFill>
            <a:srgbClr val="EEF5EA"/>
          </a:solidFill>
          <a:ln/>
        </p:spPr>
      </p:sp>
      <p:sp>
        <p:nvSpPr>
          <p:cNvPr id="26" name="Text 20"/>
          <p:cNvSpPr txBox="1"/>
          <p:nvPr/>
        </p:nvSpPr>
        <p:spPr>
          <a:xfrm>
            <a:off x="8092440" y="3474720"/>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50年</a:t>
            </a:r>
            <a:endParaRPr lang="en-US" sz="1200" dirty="0"/>
          </a:p>
        </p:txBody>
      </p:sp>
      <p:sp>
        <p:nvSpPr>
          <p:cNvPr id="27" name="Text 21"/>
          <p:cNvSpPr txBox="1"/>
          <p:nvPr/>
        </p:nvSpPr>
        <p:spPr>
          <a:xfrm>
            <a:off x="10195560" y="3419856"/>
            <a:ext cx="1417320" cy="457200"/>
          </a:xfrm>
          <a:prstGeom prst="rect">
            <a:avLst/>
          </a:prstGeom>
          <a:noFill/>
          <a:ln/>
        </p:spPr>
        <p:txBody>
          <a:bodyPr wrap="square" lIns="635" tIns="635" rIns="635" bIns="635" rtlCol="0" anchor="ctr"/>
          <a:lstStyle/>
          <a:p>
            <a:pPr algn="r" indent="0" marL="0">
              <a:lnSpc>
                <a:spcPct val="120000"/>
              </a:lnSpc>
              <a:buNone/>
            </a:pPr>
            <a:endParaRPr lang="en-US" sz="1700" dirty="0"/>
          </a:p>
        </p:txBody>
      </p:sp>
      <p:sp>
        <p:nvSpPr>
          <p:cNvPr id="28" name="Shape 22"/>
          <p:cNvSpPr/>
          <p:nvPr/>
        </p:nvSpPr>
        <p:spPr>
          <a:xfrm>
            <a:off x="548640" y="3959352"/>
            <a:ext cx="402336" cy="402336"/>
          </a:xfrm>
          <a:prstGeom prst="ellipse">
            <a:avLst/>
          </a:prstGeom>
          <a:solidFill>
            <a:srgbClr val="EEF5EA"/>
          </a:solidFill>
          <a:ln/>
        </p:spPr>
      </p:sp>
      <p:pic>
        <p:nvPicPr>
          <p:cNvPr id="29" name="Image 4" descr="preencoded.png">    </p:cNvPr>
          <p:cNvPicPr>
            <a:picLocks noChangeAspect="1"/>
          </p:cNvPicPr>
          <p:nvPr/>
        </p:nvPicPr>
        <p:blipFill>
          <a:blip r:embed="rId5"/>
          <a:stretch>
            <a:fillRect/>
          </a:stretch>
        </p:blipFill>
        <p:spPr>
          <a:xfrm>
            <a:off x="645201" y="4055913"/>
            <a:ext cx="209215" cy="209215"/>
          </a:xfrm>
          <a:prstGeom prst="rect">
            <a:avLst/>
          </a:prstGeom>
        </p:spPr>
      </p:pic>
      <p:sp>
        <p:nvSpPr>
          <p:cNvPr id="30" name="Text 23"/>
          <p:cNvSpPr txBox="1"/>
          <p:nvPr/>
        </p:nvSpPr>
        <p:spPr>
          <a:xfrm>
            <a:off x="1097280" y="3931920"/>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お米・玄米で作るパン講座</a:t>
            </a:r>
            <a:endParaRPr lang="en-US" sz="1500" dirty="0"/>
          </a:p>
        </p:txBody>
      </p:sp>
      <p:sp>
        <p:nvSpPr>
          <p:cNvPr id="31" name="Shape 24"/>
          <p:cNvSpPr/>
          <p:nvPr/>
        </p:nvSpPr>
        <p:spPr>
          <a:xfrm>
            <a:off x="8092440" y="3986784"/>
            <a:ext cx="2057400" cy="347472"/>
          </a:xfrm>
          <a:prstGeom prst="roundRect">
            <a:avLst>
              <a:gd name="adj" fmla="val 50000"/>
            </a:avLst>
          </a:prstGeom>
          <a:solidFill>
            <a:srgbClr val="EEF5EA"/>
          </a:solidFill>
          <a:ln/>
        </p:spPr>
      </p:sp>
      <p:sp>
        <p:nvSpPr>
          <p:cNvPr id="32" name="Text 25"/>
          <p:cNvSpPr txBox="1"/>
          <p:nvPr/>
        </p:nvSpPr>
        <p:spPr>
          <a:xfrm>
            <a:off x="8092440" y="3986784"/>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50年</a:t>
            </a:r>
            <a:endParaRPr lang="en-US" sz="1200" dirty="0"/>
          </a:p>
        </p:txBody>
      </p:sp>
      <p:sp>
        <p:nvSpPr>
          <p:cNvPr id="33" name="Text 26"/>
          <p:cNvSpPr txBox="1"/>
          <p:nvPr/>
        </p:nvSpPr>
        <p:spPr>
          <a:xfrm>
            <a:off x="10195560" y="3931920"/>
            <a:ext cx="1417320" cy="457200"/>
          </a:xfrm>
          <a:prstGeom prst="rect">
            <a:avLst/>
          </a:prstGeom>
          <a:noFill/>
          <a:ln/>
        </p:spPr>
        <p:txBody>
          <a:bodyPr wrap="square" lIns="635" tIns="635" rIns="635" bIns="635" rtlCol="0" anchor="ctr"/>
          <a:lstStyle/>
          <a:p>
            <a:pPr algn="r" indent="0" marL="0">
              <a:lnSpc>
                <a:spcPct val="120000"/>
              </a:lnSpc>
              <a:buNone/>
            </a:pPr>
            <a:endParaRPr lang="en-US" sz="1700" dirty="0"/>
          </a:p>
        </p:txBody>
      </p:sp>
      <p:sp>
        <p:nvSpPr>
          <p:cNvPr id="34" name="Shape 27"/>
          <p:cNvSpPr/>
          <p:nvPr/>
        </p:nvSpPr>
        <p:spPr>
          <a:xfrm>
            <a:off x="548640" y="4471416"/>
            <a:ext cx="402336" cy="402336"/>
          </a:xfrm>
          <a:prstGeom prst="ellipse">
            <a:avLst/>
          </a:prstGeom>
          <a:solidFill>
            <a:srgbClr val="EEF5EA"/>
          </a:solidFill>
          <a:ln/>
        </p:spPr>
      </p:sp>
      <p:pic>
        <p:nvPicPr>
          <p:cNvPr id="35" name="Image 5" descr="preencoded.png">    </p:cNvPr>
          <p:cNvPicPr>
            <a:picLocks noChangeAspect="1"/>
          </p:cNvPicPr>
          <p:nvPr/>
        </p:nvPicPr>
        <p:blipFill>
          <a:blip r:embed="rId6"/>
          <a:stretch>
            <a:fillRect/>
          </a:stretch>
        </p:blipFill>
        <p:spPr>
          <a:xfrm>
            <a:off x="645201" y="4567977"/>
            <a:ext cx="209215" cy="209215"/>
          </a:xfrm>
          <a:prstGeom prst="rect">
            <a:avLst/>
          </a:prstGeom>
        </p:spPr>
      </p:pic>
      <p:sp>
        <p:nvSpPr>
          <p:cNvPr id="36" name="Text 28"/>
          <p:cNvSpPr txBox="1"/>
          <p:nvPr/>
        </p:nvSpPr>
        <p:spPr>
          <a:xfrm>
            <a:off x="1097280" y="4443984"/>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ビジネススクール</a:t>
            </a:r>
            <a:endParaRPr lang="en-US" sz="1500" dirty="0"/>
          </a:p>
        </p:txBody>
      </p:sp>
      <p:sp>
        <p:nvSpPr>
          <p:cNvPr id="37" name="Shape 29"/>
          <p:cNvSpPr/>
          <p:nvPr/>
        </p:nvSpPr>
        <p:spPr>
          <a:xfrm>
            <a:off x="8092440" y="4498848"/>
            <a:ext cx="2057400" cy="347472"/>
          </a:xfrm>
          <a:prstGeom prst="roundRect">
            <a:avLst>
              <a:gd name="adj" fmla="val 50000"/>
            </a:avLst>
          </a:prstGeom>
          <a:solidFill>
            <a:srgbClr val="EEF5EA"/>
          </a:solidFill>
          <a:ln/>
        </p:spPr>
      </p:sp>
      <p:sp>
        <p:nvSpPr>
          <p:cNvPr id="38" name="Text 30"/>
          <p:cNvSpPr txBox="1"/>
          <p:nvPr/>
        </p:nvSpPr>
        <p:spPr>
          <a:xfrm>
            <a:off x="8092440" y="4498848"/>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2年</a:t>
            </a:r>
            <a:endParaRPr lang="en-US" sz="1200" dirty="0"/>
          </a:p>
        </p:txBody>
      </p:sp>
      <p:sp>
        <p:nvSpPr>
          <p:cNvPr id="39" name="Text 31"/>
          <p:cNvSpPr txBox="1"/>
          <p:nvPr/>
        </p:nvSpPr>
        <p:spPr>
          <a:xfrm>
            <a:off x="10195560" y="4443984"/>
            <a:ext cx="1417320" cy="457200"/>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100万円</a:t>
            </a:r>
            <a:endParaRPr lang="en-US" sz="1700" dirty="0"/>
          </a:p>
        </p:txBody>
      </p:sp>
      <p:sp>
        <p:nvSpPr>
          <p:cNvPr id="40" name="Shape 32"/>
          <p:cNvSpPr/>
          <p:nvPr/>
        </p:nvSpPr>
        <p:spPr>
          <a:xfrm>
            <a:off x="548640" y="5138928"/>
            <a:ext cx="11064240" cy="1115568"/>
          </a:xfrm>
          <a:prstGeom prst="roundRect">
            <a:avLst>
              <a:gd name="adj" fmla="val 9836"/>
            </a:avLst>
          </a:prstGeom>
          <a:solidFill>
            <a:srgbClr val="1E4D3A"/>
          </a:solidFill>
          <a:ln/>
        </p:spPr>
      </p:sp>
      <p:sp>
        <p:nvSpPr>
          <p:cNvPr id="41" name="Text 33"/>
          <p:cNvSpPr txBox="1"/>
          <p:nvPr/>
        </p:nvSpPr>
        <p:spPr>
          <a:xfrm>
            <a:off x="822960" y="5175504"/>
            <a:ext cx="10607040" cy="566928"/>
          </a:xfrm>
          <a:prstGeom prst="rect">
            <a:avLst/>
          </a:prstGeom>
          <a:noFill/>
          <a:ln/>
        </p:spPr>
        <p:txBody>
          <a:bodyPr wrap="square" lIns="635" tIns="635" rIns="635" bIns="635" rtlCol="0" anchor="ctr"/>
          <a:lstStyle/>
          <a:p>
            <a:pPr indent="0" marL="0">
              <a:lnSpc>
                <a:spcPct val="120000"/>
              </a:lnSpc>
              <a:buNone/>
            </a:pPr>
            <a:r>
              <a:rPr lang="en-US" sz="2800" b="1" dirty="0">
                <a:solidFill>
                  <a:srgbClr val="E8A33D"/>
                </a:solidFill>
                <a:latin typeface="BIZ UDPGothic" pitchFamily="34" charset="0"/>
                <a:ea typeface="BIZ UDPGothic" pitchFamily="34" charset="-122"/>
                <a:cs typeface="BIZ UDPGothic" pitchFamily="34" charset="-120"/>
              </a:rPr>
              <a:t>1,160万円相当以上</a:t>
            </a:r>
            <a:pP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 の学びすべてを、オーダーメイドでサポート</a:t>
            </a:r>
            <a:endParaRPr lang="en-US" sz="1600" dirty="0"/>
          </a:p>
        </p:txBody>
      </p:sp>
      <p:sp>
        <p:nvSpPr>
          <p:cNvPr id="42" name="Text 34"/>
          <p:cNvSpPr txBox="1"/>
          <p:nvPr/>
        </p:nvSpPr>
        <p:spPr>
          <a:xfrm>
            <a:off x="822960" y="5715000"/>
            <a:ext cx="10607040" cy="457200"/>
          </a:xfrm>
          <a:prstGeom prst="rect">
            <a:avLst/>
          </a:prstGeom>
          <a:noFill/>
          <a:ln/>
        </p:spPr>
        <p:txBody>
          <a:bodyPr wrap="square" lIns="635" tIns="635" rIns="635" bIns="635" rtlCol="0" anchor="ctr"/>
          <a:lstStyle/>
          <a:p>
            <a:pPr indent="0" marL="0">
              <a:lnSpc>
                <a:spcPct val="120000"/>
              </a:lnSpc>
              <a:buNone/>
            </a:pPr>
            <a:r>
              <a:rPr lang="en-US" sz="1600" dirty="0">
                <a:solidFill>
                  <a:srgbClr val="DDE8DF"/>
                </a:solidFill>
                <a:latin typeface="BIZ UDPGothic" pitchFamily="34" charset="0"/>
                <a:ea typeface="BIZ UDPGothic" pitchFamily="34" charset="-122"/>
                <a:cs typeface="BIZ UDPGothic" pitchFamily="34" charset="-120"/>
              </a:rPr>
              <a:t>まっちゃんの必要な時期に、必要なタイミングで、必要な量の学びを随時提供してゆきます。</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比較</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他の講座（農業塾・発酵塾）との比較</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017520"/>
                <a:gridCol w="1920240"/>
                <a:gridCol w="1920240"/>
                <a:gridCol w="1920240"/>
                <a:gridCol w="2286000"/>
              </a:tblGrid>
              <a:tr h="621792">
                <a:tc>
                  <a:txBody>
                    <a:bodyPr/>
                    <a:lstStyle/>
                    <a:p>
                      <a:pPr algn="ctr" indent="0" marL="0">
                        <a:buNone/>
                      </a:pP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1E4D3A"/>
                    </a:solidFill>
                  </a:tcPr>
                </a:tc>
                <a:tc>
                  <a:txBody>
                    <a:bodyP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農業講座</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1E4D3A"/>
                    </a:solidFill>
                  </a:tcPr>
                </a:tc>
                <a:tc>
                  <a:txBody>
                    <a:bodyP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各講座</a:t>
                      </a:r>
                      <a:endParaRPr lang="en-US" sz="1500" dirty="0">
                        <a:latin typeface="BIZ UDPGothic" charset="0"/>
                        <a:ea typeface="BIZ UDPGothic" charset="0"/>
                        <a:cs typeface="BIZ UDPGothic" charset="0"/>
                      </a:endParaRPr>
                    </a:p>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個別サポート</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1E4D3A"/>
                    </a:solidFill>
                  </a:tcPr>
                </a:tc>
                <a:tc>
                  <a:txBody>
                    <a:bodyP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無料コンテンツ</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1E4D3A"/>
                    </a:solidFill>
                  </a:tcPr>
                </a:tc>
                <a:tc>
                  <a:txBody>
                    <a:bodyP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天給自足</a:t>
                      </a:r>
                      <a:endParaRPr lang="en-US" sz="1500" dirty="0">
                        <a:latin typeface="BIZ UDPGothic" charset="0"/>
                        <a:ea typeface="BIZ UDPGothic" charset="0"/>
                        <a:cs typeface="BIZ UDPGothic" charset="0"/>
                      </a:endParaRPr>
                    </a:p>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マスタリープラン</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E8A33D"/>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サポート</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オーダーメイド</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再現性</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成果の出るスピード</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長期的な成果</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難易度</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時間</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A0A0A0"/>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E9E5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r h="493776">
                <a:tc>
                  <a:txBody>
                    <a:bodyPr/>
                    <a:lstStyle/>
                    <a:p>
                      <a:pPr indent="0" marL="0">
                        <a:buNone/>
                      </a:pPr>
                      <a:r>
                        <a:rPr lang="en-US" sz="1500" b="1" dirty="0">
                          <a:solidFill>
                            <a:srgbClr val="2B2B2B"/>
                          </a:solidFill>
                          <a:latin typeface="BIZ UDPGothic" pitchFamily="34" charset="0"/>
                          <a:ea typeface="BIZ UDPGothic" pitchFamily="34" charset="-122"/>
                          <a:cs typeface="BIZ UDPGothic" pitchFamily="34" charset="-120"/>
                        </a:rPr>
                        <a:t>コストパフォーマンス</a:t>
                      </a:r>
                      <a:endParaRPr lang="en-US" sz="15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6F8F4"/>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8A1E"/>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E4D3A"/>
                          </a:solidFill>
                          <a:latin typeface="BIZ UDPGothic" pitchFamily="34" charset="0"/>
                          <a:ea typeface="BIZ UDPGothic" pitchFamily="34" charset="-122"/>
                          <a:cs typeface="BIZ UDPGothic" pitchFamily="34" charset="-120"/>
                        </a:rPr>
                        <a:t>◎</a:t>
                      </a:r>
                      <a:endParaRPr lang="en-US" sz="2000" dirty="0">
                        <a:latin typeface="BIZ UDPGothic" charset="0"/>
                        <a:ea typeface="BIZ UDPGothic" charset="0"/>
                        <a:cs typeface="BIZ UDPGothic" charset="0"/>
                      </a:endParaRPr>
                    </a:p>
                  </a:txBody>
                  <a:tcPr marL="45720" marR="45720" marT="45720" marB="45720" anchor="ctr">
                    <a:lnL w="9525" cap="flat" cmpd="sng" algn="ctr">
                      <a:solidFill>
                        <a:srgbClr val="D8DED4"/>
                      </a:solidFill>
                      <a:prstDash val="solid"/>
                      <a:round/>
                      <a:headEnd type="none" w="med" len="med"/>
                      <a:tailEnd type="none" w="med" len="med"/>
                    </a:lnL>
                    <a:lnR w="9525" cap="flat" cmpd="sng" algn="ctr">
                      <a:solidFill>
                        <a:srgbClr val="D8DED4"/>
                      </a:solidFill>
                      <a:prstDash val="solid"/>
                      <a:round/>
                      <a:headEnd type="none" w="med" len="med"/>
                      <a:tailEnd type="none" w="med" len="med"/>
                    </a:lnR>
                    <a:lnT w="9525" cap="flat" cmpd="sng" algn="ctr">
                      <a:solidFill>
                        <a:srgbClr val="D8DED4"/>
                      </a:solidFill>
                      <a:prstDash val="solid"/>
                      <a:round/>
                      <a:headEnd type="none" w="med" len="med"/>
                      <a:tailEnd type="none" w="med" len="med"/>
                    </a:lnT>
                    <a:lnB w="9525" cap="flat" cmpd="sng" algn="ctr">
                      <a:solidFill>
                        <a:srgbClr val="D8DED4"/>
                      </a:solidFill>
                      <a:prstDash val="solid"/>
                      <a:round/>
                      <a:headEnd type="none" w="med" len="med"/>
                      <a:tailEnd type="none" w="med" len="med"/>
                    </a:lnB>
                    <a:solidFill>
                      <a:srgbClr val="FBF0DC"/>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生活に落とし込み、連動して活かす</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まっちゃんが輝く人生を手に入れる、サクセス7ステップ</a:t>
            </a:r>
            <a:endParaRPr lang="en-US" sz="3000" dirty="0"/>
          </a:p>
        </p:txBody>
      </p:sp>
      <p:sp>
        <p:nvSpPr>
          <p:cNvPr id="4" name="Shape 2"/>
          <p:cNvSpPr/>
          <p:nvPr/>
        </p:nvSpPr>
        <p:spPr>
          <a:xfrm>
            <a:off x="548640" y="3840480"/>
            <a:ext cx="1490472" cy="2377440"/>
          </a:xfrm>
          <a:prstGeom prst="roundRect">
            <a:avLst>
              <a:gd name="adj" fmla="val 6135"/>
            </a:avLst>
          </a:prstGeom>
          <a:solidFill>
            <a:srgbClr val="5E9E5A"/>
          </a:solidFill>
          <a:ln/>
        </p:spPr>
      </p:sp>
      <p:sp>
        <p:nvSpPr>
          <p:cNvPr id="5" name="Text 3"/>
          <p:cNvSpPr txBox="1"/>
          <p:nvPr/>
        </p:nvSpPr>
        <p:spPr>
          <a:xfrm>
            <a:off x="548640" y="3950208"/>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1</a:t>
            </a:r>
            <a:endParaRPr lang="en-US" sz="2600" dirty="0"/>
          </a:p>
        </p:txBody>
      </p:sp>
      <p:sp>
        <p:nvSpPr>
          <p:cNvPr id="6" name="Text 4"/>
          <p:cNvSpPr txBox="1"/>
          <p:nvPr/>
        </p:nvSpPr>
        <p:spPr>
          <a:xfrm>
            <a:off x="640080" y="4498848"/>
            <a:ext cx="1307592" cy="1645920"/>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頑張らない天給自足達成術で、楽しいマインドでスタート</a:t>
            </a:r>
            <a:endParaRPr lang="en-US" sz="1400" dirty="0"/>
          </a:p>
        </p:txBody>
      </p:sp>
      <p:sp>
        <p:nvSpPr>
          <p:cNvPr id="7" name="Shape 5"/>
          <p:cNvSpPr/>
          <p:nvPr/>
        </p:nvSpPr>
        <p:spPr>
          <a:xfrm>
            <a:off x="2130552" y="3547872"/>
            <a:ext cx="1490472" cy="2670048"/>
          </a:xfrm>
          <a:prstGeom prst="roundRect">
            <a:avLst>
              <a:gd name="adj" fmla="val 6135"/>
            </a:avLst>
          </a:prstGeom>
          <a:solidFill>
            <a:srgbClr val="5E9E5A"/>
          </a:solidFill>
          <a:ln/>
        </p:spPr>
      </p:sp>
      <p:sp>
        <p:nvSpPr>
          <p:cNvPr id="8" name="Text 6"/>
          <p:cNvSpPr txBox="1"/>
          <p:nvPr/>
        </p:nvSpPr>
        <p:spPr>
          <a:xfrm>
            <a:off x="2130552" y="3657600"/>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2</a:t>
            </a:r>
            <a:endParaRPr lang="en-US" sz="2600" dirty="0"/>
          </a:p>
        </p:txBody>
      </p:sp>
      <p:sp>
        <p:nvSpPr>
          <p:cNvPr id="9" name="Text 7"/>
          <p:cNvSpPr txBox="1"/>
          <p:nvPr/>
        </p:nvSpPr>
        <p:spPr>
          <a:xfrm>
            <a:off x="2221992" y="4206240"/>
            <a:ext cx="1307592" cy="1938528"/>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食創り（調理・パン・菓子）から天給自足の一歩を楽しく踏み出す</a:t>
            </a:r>
            <a:endParaRPr lang="en-US" sz="1400" dirty="0"/>
          </a:p>
        </p:txBody>
      </p:sp>
      <p:sp>
        <p:nvSpPr>
          <p:cNvPr id="10" name="Shape 8"/>
          <p:cNvSpPr/>
          <p:nvPr/>
        </p:nvSpPr>
        <p:spPr>
          <a:xfrm>
            <a:off x="3712464" y="3255264"/>
            <a:ext cx="1490472" cy="2962656"/>
          </a:xfrm>
          <a:prstGeom prst="roundRect">
            <a:avLst>
              <a:gd name="adj" fmla="val 6135"/>
            </a:avLst>
          </a:prstGeom>
          <a:solidFill>
            <a:srgbClr val="3E7C9B"/>
          </a:solidFill>
          <a:ln/>
        </p:spPr>
      </p:sp>
      <p:sp>
        <p:nvSpPr>
          <p:cNvPr id="11" name="Text 9"/>
          <p:cNvSpPr txBox="1"/>
          <p:nvPr/>
        </p:nvSpPr>
        <p:spPr>
          <a:xfrm>
            <a:off x="3712464" y="3364992"/>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3</a:t>
            </a:r>
            <a:endParaRPr lang="en-US" sz="2600" dirty="0"/>
          </a:p>
        </p:txBody>
      </p:sp>
      <p:sp>
        <p:nvSpPr>
          <p:cNvPr id="12" name="Text 10"/>
          <p:cNvSpPr txBox="1"/>
          <p:nvPr/>
        </p:nvSpPr>
        <p:spPr>
          <a:xfrm>
            <a:off x="3803904" y="3913632"/>
            <a:ext cx="1307592" cy="2231136"/>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発酵食品作りで楽しく、美容と健康、備蓄を実現し講座で教える</a:t>
            </a:r>
            <a:endParaRPr lang="en-US" sz="1400" dirty="0"/>
          </a:p>
        </p:txBody>
      </p:sp>
      <p:sp>
        <p:nvSpPr>
          <p:cNvPr id="13" name="Shape 11"/>
          <p:cNvSpPr/>
          <p:nvPr/>
        </p:nvSpPr>
        <p:spPr>
          <a:xfrm>
            <a:off x="5294376" y="2962656"/>
            <a:ext cx="1490472" cy="3255264"/>
          </a:xfrm>
          <a:prstGeom prst="roundRect">
            <a:avLst>
              <a:gd name="adj" fmla="val 6135"/>
            </a:avLst>
          </a:prstGeom>
          <a:solidFill>
            <a:srgbClr val="3E7C9B"/>
          </a:solidFill>
          <a:ln/>
        </p:spPr>
      </p:sp>
      <p:sp>
        <p:nvSpPr>
          <p:cNvPr id="14" name="Text 12"/>
          <p:cNvSpPr txBox="1"/>
          <p:nvPr/>
        </p:nvSpPr>
        <p:spPr>
          <a:xfrm>
            <a:off x="5294376" y="3072384"/>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4</a:t>
            </a:r>
            <a:endParaRPr lang="en-US" sz="2600" dirty="0"/>
          </a:p>
        </p:txBody>
      </p:sp>
      <p:sp>
        <p:nvSpPr>
          <p:cNvPr id="15" name="Text 13"/>
          <p:cNvSpPr txBox="1"/>
          <p:nvPr/>
        </p:nvSpPr>
        <p:spPr>
          <a:xfrm>
            <a:off x="5385816" y="3621024"/>
            <a:ext cx="1307592" cy="2523744"/>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自然の恵みを見極め活用し、山菜・きのこ・野草を楽しむライフスタイル</a:t>
            </a:r>
            <a:endParaRPr lang="en-US" sz="1400" dirty="0"/>
          </a:p>
        </p:txBody>
      </p:sp>
      <p:sp>
        <p:nvSpPr>
          <p:cNvPr id="16" name="Shape 14"/>
          <p:cNvSpPr/>
          <p:nvPr/>
        </p:nvSpPr>
        <p:spPr>
          <a:xfrm>
            <a:off x="6876288" y="2670048"/>
            <a:ext cx="1490472" cy="3547872"/>
          </a:xfrm>
          <a:prstGeom prst="roundRect">
            <a:avLst>
              <a:gd name="adj" fmla="val 6135"/>
            </a:avLst>
          </a:prstGeom>
          <a:solidFill>
            <a:srgbClr val="3E7C9B"/>
          </a:solidFill>
          <a:ln/>
        </p:spPr>
      </p:sp>
      <p:sp>
        <p:nvSpPr>
          <p:cNvPr id="17" name="Text 15"/>
          <p:cNvSpPr txBox="1"/>
          <p:nvPr/>
        </p:nvSpPr>
        <p:spPr>
          <a:xfrm>
            <a:off x="6876288" y="2779776"/>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5</a:t>
            </a:r>
            <a:endParaRPr lang="en-US" sz="2600" dirty="0"/>
          </a:p>
        </p:txBody>
      </p:sp>
      <p:sp>
        <p:nvSpPr>
          <p:cNvPr id="18" name="Text 16"/>
          <p:cNvSpPr txBox="1"/>
          <p:nvPr/>
        </p:nvSpPr>
        <p:spPr>
          <a:xfrm>
            <a:off x="6967728" y="3328416"/>
            <a:ext cx="1307592" cy="2816352"/>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陸稲で米、自然農で野菜・菊芋を育て、食を備蓄しポタジェと共に安心を創る</a:t>
            </a:r>
            <a:endParaRPr lang="en-US" sz="1400" dirty="0"/>
          </a:p>
        </p:txBody>
      </p:sp>
      <p:sp>
        <p:nvSpPr>
          <p:cNvPr id="19" name="Shape 17"/>
          <p:cNvSpPr/>
          <p:nvPr/>
        </p:nvSpPr>
        <p:spPr>
          <a:xfrm>
            <a:off x="8458200" y="2377440"/>
            <a:ext cx="1490472" cy="3840480"/>
          </a:xfrm>
          <a:prstGeom prst="roundRect">
            <a:avLst>
              <a:gd name="adj" fmla="val 6135"/>
            </a:avLst>
          </a:prstGeom>
          <a:solidFill>
            <a:srgbClr val="E8A33D"/>
          </a:solidFill>
          <a:ln/>
        </p:spPr>
      </p:sp>
      <p:sp>
        <p:nvSpPr>
          <p:cNvPr id="20" name="Text 18"/>
          <p:cNvSpPr txBox="1"/>
          <p:nvPr/>
        </p:nvSpPr>
        <p:spPr>
          <a:xfrm>
            <a:off x="8458200" y="2487168"/>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6</a:t>
            </a:r>
            <a:endParaRPr lang="en-US" sz="2600" dirty="0"/>
          </a:p>
        </p:txBody>
      </p:sp>
      <p:sp>
        <p:nvSpPr>
          <p:cNvPr id="21" name="Text 19"/>
          <p:cNvSpPr txBox="1"/>
          <p:nvPr/>
        </p:nvSpPr>
        <p:spPr>
          <a:xfrm>
            <a:off x="8549640" y="3035808"/>
            <a:ext cx="1307592" cy="3108960"/>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食の安心安全を確保し、醗酵食中心の日本食文化・伝承文化を復活</a:t>
            </a:r>
            <a:endParaRPr lang="en-US" sz="1400" dirty="0"/>
          </a:p>
        </p:txBody>
      </p:sp>
      <p:sp>
        <p:nvSpPr>
          <p:cNvPr id="22" name="Shape 20"/>
          <p:cNvSpPr/>
          <p:nvPr/>
        </p:nvSpPr>
        <p:spPr>
          <a:xfrm>
            <a:off x="10040112" y="2084832"/>
            <a:ext cx="1490472" cy="4133088"/>
          </a:xfrm>
          <a:prstGeom prst="roundRect">
            <a:avLst>
              <a:gd name="adj" fmla="val 6135"/>
            </a:avLst>
          </a:prstGeom>
          <a:solidFill>
            <a:srgbClr val="E8A33D"/>
          </a:solidFill>
          <a:ln/>
        </p:spPr>
      </p:sp>
      <p:sp>
        <p:nvSpPr>
          <p:cNvPr id="23" name="Text 21"/>
          <p:cNvSpPr txBox="1"/>
          <p:nvPr/>
        </p:nvSpPr>
        <p:spPr>
          <a:xfrm>
            <a:off x="10040112" y="2194560"/>
            <a:ext cx="1490472" cy="502920"/>
          </a:xfrm>
          <a:prstGeom prst="rect">
            <a:avLst/>
          </a:prstGeom>
          <a:noFill/>
          <a:ln/>
        </p:spPr>
        <p:txBody>
          <a:bodyPr wrap="square" lIns="635" tIns="635" rIns="635" bIns="635" rtlCol="0" anchor="t"/>
          <a:lstStyle/>
          <a:p>
            <a:pPr algn="ctr" indent="0" marL="0">
              <a:lnSpc>
                <a:spcPct val="120000"/>
              </a:lnSpc>
              <a:buNone/>
            </a:pPr>
            <a:r>
              <a:rPr lang="en-US" sz="2600" b="1" dirty="0">
                <a:solidFill>
                  <a:srgbClr val="FFFFFF"/>
                </a:solidFill>
                <a:latin typeface="BIZ UDPGothic" pitchFamily="34" charset="0"/>
                <a:ea typeface="BIZ UDPGothic" pitchFamily="34" charset="-122"/>
                <a:cs typeface="BIZ UDPGothic" pitchFamily="34" charset="-120"/>
              </a:rPr>
              <a:t>7</a:t>
            </a:r>
            <a:endParaRPr lang="en-US" sz="2600" dirty="0"/>
          </a:p>
        </p:txBody>
      </p:sp>
      <p:sp>
        <p:nvSpPr>
          <p:cNvPr id="24" name="Text 22"/>
          <p:cNvSpPr txBox="1"/>
          <p:nvPr/>
        </p:nvSpPr>
        <p:spPr>
          <a:xfrm>
            <a:off x="10131552" y="2743200"/>
            <a:ext cx="1307592" cy="3401568"/>
          </a:xfrm>
          <a:prstGeom prst="rect">
            <a:avLst/>
          </a:prstGeom>
          <a:noFill/>
          <a:ln/>
        </p:spPr>
        <p:txBody>
          <a:bodyPr wrap="square" lIns="635" tIns="635" rIns="635" bIns="635" rtlCol="0" anchor="t"/>
          <a:lstStyle/>
          <a:p>
            <a:pPr indent="0" marL="0">
              <a:lnSpc>
                <a:spcPct val="120000"/>
              </a:lnSpc>
              <a:buNone/>
            </a:pPr>
            <a:r>
              <a:rPr lang="en-US" sz="1400" dirty="0">
                <a:solidFill>
                  <a:srgbClr val="FFFFFF"/>
                </a:solidFill>
                <a:latin typeface="BIZ UDPGothic" pitchFamily="34" charset="0"/>
                <a:ea typeface="BIZ UDPGothic" pitchFamily="34" charset="-122"/>
                <a:cs typeface="BIZ UDPGothic" pitchFamily="34" charset="-120"/>
              </a:rPr>
              <a:t>まっちゃんならではの学びの場を作り、喜ばれながら収入を得て社会に貢献</a:t>
            </a:r>
            <a:endParaRPr lang="en-US" sz="1400" dirty="0"/>
          </a:p>
        </p:txBody>
      </p:sp>
      <p:sp>
        <p:nvSpPr>
          <p:cNvPr id="25" name="Text 23"/>
          <p:cNvSpPr txBox="1"/>
          <p:nvPr/>
        </p:nvSpPr>
        <p:spPr>
          <a:xfrm>
            <a:off x="548640" y="3090672"/>
            <a:ext cx="3072384" cy="365760"/>
          </a:xfrm>
          <a:prstGeom prst="rect">
            <a:avLst/>
          </a:prstGeom>
          <a:noFill/>
          <a:ln/>
        </p:spPr>
        <p:txBody>
          <a:bodyPr wrap="square" lIns="635" tIns="635" rIns="635" bIns="635" rtlCol="0" anchor="b"/>
          <a:lstStyle/>
          <a:p>
            <a:pPr algn="ctr" indent="0" marL="0">
              <a:lnSpc>
                <a:spcPct val="120000"/>
              </a:lnSpc>
              <a:buNone/>
            </a:pPr>
            <a:r>
              <a:rPr lang="en-US" sz="1500" b="1" dirty="0">
                <a:solidFill>
                  <a:srgbClr val="5E9E5A"/>
                </a:solidFill>
                <a:latin typeface="BIZ UDPGothic" pitchFamily="34" charset="0"/>
                <a:ea typeface="BIZ UDPGothic" pitchFamily="34" charset="-122"/>
                <a:cs typeface="BIZ UDPGothic" pitchFamily="34" charset="-120"/>
              </a:rPr>
              <a:t>マインド作り</a:t>
            </a:r>
            <a:endParaRPr lang="en-US" sz="1500" dirty="0"/>
          </a:p>
        </p:txBody>
      </p:sp>
      <p:sp>
        <p:nvSpPr>
          <p:cNvPr id="26" name="Text 24"/>
          <p:cNvSpPr txBox="1"/>
          <p:nvPr/>
        </p:nvSpPr>
        <p:spPr>
          <a:xfrm>
            <a:off x="3712464" y="2212848"/>
            <a:ext cx="4654296" cy="365760"/>
          </a:xfrm>
          <a:prstGeom prst="rect">
            <a:avLst/>
          </a:prstGeom>
          <a:noFill/>
          <a:ln/>
        </p:spPr>
        <p:txBody>
          <a:bodyPr wrap="square" lIns="635" tIns="635" rIns="635" bIns="635" rtlCol="0" anchor="b"/>
          <a:lstStyle/>
          <a:p>
            <a:pPr algn="ctr" indent="0" marL="0">
              <a:lnSpc>
                <a:spcPct val="120000"/>
              </a:lnSpc>
              <a:buNone/>
            </a:pPr>
            <a:r>
              <a:rPr lang="en-US" sz="1500" b="1" dirty="0">
                <a:solidFill>
                  <a:srgbClr val="3E7C9B"/>
                </a:solidFill>
                <a:latin typeface="BIZ UDPGothic" pitchFamily="34" charset="0"/>
                <a:ea typeface="BIZ UDPGothic" pitchFamily="34" charset="-122"/>
                <a:cs typeface="BIZ UDPGothic" pitchFamily="34" charset="-120"/>
              </a:rPr>
              <a:t>天給自足 実践実行</a:t>
            </a:r>
            <a:endParaRPr lang="en-US" sz="1500" dirty="0"/>
          </a:p>
        </p:txBody>
      </p:sp>
      <p:sp>
        <p:nvSpPr>
          <p:cNvPr id="27" name="Text 25"/>
          <p:cNvSpPr txBox="1"/>
          <p:nvPr/>
        </p:nvSpPr>
        <p:spPr>
          <a:xfrm>
            <a:off x="8458200" y="1627632"/>
            <a:ext cx="3072384" cy="365760"/>
          </a:xfrm>
          <a:prstGeom prst="rect">
            <a:avLst/>
          </a:prstGeom>
          <a:noFill/>
          <a:ln/>
        </p:spPr>
        <p:txBody>
          <a:bodyPr wrap="square" lIns="635" tIns="635" rIns="635" bIns="635" rtlCol="0" anchor="b"/>
          <a:lstStyle/>
          <a:p>
            <a:pPr algn="ct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あなたらしく輝く人生</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すべて実践・体験</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カリキュラム実践一覧</a:t>
            </a:r>
            <a:endParaRPr lang="en-US" sz="3000" dirty="0"/>
          </a:p>
        </p:txBody>
      </p:sp>
      <p:sp>
        <p:nvSpPr>
          <p:cNvPr id="4" name="Shape 2"/>
          <p:cNvSpPr/>
          <p:nvPr/>
        </p:nvSpPr>
        <p:spPr>
          <a:xfrm>
            <a:off x="548640" y="1508760"/>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5" name="Shape 3"/>
          <p:cNvSpPr/>
          <p:nvPr/>
        </p:nvSpPr>
        <p:spPr>
          <a:xfrm>
            <a:off x="749808" y="1892808"/>
            <a:ext cx="640080" cy="640080"/>
          </a:xfrm>
          <a:prstGeom prst="ellipse">
            <a:avLst/>
          </a:prstGeom>
          <a:solidFill>
            <a:srgbClr val="1E4D3A"/>
          </a:solidFill>
          <a:ln/>
        </p:spPr>
      </p:sp>
      <p:pic>
        <p:nvPicPr>
          <p:cNvPr id="6" name="Image 0" descr="preencoded.png">    </p:cNvPr>
          <p:cNvPicPr>
            <a:picLocks noChangeAspect="1"/>
          </p:cNvPicPr>
          <p:nvPr/>
        </p:nvPicPr>
        <p:blipFill>
          <a:blip r:embed="rId1"/>
          <a:stretch>
            <a:fillRect/>
          </a:stretch>
        </p:blipFill>
        <p:spPr>
          <a:xfrm>
            <a:off x="903427" y="2046427"/>
            <a:ext cx="332842" cy="332842"/>
          </a:xfrm>
          <a:prstGeom prst="rect">
            <a:avLst/>
          </a:prstGeom>
        </p:spPr>
      </p:pic>
      <p:sp>
        <p:nvSpPr>
          <p:cNvPr id="7" name="Text 4"/>
          <p:cNvSpPr txBox="1"/>
          <p:nvPr/>
        </p:nvSpPr>
        <p:spPr>
          <a:xfrm>
            <a:off x="1554480" y="1600200"/>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必ず見つかる、自分にあった天給自足をスタートできる</a:t>
            </a:r>
            <a:endParaRPr lang="en-US" sz="1500" dirty="0"/>
          </a:p>
        </p:txBody>
      </p:sp>
      <p:sp>
        <p:nvSpPr>
          <p:cNvPr id="8" name="Shape 5"/>
          <p:cNvSpPr/>
          <p:nvPr/>
        </p:nvSpPr>
        <p:spPr>
          <a:xfrm>
            <a:off x="4315968" y="1508760"/>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9" name="Shape 6"/>
          <p:cNvSpPr/>
          <p:nvPr/>
        </p:nvSpPr>
        <p:spPr>
          <a:xfrm>
            <a:off x="4517136" y="1892808"/>
            <a:ext cx="640080" cy="640080"/>
          </a:xfrm>
          <a:prstGeom prst="ellipse">
            <a:avLst/>
          </a:prstGeom>
          <a:solidFill>
            <a:srgbClr val="1E4D3A"/>
          </a:solidFill>
          <a:ln/>
        </p:spPr>
      </p:sp>
      <p:pic>
        <p:nvPicPr>
          <p:cNvPr id="10" name="Image 1" descr="preencoded.png">    </p:cNvPr>
          <p:cNvPicPr>
            <a:picLocks noChangeAspect="1"/>
          </p:cNvPicPr>
          <p:nvPr/>
        </p:nvPicPr>
        <p:blipFill>
          <a:blip r:embed="rId2"/>
          <a:stretch>
            <a:fillRect/>
          </a:stretch>
        </p:blipFill>
        <p:spPr>
          <a:xfrm>
            <a:off x="4670755" y="2046427"/>
            <a:ext cx="332842" cy="332842"/>
          </a:xfrm>
          <a:prstGeom prst="rect">
            <a:avLst/>
          </a:prstGeom>
        </p:spPr>
      </p:pic>
      <p:sp>
        <p:nvSpPr>
          <p:cNvPr id="11" name="Text 7"/>
          <p:cNvSpPr txBox="1"/>
          <p:nvPr/>
        </p:nvSpPr>
        <p:spPr>
          <a:xfrm>
            <a:off x="5321808" y="1600200"/>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頑張らないでうまくいく自然農！天給自足を実現</a:t>
            </a:r>
            <a:endParaRPr lang="en-US" sz="1500" dirty="0"/>
          </a:p>
        </p:txBody>
      </p:sp>
      <p:sp>
        <p:nvSpPr>
          <p:cNvPr id="12" name="Shape 8"/>
          <p:cNvSpPr/>
          <p:nvPr/>
        </p:nvSpPr>
        <p:spPr>
          <a:xfrm>
            <a:off x="8083296" y="1508760"/>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13" name="Shape 9"/>
          <p:cNvSpPr/>
          <p:nvPr/>
        </p:nvSpPr>
        <p:spPr>
          <a:xfrm>
            <a:off x="8284464" y="1892808"/>
            <a:ext cx="640080" cy="640080"/>
          </a:xfrm>
          <a:prstGeom prst="ellipse">
            <a:avLst/>
          </a:prstGeom>
          <a:solidFill>
            <a:srgbClr val="1E4D3A"/>
          </a:solidFill>
          <a:ln/>
        </p:spPr>
      </p:sp>
      <p:pic>
        <p:nvPicPr>
          <p:cNvPr id="14" name="Image 2" descr="preencoded.png">    </p:cNvPr>
          <p:cNvPicPr>
            <a:picLocks noChangeAspect="1"/>
          </p:cNvPicPr>
          <p:nvPr/>
        </p:nvPicPr>
        <p:blipFill>
          <a:blip r:embed="rId3"/>
          <a:stretch>
            <a:fillRect/>
          </a:stretch>
        </p:blipFill>
        <p:spPr>
          <a:xfrm>
            <a:off x="8438083" y="2046427"/>
            <a:ext cx="332842" cy="332842"/>
          </a:xfrm>
          <a:prstGeom prst="rect">
            <a:avLst/>
          </a:prstGeom>
        </p:spPr>
      </p:pic>
      <p:sp>
        <p:nvSpPr>
          <p:cNvPr id="15" name="Text 10"/>
          <p:cNvSpPr txBox="1"/>
          <p:nvPr/>
        </p:nvSpPr>
        <p:spPr>
          <a:xfrm>
            <a:off x="9089136" y="1600200"/>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知ると出来るは違います。すべて実践、体験！</a:t>
            </a:r>
            <a:endParaRPr lang="en-US" sz="1500" dirty="0"/>
          </a:p>
        </p:txBody>
      </p:sp>
      <p:sp>
        <p:nvSpPr>
          <p:cNvPr id="16" name="Shape 11"/>
          <p:cNvSpPr/>
          <p:nvPr/>
        </p:nvSpPr>
        <p:spPr>
          <a:xfrm>
            <a:off x="548640" y="3081528"/>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17" name="Shape 12"/>
          <p:cNvSpPr/>
          <p:nvPr/>
        </p:nvSpPr>
        <p:spPr>
          <a:xfrm>
            <a:off x="749808" y="3465576"/>
            <a:ext cx="640080" cy="640080"/>
          </a:xfrm>
          <a:prstGeom prst="ellipse">
            <a:avLst/>
          </a:prstGeom>
          <a:solidFill>
            <a:srgbClr val="1E4D3A"/>
          </a:solidFill>
          <a:ln/>
        </p:spPr>
      </p:sp>
      <p:pic>
        <p:nvPicPr>
          <p:cNvPr id="18" name="Image 3" descr="preencoded.png">    </p:cNvPr>
          <p:cNvPicPr>
            <a:picLocks noChangeAspect="1"/>
          </p:cNvPicPr>
          <p:nvPr/>
        </p:nvPicPr>
        <p:blipFill>
          <a:blip r:embed="rId4"/>
          <a:stretch>
            <a:fillRect/>
          </a:stretch>
        </p:blipFill>
        <p:spPr>
          <a:xfrm>
            <a:off x="903427" y="3619195"/>
            <a:ext cx="332842" cy="332842"/>
          </a:xfrm>
          <a:prstGeom prst="rect">
            <a:avLst/>
          </a:prstGeom>
        </p:spPr>
      </p:pic>
      <p:sp>
        <p:nvSpPr>
          <p:cNvPr id="19" name="Text 13"/>
          <p:cNvSpPr txBox="1"/>
          <p:nvPr/>
        </p:nvSpPr>
        <p:spPr>
          <a:xfrm>
            <a:off x="1554480" y="3172968"/>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すぐに醗酵生活に落とし込める。作って持ち帰り、すぐ実践！</a:t>
            </a:r>
            <a:endParaRPr lang="en-US" sz="1500" dirty="0"/>
          </a:p>
        </p:txBody>
      </p:sp>
      <p:sp>
        <p:nvSpPr>
          <p:cNvPr id="20" name="Shape 14"/>
          <p:cNvSpPr/>
          <p:nvPr/>
        </p:nvSpPr>
        <p:spPr>
          <a:xfrm>
            <a:off x="4315968" y="3081528"/>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21" name="Shape 15"/>
          <p:cNvSpPr/>
          <p:nvPr/>
        </p:nvSpPr>
        <p:spPr>
          <a:xfrm>
            <a:off x="4517136" y="3465576"/>
            <a:ext cx="640080" cy="640080"/>
          </a:xfrm>
          <a:prstGeom prst="ellipse">
            <a:avLst/>
          </a:prstGeom>
          <a:solidFill>
            <a:srgbClr val="1E4D3A"/>
          </a:solidFill>
          <a:ln/>
        </p:spPr>
      </p:sp>
      <p:pic>
        <p:nvPicPr>
          <p:cNvPr id="22" name="Image 4" descr="preencoded.png">    </p:cNvPr>
          <p:cNvPicPr>
            <a:picLocks noChangeAspect="1"/>
          </p:cNvPicPr>
          <p:nvPr/>
        </p:nvPicPr>
        <p:blipFill>
          <a:blip r:embed="rId5"/>
          <a:stretch>
            <a:fillRect/>
          </a:stretch>
        </p:blipFill>
        <p:spPr>
          <a:xfrm>
            <a:off x="4670755" y="3619195"/>
            <a:ext cx="332842" cy="332842"/>
          </a:xfrm>
          <a:prstGeom prst="rect">
            <a:avLst/>
          </a:prstGeom>
        </p:spPr>
      </p:pic>
      <p:sp>
        <p:nvSpPr>
          <p:cNvPr id="23" name="Text 16"/>
          <p:cNvSpPr txBox="1"/>
          <p:nvPr/>
        </p:nvSpPr>
        <p:spPr>
          <a:xfrm>
            <a:off x="5321808" y="3172968"/>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現状に合わせた醗酵生活で！腸活、健康！</a:t>
            </a:r>
            <a:endParaRPr lang="en-US" sz="1500" dirty="0"/>
          </a:p>
        </p:txBody>
      </p:sp>
      <p:sp>
        <p:nvSpPr>
          <p:cNvPr id="24" name="Shape 17"/>
          <p:cNvSpPr/>
          <p:nvPr/>
        </p:nvSpPr>
        <p:spPr>
          <a:xfrm>
            <a:off x="8083296" y="3081528"/>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25" name="Shape 18"/>
          <p:cNvSpPr/>
          <p:nvPr/>
        </p:nvSpPr>
        <p:spPr>
          <a:xfrm>
            <a:off x="8284464" y="3465576"/>
            <a:ext cx="640080" cy="640080"/>
          </a:xfrm>
          <a:prstGeom prst="ellipse">
            <a:avLst/>
          </a:prstGeom>
          <a:solidFill>
            <a:srgbClr val="1E4D3A"/>
          </a:solidFill>
          <a:ln/>
        </p:spPr>
      </p:sp>
      <p:pic>
        <p:nvPicPr>
          <p:cNvPr id="26" name="Image 5" descr="preencoded.png">    </p:cNvPr>
          <p:cNvPicPr>
            <a:picLocks noChangeAspect="1"/>
          </p:cNvPicPr>
          <p:nvPr/>
        </p:nvPicPr>
        <p:blipFill>
          <a:blip r:embed="rId6"/>
          <a:stretch>
            <a:fillRect/>
          </a:stretch>
        </p:blipFill>
        <p:spPr>
          <a:xfrm>
            <a:off x="8438083" y="3619195"/>
            <a:ext cx="332842" cy="332842"/>
          </a:xfrm>
          <a:prstGeom prst="rect">
            <a:avLst/>
          </a:prstGeom>
        </p:spPr>
      </p:pic>
      <p:sp>
        <p:nvSpPr>
          <p:cNvPr id="27" name="Text 19"/>
          <p:cNvSpPr txBox="1"/>
          <p:nvPr/>
        </p:nvSpPr>
        <p:spPr>
          <a:xfrm>
            <a:off x="9089136" y="3172968"/>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伝承する立場（講師）となり、楽しく社会貢献！</a:t>
            </a:r>
            <a:endParaRPr lang="en-US" sz="1500" dirty="0"/>
          </a:p>
        </p:txBody>
      </p:sp>
      <p:sp>
        <p:nvSpPr>
          <p:cNvPr id="28" name="Shape 20"/>
          <p:cNvSpPr/>
          <p:nvPr/>
        </p:nvSpPr>
        <p:spPr>
          <a:xfrm>
            <a:off x="548640" y="4654296"/>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29" name="Shape 21"/>
          <p:cNvSpPr/>
          <p:nvPr/>
        </p:nvSpPr>
        <p:spPr>
          <a:xfrm>
            <a:off x="749808" y="5038344"/>
            <a:ext cx="640080" cy="640080"/>
          </a:xfrm>
          <a:prstGeom prst="ellipse">
            <a:avLst/>
          </a:prstGeom>
          <a:solidFill>
            <a:srgbClr val="1E4D3A"/>
          </a:solidFill>
          <a:ln/>
        </p:spPr>
      </p:sp>
      <p:pic>
        <p:nvPicPr>
          <p:cNvPr id="30" name="Image 6" descr="preencoded.png">    </p:cNvPr>
          <p:cNvPicPr>
            <a:picLocks noChangeAspect="1"/>
          </p:cNvPicPr>
          <p:nvPr/>
        </p:nvPicPr>
        <p:blipFill>
          <a:blip r:embed="rId7"/>
          <a:stretch>
            <a:fillRect/>
          </a:stretch>
        </p:blipFill>
        <p:spPr>
          <a:xfrm>
            <a:off x="903427" y="5191963"/>
            <a:ext cx="332842" cy="332842"/>
          </a:xfrm>
          <a:prstGeom prst="rect">
            <a:avLst/>
          </a:prstGeom>
        </p:spPr>
      </p:pic>
      <p:sp>
        <p:nvSpPr>
          <p:cNvPr id="31" name="Text 22"/>
          <p:cNvSpPr txBox="1"/>
          <p:nvPr/>
        </p:nvSpPr>
        <p:spPr>
          <a:xfrm>
            <a:off x="1554480" y="4745736"/>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食の安心安全、食の備蓄（陸稲・菊芋・醗酵食）の実践！</a:t>
            </a:r>
            <a:endParaRPr lang="en-US" sz="1500" dirty="0"/>
          </a:p>
        </p:txBody>
      </p:sp>
      <p:sp>
        <p:nvSpPr>
          <p:cNvPr id="32" name="Shape 23"/>
          <p:cNvSpPr/>
          <p:nvPr/>
        </p:nvSpPr>
        <p:spPr>
          <a:xfrm>
            <a:off x="4315968" y="4654296"/>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33" name="Shape 24"/>
          <p:cNvSpPr/>
          <p:nvPr/>
        </p:nvSpPr>
        <p:spPr>
          <a:xfrm>
            <a:off x="4517136" y="5038344"/>
            <a:ext cx="640080" cy="640080"/>
          </a:xfrm>
          <a:prstGeom prst="ellipse">
            <a:avLst/>
          </a:prstGeom>
          <a:solidFill>
            <a:srgbClr val="1E4D3A"/>
          </a:solidFill>
          <a:ln/>
        </p:spPr>
      </p:sp>
      <p:pic>
        <p:nvPicPr>
          <p:cNvPr id="34" name="Image 7" descr="preencoded.png">    </p:cNvPr>
          <p:cNvPicPr>
            <a:picLocks noChangeAspect="1"/>
          </p:cNvPicPr>
          <p:nvPr/>
        </p:nvPicPr>
        <p:blipFill>
          <a:blip r:embed="rId8"/>
          <a:stretch>
            <a:fillRect/>
          </a:stretch>
        </p:blipFill>
        <p:spPr>
          <a:xfrm>
            <a:off x="4670755" y="5191963"/>
            <a:ext cx="332842" cy="332842"/>
          </a:xfrm>
          <a:prstGeom prst="rect">
            <a:avLst/>
          </a:prstGeom>
        </p:spPr>
      </p:pic>
      <p:sp>
        <p:nvSpPr>
          <p:cNvPr id="35" name="Text 25"/>
          <p:cNvSpPr txBox="1"/>
          <p:nvPr/>
        </p:nvSpPr>
        <p:spPr>
          <a:xfrm>
            <a:off x="5321808" y="4745736"/>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自然と季節の恵み（きのこ・野草・山菜）とポタジェを活用し楽しめる</a:t>
            </a:r>
            <a:endParaRPr lang="en-US" sz="1500" dirty="0"/>
          </a:p>
        </p:txBody>
      </p:sp>
      <p:sp>
        <p:nvSpPr>
          <p:cNvPr id="36" name="Shape 26"/>
          <p:cNvSpPr/>
          <p:nvPr/>
        </p:nvSpPr>
        <p:spPr>
          <a:xfrm>
            <a:off x="8083296" y="4654296"/>
            <a:ext cx="3529584" cy="1417320"/>
          </a:xfrm>
          <a:prstGeom prst="roundRect">
            <a:avLst>
              <a:gd name="adj" fmla="val 7742"/>
            </a:avLst>
          </a:prstGeom>
          <a:solidFill>
            <a:srgbClr val="F6F8F4"/>
          </a:solidFill>
          <a:ln/>
          <a:effectLst>
            <a:outerShdw sx="100000" sy="100000" kx="0" ky="0" algn="bl" rotWithShape="0" blurRad="127000" dist="25400" dir="5400000">
              <a:srgbClr val="000000">
                <a:alpha val="13000"/>
              </a:srgbClr>
            </a:outerShdw>
          </a:effectLst>
        </p:spPr>
      </p:sp>
      <p:sp>
        <p:nvSpPr>
          <p:cNvPr id="37" name="Shape 27"/>
          <p:cNvSpPr/>
          <p:nvPr/>
        </p:nvSpPr>
        <p:spPr>
          <a:xfrm>
            <a:off x="8284464" y="5038344"/>
            <a:ext cx="640080" cy="640080"/>
          </a:xfrm>
          <a:prstGeom prst="ellipse">
            <a:avLst/>
          </a:prstGeom>
          <a:solidFill>
            <a:srgbClr val="1E4D3A"/>
          </a:solidFill>
          <a:ln/>
        </p:spPr>
      </p:sp>
      <p:pic>
        <p:nvPicPr>
          <p:cNvPr id="38" name="Image 8" descr="preencoded.png">    </p:cNvPr>
          <p:cNvPicPr>
            <a:picLocks noChangeAspect="1"/>
          </p:cNvPicPr>
          <p:nvPr/>
        </p:nvPicPr>
        <p:blipFill>
          <a:blip r:embed="rId9"/>
          <a:stretch>
            <a:fillRect/>
          </a:stretch>
        </p:blipFill>
        <p:spPr>
          <a:xfrm>
            <a:off x="8438083" y="5191963"/>
            <a:ext cx="332842" cy="332842"/>
          </a:xfrm>
          <a:prstGeom prst="rect">
            <a:avLst/>
          </a:prstGeom>
        </p:spPr>
      </p:pic>
      <p:sp>
        <p:nvSpPr>
          <p:cNvPr id="39" name="Text 28"/>
          <p:cNvSpPr txBox="1"/>
          <p:nvPr/>
        </p:nvSpPr>
        <p:spPr>
          <a:xfrm>
            <a:off x="9089136" y="4745736"/>
            <a:ext cx="2423160" cy="123444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米パン、グルテンフリーのフランス菓子を楽しく学ぶ　etc.</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サポート体制</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4月から1年間、毎回合宿型の塾を全6回開催</a:t>
            </a:r>
            <a:endParaRPr lang="en-US" sz="3000" dirty="0"/>
          </a:p>
        </p:txBody>
      </p:sp>
      <p:sp>
        <p:nvSpPr>
          <p:cNvPr id="4" name="Shape 2"/>
          <p:cNvSpPr/>
          <p:nvPr/>
        </p:nvSpPr>
        <p:spPr>
          <a:xfrm>
            <a:off x="1280160" y="2514600"/>
            <a:ext cx="9601200" cy="0"/>
          </a:xfrm>
          <a:prstGeom prst="line">
            <a:avLst/>
          </a:prstGeom>
          <a:noFill/>
          <a:ln w="38100">
            <a:solidFill>
              <a:srgbClr val="D8DED4"/>
            </a:solidFill>
            <a:prstDash val="solid"/>
          </a:ln>
        </p:spPr>
      </p:sp>
      <p:sp>
        <p:nvSpPr>
          <p:cNvPr id="5" name="Shape 3"/>
          <p:cNvSpPr/>
          <p:nvPr/>
        </p:nvSpPr>
        <p:spPr>
          <a:xfrm>
            <a:off x="731520" y="1965960"/>
            <a:ext cx="1097280" cy="1097280"/>
          </a:xfrm>
          <a:prstGeom prst="ellipse">
            <a:avLst/>
          </a:prstGeom>
          <a:solidFill>
            <a:srgbClr val="1E4D3A"/>
          </a:solidFill>
          <a:ln/>
          <a:effectLst>
            <a:outerShdw sx="100000" sy="100000" kx="0" ky="0" algn="bl" rotWithShape="0" blurRad="127000" dist="25400" dir="5400000">
              <a:srgbClr val="000000">
                <a:alpha val="13000"/>
              </a:srgbClr>
            </a:outerShdw>
          </a:effectLst>
        </p:spPr>
      </p:sp>
      <p:sp>
        <p:nvSpPr>
          <p:cNvPr id="6" name="Text 4"/>
          <p:cNvSpPr txBox="1"/>
          <p:nvPr/>
        </p:nvSpPr>
        <p:spPr>
          <a:xfrm>
            <a:off x="731520" y="1965960"/>
            <a:ext cx="1097280" cy="109728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4月</a:t>
            </a:r>
            <a:endParaRPr lang="en-US" sz="2200" dirty="0"/>
          </a:p>
        </p:txBody>
      </p:sp>
      <p:sp>
        <p:nvSpPr>
          <p:cNvPr id="7" name="Text 5"/>
          <p:cNvSpPr txBox="1"/>
          <p:nvPr/>
        </p:nvSpPr>
        <p:spPr>
          <a:xfrm>
            <a:off x="457200" y="3154680"/>
            <a:ext cx="1645920" cy="365760"/>
          </a:xfrm>
          <a:prstGeom prst="rect">
            <a:avLst/>
          </a:prstGeom>
          <a:noFill/>
          <a:ln/>
        </p:spPr>
        <p:txBody>
          <a:bodyPr wrap="square" lIns="635" tIns="635" rIns="635" bIns="635" rtlCol="0" anchor="t"/>
          <a:lstStyle/>
          <a:p>
            <a:pPr algn="ct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2泊3日</a:t>
            </a:r>
            <a:endParaRPr lang="en-US" sz="1600" dirty="0"/>
          </a:p>
        </p:txBody>
      </p:sp>
      <p:sp>
        <p:nvSpPr>
          <p:cNvPr id="8" name="Shape 6"/>
          <p:cNvSpPr/>
          <p:nvPr/>
        </p:nvSpPr>
        <p:spPr>
          <a:xfrm>
            <a:off x="2651760" y="1965960"/>
            <a:ext cx="1097280" cy="1097280"/>
          </a:xfrm>
          <a:prstGeom prst="ellipse">
            <a:avLst/>
          </a:prstGeom>
          <a:solidFill>
            <a:srgbClr val="1E4D3A"/>
          </a:solidFill>
          <a:ln/>
          <a:effectLst>
            <a:outerShdw sx="100000" sy="100000" kx="0" ky="0" algn="bl" rotWithShape="0" blurRad="127000" dist="25400" dir="5400000">
              <a:srgbClr val="000000">
                <a:alpha val="13000"/>
              </a:srgbClr>
            </a:outerShdw>
          </a:effectLst>
        </p:spPr>
      </p:sp>
      <p:sp>
        <p:nvSpPr>
          <p:cNvPr id="9" name="Text 7"/>
          <p:cNvSpPr txBox="1"/>
          <p:nvPr/>
        </p:nvSpPr>
        <p:spPr>
          <a:xfrm>
            <a:off x="2651760" y="1965960"/>
            <a:ext cx="1097280" cy="109728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6月</a:t>
            </a:r>
            <a:endParaRPr lang="en-US" sz="2200" dirty="0"/>
          </a:p>
        </p:txBody>
      </p:sp>
      <p:sp>
        <p:nvSpPr>
          <p:cNvPr id="10" name="Text 8"/>
          <p:cNvSpPr txBox="1"/>
          <p:nvPr/>
        </p:nvSpPr>
        <p:spPr>
          <a:xfrm>
            <a:off x="2377440" y="3154680"/>
            <a:ext cx="1645920" cy="365760"/>
          </a:xfrm>
          <a:prstGeom prst="rect">
            <a:avLst/>
          </a:prstGeom>
          <a:noFill/>
          <a:ln/>
        </p:spPr>
        <p:txBody>
          <a:bodyPr wrap="square" lIns="635" tIns="635" rIns="635" bIns="635" rtlCol="0" anchor="t"/>
          <a:lstStyle/>
          <a:p>
            <a:pPr algn="ct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2泊3日</a:t>
            </a:r>
            <a:endParaRPr lang="en-US" sz="1600" dirty="0"/>
          </a:p>
        </p:txBody>
      </p:sp>
      <p:sp>
        <p:nvSpPr>
          <p:cNvPr id="11" name="Shape 9"/>
          <p:cNvSpPr/>
          <p:nvPr/>
        </p:nvSpPr>
        <p:spPr>
          <a:xfrm>
            <a:off x="4572000" y="1965960"/>
            <a:ext cx="1097280" cy="1097280"/>
          </a:xfrm>
          <a:prstGeom prst="ellipse">
            <a:avLst/>
          </a:prstGeom>
          <a:solidFill>
            <a:srgbClr val="1E4D3A"/>
          </a:solidFill>
          <a:ln/>
          <a:effectLst>
            <a:outerShdw sx="100000" sy="100000" kx="0" ky="0" algn="bl" rotWithShape="0" blurRad="127000" dist="25400" dir="5400000">
              <a:srgbClr val="000000">
                <a:alpha val="13000"/>
              </a:srgbClr>
            </a:outerShdw>
          </a:effectLst>
        </p:spPr>
      </p:sp>
      <p:sp>
        <p:nvSpPr>
          <p:cNvPr id="12" name="Text 10"/>
          <p:cNvSpPr txBox="1"/>
          <p:nvPr/>
        </p:nvSpPr>
        <p:spPr>
          <a:xfrm>
            <a:off x="4572000" y="1965960"/>
            <a:ext cx="1097280" cy="109728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8月</a:t>
            </a:r>
            <a:endParaRPr lang="en-US" sz="2200" dirty="0"/>
          </a:p>
        </p:txBody>
      </p:sp>
      <p:sp>
        <p:nvSpPr>
          <p:cNvPr id="13" name="Text 11"/>
          <p:cNvSpPr txBox="1"/>
          <p:nvPr/>
        </p:nvSpPr>
        <p:spPr>
          <a:xfrm>
            <a:off x="4297680" y="3154680"/>
            <a:ext cx="1645920" cy="365760"/>
          </a:xfrm>
          <a:prstGeom prst="rect">
            <a:avLst/>
          </a:prstGeom>
          <a:noFill/>
          <a:ln/>
        </p:spPr>
        <p:txBody>
          <a:bodyPr wrap="square" lIns="635" tIns="635" rIns="635" bIns="635" rtlCol="0" anchor="t"/>
          <a:lstStyle/>
          <a:p>
            <a:pPr algn="ct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2泊3日</a:t>
            </a:r>
            <a:endParaRPr lang="en-US" sz="1600" dirty="0"/>
          </a:p>
        </p:txBody>
      </p:sp>
      <p:sp>
        <p:nvSpPr>
          <p:cNvPr id="14" name="Shape 12"/>
          <p:cNvSpPr/>
          <p:nvPr/>
        </p:nvSpPr>
        <p:spPr>
          <a:xfrm>
            <a:off x="6492240" y="1965960"/>
            <a:ext cx="1097280" cy="1097280"/>
          </a:xfrm>
          <a:prstGeom prst="ellipse">
            <a:avLst/>
          </a:prstGeom>
          <a:solidFill>
            <a:srgbClr val="E8A33D"/>
          </a:solidFill>
          <a:ln/>
          <a:effectLst>
            <a:outerShdw sx="100000" sy="100000" kx="0" ky="0" algn="bl" rotWithShape="0" blurRad="127000" dist="25400" dir="5400000">
              <a:srgbClr val="000000">
                <a:alpha val="13000"/>
              </a:srgbClr>
            </a:outerShdw>
          </a:effectLst>
        </p:spPr>
      </p:sp>
      <p:sp>
        <p:nvSpPr>
          <p:cNvPr id="15" name="Text 13"/>
          <p:cNvSpPr txBox="1"/>
          <p:nvPr/>
        </p:nvSpPr>
        <p:spPr>
          <a:xfrm>
            <a:off x="6492240" y="1965960"/>
            <a:ext cx="1097280" cy="109728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10月</a:t>
            </a:r>
            <a:endParaRPr lang="en-US" sz="2200" dirty="0"/>
          </a:p>
        </p:txBody>
      </p:sp>
      <p:sp>
        <p:nvSpPr>
          <p:cNvPr id="16" name="Text 14"/>
          <p:cNvSpPr txBox="1"/>
          <p:nvPr/>
        </p:nvSpPr>
        <p:spPr>
          <a:xfrm>
            <a:off x="6217920" y="3154680"/>
            <a:ext cx="1645920" cy="365760"/>
          </a:xfrm>
          <a:prstGeom prst="rect">
            <a:avLst/>
          </a:prstGeom>
          <a:noFill/>
          <a:ln/>
        </p:spPr>
        <p:txBody>
          <a:bodyPr wrap="square" lIns="635" tIns="635" rIns="635" bIns="635" rtlCol="0" anchor="t"/>
          <a:lstStyle/>
          <a:p>
            <a:pPr algn="ct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3泊4日</a:t>
            </a:r>
            <a:endParaRPr lang="en-US" sz="1600" dirty="0"/>
          </a:p>
        </p:txBody>
      </p:sp>
      <p:sp>
        <p:nvSpPr>
          <p:cNvPr id="17" name="Shape 15"/>
          <p:cNvSpPr/>
          <p:nvPr/>
        </p:nvSpPr>
        <p:spPr>
          <a:xfrm>
            <a:off x="8412480" y="1965960"/>
            <a:ext cx="1097280" cy="1097280"/>
          </a:xfrm>
          <a:prstGeom prst="ellipse">
            <a:avLst/>
          </a:prstGeom>
          <a:solidFill>
            <a:srgbClr val="1E4D3A"/>
          </a:solidFill>
          <a:ln/>
          <a:effectLst>
            <a:outerShdw sx="100000" sy="100000" kx="0" ky="0" algn="bl" rotWithShape="0" blurRad="127000" dist="25400" dir="5400000">
              <a:srgbClr val="000000">
                <a:alpha val="13000"/>
              </a:srgbClr>
            </a:outerShdw>
          </a:effectLst>
        </p:spPr>
      </p:sp>
      <p:sp>
        <p:nvSpPr>
          <p:cNvPr id="18" name="Text 16"/>
          <p:cNvSpPr txBox="1"/>
          <p:nvPr/>
        </p:nvSpPr>
        <p:spPr>
          <a:xfrm>
            <a:off x="8412480" y="1965960"/>
            <a:ext cx="1097280" cy="109728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12月</a:t>
            </a:r>
            <a:endParaRPr lang="en-US" sz="2200" dirty="0"/>
          </a:p>
        </p:txBody>
      </p:sp>
      <p:sp>
        <p:nvSpPr>
          <p:cNvPr id="19" name="Text 17"/>
          <p:cNvSpPr txBox="1"/>
          <p:nvPr/>
        </p:nvSpPr>
        <p:spPr>
          <a:xfrm>
            <a:off x="8138160" y="3154680"/>
            <a:ext cx="1645920" cy="365760"/>
          </a:xfrm>
          <a:prstGeom prst="rect">
            <a:avLst/>
          </a:prstGeom>
          <a:noFill/>
          <a:ln/>
        </p:spPr>
        <p:txBody>
          <a:bodyPr wrap="square" lIns="635" tIns="635" rIns="635" bIns="635" rtlCol="0" anchor="t"/>
          <a:lstStyle/>
          <a:p>
            <a:pPr algn="ct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1泊2日</a:t>
            </a:r>
            <a:endParaRPr lang="en-US" sz="1600" dirty="0"/>
          </a:p>
        </p:txBody>
      </p:sp>
      <p:sp>
        <p:nvSpPr>
          <p:cNvPr id="20" name="Shape 18"/>
          <p:cNvSpPr/>
          <p:nvPr/>
        </p:nvSpPr>
        <p:spPr>
          <a:xfrm>
            <a:off x="10332720" y="1965960"/>
            <a:ext cx="1097280" cy="1097280"/>
          </a:xfrm>
          <a:prstGeom prst="ellipse">
            <a:avLst/>
          </a:prstGeom>
          <a:solidFill>
            <a:srgbClr val="1E4D3A"/>
          </a:solidFill>
          <a:ln/>
          <a:effectLst>
            <a:outerShdw sx="100000" sy="100000" kx="0" ky="0" algn="bl" rotWithShape="0" blurRad="127000" dist="25400" dir="5400000">
              <a:srgbClr val="000000">
                <a:alpha val="13000"/>
              </a:srgbClr>
            </a:outerShdw>
          </a:effectLst>
        </p:spPr>
      </p:sp>
      <p:sp>
        <p:nvSpPr>
          <p:cNvPr id="21" name="Text 19"/>
          <p:cNvSpPr txBox="1"/>
          <p:nvPr/>
        </p:nvSpPr>
        <p:spPr>
          <a:xfrm>
            <a:off x="10332720" y="1965960"/>
            <a:ext cx="1097280" cy="109728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2月</a:t>
            </a:r>
            <a:endParaRPr lang="en-US" sz="2200" dirty="0"/>
          </a:p>
        </p:txBody>
      </p:sp>
      <p:sp>
        <p:nvSpPr>
          <p:cNvPr id="22" name="Text 20"/>
          <p:cNvSpPr txBox="1"/>
          <p:nvPr/>
        </p:nvSpPr>
        <p:spPr>
          <a:xfrm>
            <a:off x="10058400" y="3154680"/>
            <a:ext cx="1645920" cy="365760"/>
          </a:xfrm>
          <a:prstGeom prst="rect">
            <a:avLst/>
          </a:prstGeom>
          <a:noFill/>
          <a:ln/>
        </p:spPr>
        <p:txBody>
          <a:bodyPr wrap="square" lIns="635" tIns="635" rIns="635" bIns="635" rtlCol="0" anchor="t"/>
          <a:lstStyle/>
          <a:p>
            <a:pPr algn="ct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1泊2日</a:t>
            </a:r>
            <a:endParaRPr lang="en-US" sz="1600" dirty="0"/>
          </a:p>
        </p:txBody>
      </p:sp>
      <p:sp>
        <p:nvSpPr>
          <p:cNvPr id="23" name="Shape 21"/>
          <p:cNvSpPr/>
          <p:nvPr/>
        </p:nvSpPr>
        <p:spPr>
          <a:xfrm>
            <a:off x="548640" y="3931920"/>
            <a:ext cx="11064240" cy="2240280"/>
          </a:xfrm>
          <a:prstGeom prst="roundRect">
            <a:avLst>
              <a:gd name="adj" fmla="val 4898"/>
            </a:avLst>
          </a:prstGeom>
          <a:solidFill>
            <a:srgbClr val="EEF5EA"/>
          </a:solidFill>
          <a:ln/>
        </p:spPr>
      </p:sp>
      <p:pic>
        <p:nvPicPr>
          <p:cNvPr id="24" name="Image 0" descr="/root/work/gen/p_s23_949c9115_528x328_EEF5EA.jpg">    </p:cNvPr>
          <p:cNvPicPr>
            <a:picLocks noChangeAspect="1"/>
          </p:cNvPicPr>
          <p:nvPr/>
        </p:nvPicPr>
        <p:blipFill>
          <a:blip r:embed="rId1"/>
          <a:stretch>
            <a:fillRect/>
          </a:stretch>
        </p:blipFill>
        <p:spPr>
          <a:xfrm>
            <a:off x="777240" y="4114800"/>
            <a:ext cx="3017520" cy="1874520"/>
          </a:xfrm>
          <a:prstGeom prst="rect">
            <a:avLst/>
          </a:prstGeom>
        </p:spPr>
      </p:pic>
      <p:sp>
        <p:nvSpPr>
          <p:cNvPr id="25" name="Text 22"/>
          <p:cNvSpPr txBox="1"/>
          <p:nvPr/>
        </p:nvSpPr>
        <p:spPr>
          <a:xfrm>
            <a:off x="4114800" y="4251960"/>
            <a:ext cx="7315200" cy="640080"/>
          </a:xfrm>
          <a:prstGeom prst="rect">
            <a:avLst/>
          </a:prstGeom>
          <a:noFill/>
          <a:ln/>
        </p:spPr>
        <p:txBody>
          <a:bodyPr wrap="square" lIns="635" tIns="635" rIns="635" bIns="635" rtlCol="0" anchor="t"/>
          <a:lstStyle/>
          <a:p>
            <a:pPr indent="0" marL="0">
              <a:lnSpc>
                <a:spcPct val="120000"/>
              </a:lnSpc>
              <a:buNone/>
            </a:pPr>
            <a:r>
              <a:rPr lang="en-US" sz="2800" b="1" dirty="0">
                <a:solidFill>
                  <a:srgbClr val="1E4D3A"/>
                </a:solidFill>
                <a:latin typeface="BIZ UDPGothic" pitchFamily="34" charset="0"/>
                <a:ea typeface="BIZ UDPGothic" pitchFamily="34" charset="-122"/>
                <a:cs typeface="BIZ UDPGothic" pitchFamily="34" charset="-120"/>
              </a:rPr>
              <a:t>仲間と学ぶ、共に成長</a:t>
            </a:r>
            <a:endParaRPr lang="en-US" sz="2800" dirty="0"/>
          </a:p>
        </p:txBody>
      </p:sp>
      <p:sp>
        <p:nvSpPr>
          <p:cNvPr id="26" name="Text 23"/>
          <p:cNvSpPr txBox="1"/>
          <p:nvPr/>
        </p:nvSpPr>
        <p:spPr>
          <a:xfrm>
            <a:off x="4114800" y="4937760"/>
            <a:ext cx="7223760" cy="914400"/>
          </a:xfrm>
          <a:prstGeom prst="rect">
            <a:avLst/>
          </a:prstGeom>
          <a:noFill/>
          <a:ln/>
        </p:spPr>
        <p:txBody>
          <a:bodyPr wrap="square" lIns="635" tIns="635" rIns="635" bIns="635" rtlCol="0" anchor="t"/>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助け合い・協力・応援。一人では続かないことも、仲間となら楽しく続けられます。</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822960" y="1280160"/>
            <a:ext cx="2743200" cy="109728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05</a:t>
            </a:r>
            <a:endParaRPr lang="en-US" sz="7200" dirty="0"/>
          </a:p>
        </p:txBody>
      </p:sp>
      <p:sp>
        <p:nvSpPr>
          <p:cNvPr id="3" name="Text 1"/>
          <p:cNvSpPr txBox="1"/>
          <p:nvPr/>
        </p:nvSpPr>
        <p:spPr>
          <a:xfrm>
            <a:off x="822960" y="2423160"/>
            <a:ext cx="6400800" cy="914400"/>
          </a:xfrm>
          <a:prstGeom prst="rect">
            <a:avLst/>
          </a:prstGeom>
          <a:noFill/>
          <a:ln/>
        </p:spPr>
        <p:txBody>
          <a:bodyPr wrap="square" lIns="635" tIns="635" rIns="635" bIns="635" rtlCol="0" anchor="t"/>
          <a:lstStyle/>
          <a:p>
            <a:pPr indent="0" marL="0">
              <a:lnSpc>
                <a:spcPct val="120000"/>
              </a:lnSpc>
              <a:buNone/>
            </a:pPr>
            <a:r>
              <a:rPr lang="en-US" sz="4400" dirty="0">
                <a:solidFill>
                  <a:srgbClr val="FFFFFF"/>
                </a:solidFill>
                <a:latin typeface="BIZ UDPMincho" pitchFamily="34" charset="0"/>
                <a:ea typeface="BIZ UDPMincho" pitchFamily="34" charset="-122"/>
                <a:cs typeface="BIZ UDPMincho" pitchFamily="34" charset="-120"/>
              </a:rPr>
              <a:t>ご成約特典のご紹介</a:t>
            </a:r>
            <a:endParaRPr lang="en-US" sz="4400" dirty="0"/>
          </a:p>
        </p:txBody>
      </p:sp>
      <p:sp>
        <p:nvSpPr>
          <p:cNvPr id="4" name="Text 2"/>
          <p:cNvSpPr txBox="1"/>
          <p:nvPr/>
        </p:nvSpPr>
        <p:spPr>
          <a:xfrm>
            <a:off x="822960" y="3474720"/>
            <a:ext cx="5760720" cy="914400"/>
          </a:xfrm>
          <a:prstGeom prst="rect">
            <a:avLst/>
          </a:prstGeom>
          <a:noFill/>
          <a:ln/>
        </p:spPr>
        <p:txBody>
          <a:bodyPr wrap="square" lIns="635" tIns="635" rIns="635" bIns="635" rtlCol="0" anchor="t"/>
          <a:lstStyle/>
          <a:p>
            <a:pPr indent="0" marL="0">
              <a:lnSpc>
                <a:spcPct val="120000"/>
              </a:lnSpc>
              <a:buNone/>
            </a:pPr>
            <a:r>
              <a:rPr lang="en-US" sz="2000" dirty="0">
                <a:solidFill>
                  <a:srgbClr val="CFE0D3"/>
                </a:solidFill>
                <a:latin typeface="BIZ UDPGothic" pitchFamily="34" charset="0"/>
                <a:ea typeface="BIZ UDPGothic" pitchFamily="34" charset="-122"/>
                <a:cs typeface="BIZ UDPGothic" pitchFamily="34" charset="-120"/>
              </a:rPr>
              <a:t>ご成約していただいた方に、成功に導く特別限定特典がついてきます！</a:t>
            </a:r>
            <a:endParaRPr lang="en-US" sz="2000" dirty="0"/>
          </a:p>
        </p:txBody>
      </p:sp>
      <p:pic>
        <p:nvPicPr>
          <p:cNvPr id="5" name="Image 0" descr="/root/work/gen/p_s24_85ba82ea_752x504_a.png">    </p:cNvPr>
          <p:cNvPicPr>
            <a:picLocks noChangeAspect="1"/>
          </p:cNvPicPr>
          <p:nvPr/>
        </p:nvPicPr>
        <p:blipFill>
          <a:blip r:embed="rId1"/>
          <a:stretch>
            <a:fillRect/>
          </a:stretch>
        </p:blipFill>
        <p:spPr>
          <a:xfrm>
            <a:off x="7132320" y="1463040"/>
            <a:ext cx="4297680" cy="288036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ご成約特典</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限定特典 1</a:t>
            </a:r>
            <a:endParaRPr lang="en-US" sz="3000" dirty="0"/>
          </a:p>
        </p:txBody>
      </p:sp>
      <p:sp>
        <p:nvSpPr>
          <p:cNvPr id="4" name="Text 2"/>
          <p:cNvSpPr txBox="1"/>
          <p:nvPr/>
        </p:nvSpPr>
        <p:spPr>
          <a:xfrm>
            <a:off x="548640" y="1463040"/>
            <a:ext cx="7223760" cy="1188720"/>
          </a:xfrm>
          <a:prstGeom prst="rect">
            <a:avLst/>
          </a:prstGeom>
          <a:noFill/>
          <a:ln/>
        </p:spPr>
        <p:txBody>
          <a:bodyPr wrap="square" lIns="635" tIns="635" rIns="635" bIns="635" rtlCol="0" anchor="ctr"/>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フォロー期間無制限 ＆</a:t>
            </a:r>
            <a:endParaRPr lang="en-US" sz="2400" dirty="0"/>
          </a:p>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圃場のリアル見学 随時OK・無制限</a:t>
            </a:r>
            <a:endParaRPr lang="en-US" sz="2400" dirty="0"/>
          </a:p>
        </p:txBody>
      </p:sp>
      <p:sp>
        <p:nvSpPr>
          <p:cNvPr id="5" name="Shape 3"/>
          <p:cNvSpPr/>
          <p:nvPr/>
        </p:nvSpPr>
        <p:spPr>
          <a:xfrm>
            <a:off x="548640" y="2743200"/>
            <a:ext cx="2651760" cy="457200"/>
          </a:xfrm>
          <a:prstGeom prst="roundRect">
            <a:avLst>
              <a:gd name="adj" fmla="val 50000"/>
            </a:avLst>
          </a:prstGeom>
          <a:solidFill>
            <a:srgbClr val="FBF0DC"/>
          </a:solidFill>
          <a:ln/>
        </p:spPr>
      </p:sp>
      <p:sp>
        <p:nvSpPr>
          <p:cNvPr id="6" name="Text 4"/>
          <p:cNvSpPr txBox="1"/>
          <p:nvPr/>
        </p:nvSpPr>
        <p:spPr>
          <a:xfrm>
            <a:off x="548640" y="2743200"/>
            <a:ext cx="2651760" cy="457200"/>
          </a:xfrm>
          <a:prstGeom prst="rect">
            <a:avLst/>
          </a:prstGeom>
          <a:noFill/>
          <a:ln/>
        </p:spPr>
        <p:txBody>
          <a:bodyPr wrap="square" lIns="635" tIns="635" rIns="635" bIns="635" rtlCol="0" anchor="ctr"/>
          <a:lstStyle/>
          <a:p>
            <a:pPr algn="ctr" indent="0" marL="0">
              <a:lnSpc>
                <a:spcPct val="120000"/>
              </a:lnSpc>
              <a:buNone/>
            </a:pPr>
            <a:r>
              <a:rPr lang="en-US" sz="1600" b="1" dirty="0">
                <a:solidFill>
                  <a:srgbClr val="8A5A10"/>
                </a:solidFill>
                <a:latin typeface="BIZ UDPGothic" pitchFamily="34" charset="0"/>
                <a:ea typeface="BIZ UDPGothic" pitchFamily="34" charset="-122"/>
                <a:cs typeface="BIZ UDPGothic" pitchFamily="34" charset="-120"/>
              </a:rPr>
              <a:t>価値 50万円〜 相当</a:t>
            </a:r>
            <a:endParaRPr lang="en-US" sz="1600" dirty="0"/>
          </a:p>
        </p:txBody>
      </p:sp>
      <p:sp>
        <p:nvSpPr>
          <p:cNvPr id="7" name="Shape 5"/>
          <p:cNvSpPr/>
          <p:nvPr/>
        </p:nvSpPr>
        <p:spPr>
          <a:xfrm>
            <a:off x="548640" y="3429000"/>
            <a:ext cx="7223760" cy="2743200"/>
          </a:xfrm>
          <a:prstGeom prst="roundRect">
            <a:avLst>
              <a:gd name="adj" fmla="val 4000"/>
            </a:avLst>
          </a:prstGeom>
          <a:solidFill>
            <a:srgbClr val="F6F8F4"/>
          </a:solidFill>
          <a:ln/>
        </p:spPr>
      </p:sp>
      <p:sp>
        <p:nvSpPr>
          <p:cNvPr id="8" name="Text 6"/>
          <p:cNvSpPr txBox="1"/>
          <p:nvPr/>
        </p:nvSpPr>
        <p:spPr>
          <a:xfrm>
            <a:off x="777240" y="3520440"/>
            <a:ext cx="6766560" cy="25603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成果・結果を出す上で本当に大事なことは、天給自足を学び、現実の生活の中にどれだけ落とし込むための行動がとれるかです。</a:t>
            </a:r>
            <a:endParaRPr lang="en-US" sz="1700" dirty="0"/>
          </a:p>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そのために、塾のサポートを無制限・永久フォロー（メッセンジャー＆LINE）。さらにリアル圃場見学も随時OK。メッセージでの相談をいつでも無制限にお受けしています。</a:t>
            </a:r>
            <a:endParaRPr lang="en-US" sz="1700" dirty="0"/>
          </a:p>
        </p:txBody>
      </p:sp>
      <p:sp>
        <p:nvSpPr>
          <p:cNvPr id="9" name="Shape 7"/>
          <p:cNvSpPr/>
          <p:nvPr/>
        </p:nvSpPr>
        <p:spPr>
          <a:xfrm>
            <a:off x="8503920" y="1920240"/>
            <a:ext cx="2926080" cy="2926080"/>
          </a:xfrm>
          <a:prstGeom prst="ellipse">
            <a:avLst/>
          </a:prstGeom>
          <a:solidFill>
            <a:srgbClr val="EEF5EA"/>
          </a:solidFill>
          <a:ln/>
        </p:spPr>
      </p:sp>
      <p:pic>
        <p:nvPicPr>
          <p:cNvPr id="10" name="Image 0" descr="preencoded.png">    </p:cNvPr>
          <p:cNvPicPr>
            <a:picLocks noChangeAspect="1"/>
          </p:cNvPicPr>
          <p:nvPr/>
        </p:nvPicPr>
        <p:blipFill>
          <a:blip r:embed="rId1"/>
          <a:stretch>
            <a:fillRect/>
          </a:stretch>
        </p:blipFill>
        <p:spPr>
          <a:xfrm>
            <a:off x="9281160" y="2697480"/>
            <a:ext cx="1371600" cy="1371600"/>
          </a:xfrm>
          <a:prstGeom prst="rect">
            <a:avLst/>
          </a:prstGeom>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ご成約特典</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限定特典 2</a:t>
            </a:r>
            <a:endParaRPr lang="en-US" sz="3000" dirty="0"/>
          </a:p>
        </p:txBody>
      </p:sp>
      <p:sp>
        <p:nvSpPr>
          <p:cNvPr id="4" name="Text 2"/>
          <p:cNvSpPr txBox="1"/>
          <p:nvPr/>
        </p:nvSpPr>
        <p:spPr>
          <a:xfrm>
            <a:off x="548640" y="1463040"/>
            <a:ext cx="7223760" cy="1188720"/>
          </a:xfrm>
          <a:prstGeom prst="rect">
            <a:avLst/>
          </a:prstGeom>
          <a:noFill/>
          <a:ln/>
        </p:spPr>
        <p:txBody>
          <a:bodyPr wrap="square" lIns="635" tIns="635" rIns="635" bIns="635" rtlCol="0" anchor="ctr"/>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本格スタートの前に、見学で予備体験ができます</a:t>
            </a:r>
            <a:endParaRPr lang="en-US" sz="2400" dirty="0"/>
          </a:p>
        </p:txBody>
      </p:sp>
      <p:sp>
        <p:nvSpPr>
          <p:cNvPr id="5" name="Shape 3"/>
          <p:cNvSpPr/>
          <p:nvPr/>
        </p:nvSpPr>
        <p:spPr>
          <a:xfrm>
            <a:off x="548640" y="2743200"/>
            <a:ext cx="2651760" cy="457200"/>
          </a:xfrm>
          <a:prstGeom prst="roundRect">
            <a:avLst>
              <a:gd name="adj" fmla="val 50000"/>
            </a:avLst>
          </a:prstGeom>
          <a:solidFill>
            <a:srgbClr val="FBF0DC"/>
          </a:solidFill>
          <a:ln/>
        </p:spPr>
      </p:sp>
      <p:sp>
        <p:nvSpPr>
          <p:cNvPr id="6" name="Text 4"/>
          <p:cNvSpPr txBox="1"/>
          <p:nvPr/>
        </p:nvSpPr>
        <p:spPr>
          <a:xfrm>
            <a:off x="548640" y="2743200"/>
            <a:ext cx="2651760" cy="457200"/>
          </a:xfrm>
          <a:prstGeom prst="rect">
            <a:avLst/>
          </a:prstGeom>
          <a:noFill/>
          <a:ln/>
        </p:spPr>
        <p:txBody>
          <a:bodyPr wrap="square" lIns="635" tIns="635" rIns="635" bIns="635" rtlCol="0" anchor="ctr"/>
          <a:lstStyle/>
          <a:p>
            <a:pPr algn="ctr" indent="0" marL="0">
              <a:lnSpc>
                <a:spcPct val="120000"/>
              </a:lnSpc>
              <a:buNone/>
            </a:pPr>
            <a:r>
              <a:rPr lang="en-US" sz="1600" b="1" dirty="0">
                <a:solidFill>
                  <a:srgbClr val="8A5A10"/>
                </a:solidFill>
                <a:latin typeface="BIZ UDPGothic" pitchFamily="34" charset="0"/>
                <a:ea typeface="BIZ UDPGothic" pitchFamily="34" charset="-122"/>
                <a:cs typeface="BIZ UDPGothic" pitchFamily="34" charset="-120"/>
              </a:rPr>
              <a:t>価値 50万円〜 相当</a:t>
            </a:r>
            <a:endParaRPr lang="en-US" sz="1600" dirty="0"/>
          </a:p>
        </p:txBody>
      </p:sp>
      <p:sp>
        <p:nvSpPr>
          <p:cNvPr id="7" name="Shape 5"/>
          <p:cNvSpPr/>
          <p:nvPr/>
        </p:nvSpPr>
        <p:spPr>
          <a:xfrm>
            <a:off x="548640" y="3429000"/>
            <a:ext cx="7223760" cy="2743200"/>
          </a:xfrm>
          <a:prstGeom prst="roundRect">
            <a:avLst>
              <a:gd name="adj" fmla="val 4000"/>
            </a:avLst>
          </a:prstGeom>
          <a:solidFill>
            <a:srgbClr val="F6F8F4"/>
          </a:solidFill>
          <a:ln/>
        </p:spPr>
      </p:sp>
      <p:sp>
        <p:nvSpPr>
          <p:cNvPr id="8" name="Text 6"/>
          <p:cNvSpPr txBox="1"/>
          <p:nvPr/>
        </p:nvSpPr>
        <p:spPr>
          <a:xfrm>
            <a:off x="777240" y="3520440"/>
            <a:ext cx="6766560" cy="25603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開始の前に、予備体験ができます。4月から始まる天給自足の意図と前提、成果を出すためのポイントを事前に理解しているかどうかで、実践の効果が変わります。</a:t>
            </a:r>
            <a:endParaRPr lang="en-US" sz="1700" dirty="0"/>
          </a:p>
        </p:txBody>
      </p:sp>
      <p:pic>
        <p:nvPicPr>
          <p:cNvPr id="9" name="Image 0" descr="/root/work/gen/p_s26_03ceced8_608x816_FFFFFF.jpg">    </p:cNvPr>
          <p:cNvPicPr>
            <a:picLocks noChangeAspect="1"/>
          </p:cNvPicPr>
          <p:nvPr/>
        </p:nvPicPr>
        <p:blipFill>
          <a:blip r:embed="rId1"/>
          <a:stretch>
            <a:fillRect/>
          </a:stretch>
        </p:blipFill>
        <p:spPr>
          <a:xfrm>
            <a:off x="8138160" y="1508760"/>
            <a:ext cx="3474720" cy="466344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ご成約特典</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限定特典 3</a:t>
            </a:r>
            <a:endParaRPr lang="en-US" sz="3000" dirty="0"/>
          </a:p>
        </p:txBody>
      </p:sp>
      <p:sp>
        <p:nvSpPr>
          <p:cNvPr id="4" name="Text 2"/>
          <p:cNvSpPr txBox="1"/>
          <p:nvPr/>
        </p:nvSpPr>
        <p:spPr>
          <a:xfrm>
            <a:off x="548640" y="1463040"/>
            <a:ext cx="7223760" cy="1188720"/>
          </a:xfrm>
          <a:prstGeom prst="rect">
            <a:avLst/>
          </a:prstGeom>
          <a:noFill/>
          <a:ln/>
        </p:spPr>
        <p:txBody>
          <a:bodyPr wrap="square" lIns="635" tIns="635" rIns="635" bIns="635" rtlCol="0" anchor="ctr"/>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醗酵食・野草健康食・天給自足研究会（Facebookグループ）に参加できます</a:t>
            </a:r>
            <a:endParaRPr lang="en-US" sz="2400" dirty="0"/>
          </a:p>
        </p:txBody>
      </p:sp>
      <p:sp>
        <p:nvSpPr>
          <p:cNvPr id="5" name="Shape 3"/>
          <p:cNvSpPr/>
          <p:nvPr/>
        </p:nvSpPr>
        <p:spPr>
          <a:xfrm>
            <a:off x="548640" y="2743200"/>
            <a:ext cx="2651760" cy="457200"/>
          </a:xfrm>
          <a:prstGeom prst="roundRect">
            <a:avLst>
              <a:gd name="adj" fmla="val 50000"/>
            </a:avLst>
          </a:prstGeom>
          <a:solidFill>
            <a:srgbClr val="FBF0DC"/>
          </a:solidFill>
          <a:ln/>
        </p:spPr>
      </p:sp>
      <p:sp>
        <p:nvSpPr>
          <p:cNvPr id="6" name="Text 4"/>
          <p:cNvSpPr txBox="1"/>
          <p:nvPr/>
        </p:nvSpPr>
        <p:spPr>
          <a:xfrm>
            <a:off x="548640" y="2743200"/>
            <a:ext cx="2651760" cy="457200"/>
          </a:xfrm>
          <a:prstGeom prst="rect">
            <a:avLst/>
          </a:prstGeom>
          <a:noFill/>
          <a:ln/>
        </p:spPr>
        <p:txBody>
          <a:bodyPr wrap="square" lIns="635" tIns="635" rIns="635" bIns="635" rtlCol="0" anchor="ctr"/>
          <a:lstStyle/>
          <a:p>
            <a:pPr algn="ctr" indent="0" marL="0">
              <a:lnSpc>
                <a:spcPct val="120000"/>
              </a:lnSpc>
              <a:buNone/>
            </a:pPr>
            <a:r>
              <a:rPr lang="en-US" sz="1600" b="1" dirty="0">
                <a:solidFill>
                  <a:srgbClr val="8A5A10"/>
                </a:solidFill>
                <a:latin typeface="BIZ UDPGothic" pitchFamily="34" charset="0"/>
                <a:ea typeface="BIZ UDPGothic" pitchFamily="34" charset="-122"/>
                <a:cs typeface="BIZ UDPGothic" pitchFamily="34" charset="-120"/>
              </a:rPr>
              <a:t>価値 10万円〜 相当</a:t>
            </a:r>
            <a:endParaRPr lang="en-US" sz="1600" dirty="0"/>
          </a:p>
        </p:txBody>
      </p:sp>
      <p:sp>
        <p:nvSpPr>
          <p:cNvPr id="7" name="Shape 5"/>
          <p:cNvSpPr/>
          <p:nvPr/>
        </p:nvSpPr>
        <p:spPr>
          <a:xfrm>
            <a:off x="548640" y="3429000"/>
            <a:ext cx="7223760" cy="2743200"/>
          </a:xfrm>
          <a:prstGeom prst="roundRect">
            <a:avLst>
              <a:gd name="adj" fmla="val 4000"/>
            </a:avLst>
          </a:prstGeom>
          <a:solidFill>
            <a:srgbClr val="F6F8F4"/>
          </a:solidFill>
          <a:ln/>
        </p:spPr>
      </p:sp>
      <p:sp>
        <p:nvSpPr>
          <p:cNvPr id="8" name="Text 6"/>
          <p:cNvSpPr txBox="1"/>
          <p:nvPr/>
        </p:nvSpPr>
        <p:spPr>
          <a:xfrm>
            <a:off x="777240" y="3520440"/>
            <a:ext cx="6766560" cy="25603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発酵食、野草、自然農を学ぶ研究会です。グルテンフリーメニューの質問・相談もできます。グルテンフリーのフランス菓子作り、ビーガンメニューの研究をします。参加会員同士の繋がりも生まれます。安心安全な食を楽しみましょう。天給自足塾限定のグループミーティングも随時開催。</a:t>
            </a:r>
            <a:endParaRPr lang="en-US" sz="1700" dirty="0"/>
          </a:p>
        </p:txBody>
      </p:sp>
      <p:pic>
        <p:nvPicPr>
          <p:cNvPr id="9" name="Image 0" descr="/root/work/gen/p_s27_ce573b12_608x251_FFFFFF.jpg">    </p:cNvPr>
          <p:cNvPicPr>
            <a:picLocks noChangeAspect="1"/>
          </p:cNvPicPr>
          <p:nvPr/>
        </p:nvPicPr>
        <p:blipFill>
          <a:blip r:embed="rId1"/>
          <a:stretch>
            <a:fillRect/>
          </a:stretch>
        </p:blipFill>
        <p:spPr>
          <a:xfrm>
            <a:off x="8138160" y="1508760"/>
            <a:ext cx="3474720" cy="1432560"/>
          </a:xfrm>
          <a:prstGeom prst="rect">
            <a:avLst/>
          </a:prstGeom>
          <a:effectLst>
            <a:outerShdw sx="100000" sy="100000" kx="0" ky="0" algn="bl" rotWithShape="0" blurRad="127000" dist="25400" dir="5400000">
              <a:srgbClr val="000000">
                <a:alpha val="13000"/>
              </a:srgbClr>
            </a:outerShdw>
          </a:effectLst>
        </p:spPr>
      </p:pic>
      <p:pic>
        <p:nvPicPr>
          <p:cNvPr id="10" name="Image 1" descr="/root/work/gen/p_s27_6dd74595_608x251_FFFFFF.jpg">    </p:cNvPr>
          <p:cNvPicPr>
            <a:picLocks noChangeAspect="1"/>
          </p:cNvPicPr>
          <p:nvPr/>
        </p:nvPicPr>
        <p:blipFill>
          <a:blip r:embed="rId2"/>
          <a:stretch>
            <a:fillRect/>
          </a:stretch>
        </p:blipFill>
        <p:spPr>
          <a:xfrm>
            <a:off x="8138160" y="3124200"/>
            <a:ext cx="3474720" cy="1432560"/>
          </a:xfrm>
          <a:prstGeom prst="rect">
            <a:avLst/>
          </a:prstGeom>
          <a:effectLst>
            <a:outerShdw sx="100000" sy="100000" kx="0" ky="0" algn="bl" rotWithShape="0" blurRad="127000" dist="25400" dir="5400000">
              <a:srgbClr val="000000">
                <a:alpha val="13000"/>
              </a:srgbClr>
            </a:outerShdw>
          </a:effectLst>
        </p:spPr>
      </p:pic>
      <p:pic>
        <p:nvPicPr>
          <p:cNvPr id="11" name="Image 2" descr="/root/work/gen/p_s27_336a8452_608x251_FFFFFF.jpg">    </p:cNvPr>
          <p:cNvPicPr>
            <a:picLocks noChangeAspect="1"/>
          </p:cNvPicPr>
          <p:nvPr/>
        </p:nvPicPr>
        <p:blipFill>
          <a:blip r:embed="rId3"/>
          <a:stretch>
            <a:fillRect/>
          </a:stretch>
        </p:blipFill>
        <p:spPr>
          <a:xfrm>
            <a:off x="8138160" y="4739640"/>
            <a:ext cx="3474720" cy="143256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ご成約特典</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限定特典 4</a:t>
            </a:r>
            <a:endParaRPr lang="en-US" sz="3000" dirty="0"/>
          </a:p>
        </p:txBody>
      </p:sp>
      <p:sp>
        <p:nvSpPr>
          <p:cNvPr id="4" name="Text 2"/>
          <p:cNvSpPr txBox="1"/>
          <p:nvPr/>
        </p:nvSpPr>
        <p:spPr>
          <a:xfrm>
            <a:off x="548640" y="1463040"/>
            <a:ext cx="7223760" cy="1188720"/>
          </a:xfrm>
          <a:prstGeom prst="rect">
            <a:avLst/>
          </a:prstGeom>
          <a:noFill/>
          <a:ln/>
        </p:spPr>
        <p:txBody>
          <a:bodyPr wrap="square" lIns="635" tIns="635" rIns="635" bIns="635" rtlCol="0" anchor="ctr"/>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お米・玄米粉のフランス菓子作りのベースとなる、フランス菓子基礎解説動画をプレゼント！</a:t>
            </a:r>
            <a:endParaRPr lang="en-US" sz="2400" dirty="0"/>
          </a:p>
        </p:txBody>
      </p:sp>
      <p:sp>
        <p:nvSpPr>
          <p:cNvPr id="5" name="Shape 3"/>
          <p:cNvSpPr/>
          <p:nvPr/>
        </p:nvSpPr>
        <p:spPr>
          <a:xfrm>
            <a:off x="548640" y="2743200"/>
            <a:ext cx="2651760" cy="457200"/>
          </a:xfrm>
          <a:prstGeom prst="roundRect">
            <a:avLst>
              <a:gd name="adj" fmla="val 50000"/>
            </a:avLst>
          </a:prstGeom>
          <a:solidFill>
            <a:srgbClr val="FBF0DC"/>
          </a:solidFill>
          <a:ln/>
        </p:spPr>
      </p:sp>
      <p:sp>
        <p:nvSpPr>
          <p:cNvPr id="6" name="Text 4"/>
          <p:cNvSpPr txBox="1"/>
          <p:nvPr/>
        </p:nvSpPr>
        <p:spPr>
          <a:xfrm>
            <a:off x="548640" y="2743200"/>
            <a:ext cx="2651760" cy="457200"/>
          </a:xfrm>
          <a:prstGeom prst="rect">
            <a:avLst/>
          </a:prstGeom>
          <a:noFill/>
          <a:ln/>
        </p:spPr>
        <p:txBody>
          <a:bodyPr wrap="square" lIns="635" tIns="635" rIns="635" bIns="635" rtlCol="0" anchor="ctr"/>
          <a:lstStyle/>
          <a:p>
            <a:pPr algn="ctr" indent="0" marL="0">
              <a:lnSpc>
                <a:spcPct val="120000"/>
              </a:lnSpc>
              <a:buNone/>
            </a:pPr>
            <a:r>
              <a:rPr lang="en-US" sz="1600" b="1" dirty="0">
                <a:solidFill>
                  <a:srgbClr val="8A5A10"/>
                </a:solidFill>
                <a:latin typeface="BIZ UDPGothic" pitchFamily="34" charset="0"/>
                <a:ea typeface="BIZ UDPGothic" pitchFamily="34" charset="-122"/>
                <a:cs typeface="BIZ UDPGothic" pitchFamily="34" charset="-120"/>
              </a:rPr>
              <a:t>価値 10万円〜 相当</a:t>
            </a:r>
            <a:endParaRPr lang="en-US" sz="1600" dirty="0"/>
          </a:p>
        </p:txBody>
      </p:sp>
      <p:sp>
        <p:nvSpPr>
          <p:cNvPr id="7" name="Shape 5"/>
          <p:cNvSpPr/>
          <p:nvPr/>
        </p:nvSpPr>
        <p:spPr>
          <a:xfrm>
            <a:off x="548640" y="3429000"/>
            <a:ext cx="7223760" cy="2743200"/>
          </a:xfrm>
          <a:prstGeom prst="roundRect">
            <a:avLst>
              <a:gd name="adj" fmla="val 4000"/>
            </a:avLst>
          </a:prstGeom>
          <a:solidFill>
            <a:srgbClr val="F6F8F4"/>
          </a:solidFill>
          <a:ln/>
        </p:spPr>
      </p:sp>
      <p:sp>
        <p:nvSpPr>
          <p:cNvPr id="8" name="Text 6"/>
          <p:cNvSpPr txBox="1"/>
          <p:nvPr/>
        </p:nvSpPr>
        <p:spPr>
          <a:xfrm>
            <a:off x="777240" y="3520440"/>
            <a:ext cx="6766560" cy="25603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わたしが50年間で習得したフランス菓子の基本生地の動画をプレゼントします！フランス菓子の基本を応用して、グルテンフリーやビーガンのメニュー作りができます。基本を学ぶことで、ゼロスタートの方でも非常に高い再現性でオリジナルメニュー作りができるようになります。</a:t>
            </a:r>
            <a:endParaRPr lang="en-US" sz="1700" dirty="0"/>
          </a:p>
        </p:txBody>
      </p:sp>
      <p:pic>
        <p:nvPicPr>
          <p:cNvPr id="9" name="Image 0" descr="/root/work/gen/p_s28_eaeec2ab_608x251_FFFFFF.jpg">    </p:cNvPr>
          <p:cNvPicPr>
            <a:picLocks noChangeAspect="1"/>
          </p:cNvPicPr>
          <p:nvPr/>
        </p:nvPicPr>
        <p:blipFill>
          <a:blip r:embed="rId1"/>
          <a:stretch>
            <a:fillRect/>
          </a:stretch>
        </p:blipFill>
        <p:spPr>
          <a:xfrm>
            <a:off x="8138160" y="1508760"/>
            <a:ext cx="3474720" cy="1432560"/>
          </a:xfrm>
          <a:prstGeom prst="rect">
            <a:avLst/>
          </a:prstGeom>
          <a:effectLst>
            <a:outerShdw sx="100000" sy="100000" kx="0" ky="0" algn="bl" rotWithShape="0" blurRad="127000" dist="25400" dir="5400000">
              <a:srgbClr val="000000">
                <a:alpha val="13000"/>
              </a:srgbClr>
            </a:outerShdw>
          </a:effectLst>
        </p:spPr>
      </p:pic>
      <p:pic>
        <p:nvPicPr>
          <p:cNvPr id="10" name="Image 1" descr="/root/work/gen/p_s28_52471d48_608x251_FFFFFF.jpg">    </p:cNvPr>
          <p:cNvPicPr>
            <a:picLocks noChangeAspect="1"/>
          </p:cNvPicPr>
          <p:nvPr/>
        </p:nvPicPr>
        <p:blipFill>
          <a:blip r:embed="rId2"/>
          <a:stretch>
            <a:fillRect/>
          </a:stretch>
        </p:blipFill>
        <p:spPr>
          <a:xfrm>
            <a:off x="8138160" y="3124200"/>
            <a:ext cx="3474720" cy="1432560"/>
          </a:xfrm>
          <a:prstGeom prst="rect">
            <a:avLst/>
          </a:prstGeom>
          <a:effectLst>
            <a:outerShdw sx="100000" sy="100000" kx="0" ky="0" algn="bl" rotWithShape="0" blurRad="127000" dist="25400" dir="5400000">
              <a:srgbClr val="000000">
                <a:alpha val="13000"/>
              </a:srgbClr>
            </a:outerShdw>
          </a:effectLst>
        </p:spPr>
      </p:pic>
      <p:pic>
        <p:nvPicPr>
          <p:cNvPr id="11" name="Image 2" descr="/root/work/gen/p_s28_451a7f34_608x251_FFFFFF.jpg">    </p:cNvPr>
          <p:cNvPicPr>
            <a:picLocks noChangeAspect="1"/>
          </p:cNvPicPr>
          <p:nvPr/>
        </p:nvPicPr>
        <p:blipFill>
          <a:blip r:embed="rId3"/>
          <a:stretch>
            <a:fillRect/>
          </a:stretch>
        </p:blipFill>
        <p:spPr>
          <a:xfrm>
            <a:off x="8138160" y="4739640"/>
            <a:ext cx="3474720" cy="143256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ご成約特典</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限定特典 5</a:t>
            </a:r>
            <a:endParaRPr lang="en-US" sz="3000" dirty="0"/>
          </a:p>
        </p:txBody>
      </p:sp>
      <p:sp>
        <p:nvSpPr>
          <p:cNvPr id="4" name="Text 2"/>
          <p:cNvSpPr txBox="1"/>
          <p:nvPr/>
        </p:nvSpPr>
        <p:spPr>
          <a:xfrm>
            <a:off x="548640" y="1463040"/>
            <a:ext cx="7223760" cy="1188720"/>
          </a:xfrm>
          <a:prstGeom prst="rect">
            <a:avLst/>
          </a:prstGeom>
          <a:noFill/>
          <a:ln/>
        </p:spPr>
        <p:txBody>
          <a:bodyPr wrap="square" lIns="635" tIns="635" rIns="635" bIns="635" rtlCol="0" anchor="ctr"/>
          <a:lstStyle/>
          <a:p>
            <a:pPr indent="0" marL="0">
              <a:lnSpc>
                <a:spcPct val="120000"/>
              </a:lnSpc>
              <a:buNone/>
            </a:pPr>
            <a:r>
              <a:rPr lang="en-US" sz="2400" b="1" dirty="0">
                <a:solidFill>
                  <a:srgbClr val="2B2B2B"/>
                </a:solidFill>
                <a:latin typeface="BIZ UDPGothic" pitchFamily="34" charset="0"/>
                <a:ea typeface="BIZ UDPGothic" pitchFamily="34" charset="-122"/>
                <a:cs typeface="BIZ UDPGothic" pitchFamily="34" charset="-120"/>
              </a:rPr>
              <a:t>クライアント様限定　食がもたらす健康「過去、現在、未来」最新版をプレゼント</a:t>
            </a:r>
            <a:endParaRPr lang="en-US" sz="2400" dirty="0"/>
          </a:p>
        </p:txBody>
      </p:sp>
      <p:sp>
        <p:nvSpPr>
          <p:cNvPr id="5" name="Shape 3"/>
          <p:cNvSpPr/>
          <p:nvPr/>
        </p:nvSpPr>
        <p:spPr>
          <a:xfrm>
            <a:off x="548640" y="2743200"/>
            <a:ext cx="2651760" cy="457200"/>
          </a:xfrm>
          <a:prstGeom prst="roundRect">
            <a:avLst>
              <a:gd name="adj" fmla="val 50000"/>
            </a:avLst>
          </a:prstGeom>
          <a:solidFill>
            <a:srgbClr val="FBF0DC"/>
          </a:solidFill>
          <a:ln/>
        </p:spPr>
      </p:sp>
      <p:sp>
        <p:nvSpPr>
          <p:cNvPr id="6" name="Text 4"/>
          <p:cNvSpPr txBox="1"/>
          <p:nvPr/>
        </p:nvSpPr>
        <p:spPr>
          <a:xfrm>
            <a:off x="548640" y="2743200"/>
            <a:ext cx="2651760" cy="457200"/>
          </a:xfrm>
          <a:prstGeom prst="rect">
            <a:avLst/>
          </a:prstGeom>
          <a:noFill/>
          <a:ln/>
        </p:spPr>
        <p:txBody>
          <a:bodyPr wrap="square" lIns="635" tIns="635" rIns="635" bIns="635" rtlCol="0" anchor="ctr"/>
          <a:lstStyle/>
          <a:p>
            <a:pPr algn="ctr" indent="0" marL="0">
              <a:lnSpc>
                <a:spcPct val="120000"/>
              </a:lnSpc>
              <a:buNone/>
            </a:pPr>
            <a:r>
              <a:rPr lang="en-US" sz="1600" b="1" dirty="0">
                <a:solidFill>
                  <a:srgbClr val="8A5A10"/>
                </a:solidFill>
                <a:latin typeface="BIZ UDPGothic" pitchFamily="34" charset="0"/>
                <a:ea typeface="BIZ UDPGothic" pitchFamily="34" charset="-122"/>
                <a:cs typeface="BIZ UDPGothic" pitchFamily="34" charset="-120"/>
              </a:rPr>
              <a:t>価値 1万円〜 相当</a:t>
            </a:r>
            <a:endParaRPr lang="en-US" sz="1600" dirty="0"/>
          </a:p>
        </p:txBody>
      </p:sp>
      <p:sp>
        <p:nvSpPr>
          <p:cNvPr id="7" name="Shape 5"/>
          <p:cNvSpPr/>
          <p:nvPr/>
        </p:nvSpPr>
        <p:spPr>
          <a:xfrm>
            <a:off x="548640" y="3429000"/>
            <a:ext cx="7223760" cy="2743200"/>
          </a:xfrm>
          <a:prstGeom prst="roundRect">
            <a:avLst>
              <a:gd name="adj" fmla="val 4000"/>
            </a:avLst>
          </a:prstGeom>
          <a:solidFill>
            <a:srgbClr val="F6F8F4"/>
          </a:solidFill>
          <a:ln/>
        </p:spPr>
      </p:sp>
      <p:sp>
        <p:nvSpPr>
          <p:cNvPr id="8" name="Text 6"/>
          <p:cNvSpPr txBox="1"/>
          <p:nvPr/>
        </p:nvSpPr>
        <p:spPr>
          <a:xfrm>
            <a:off x="777240" y="3520440"/>
            <a:ext cx="6766560" cy="2560320"/>
          </a:xfrm>
          <a:prstGeom prst="rect">
            <a:avLst/>
          </a:prstGeom>
          <a:noFill/>
          <a:ln/>
        </p:spPr>
        <p:txBody>
          <a:bodyPr wrap="square" lIns="635" tIns="635" rIns="635" bIns="635" rtlCol="0" anchor="ctr"/>
          <a:lstStyle/>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発酵食、野草健康食、天給自足！</a:t>
            </a:r>
            <a:endParaRPr lang="en-US" sz="1700" dirty="0"/>
          </a:p>
          <a:p>
            <a:pPr indent="0" marL="0">
              <a:lnSpc>
                <a:spcPct val="120000"/>
              </a:lnSpc>
              <a:buNone/>
            </a:pPr>
            <a:r>
              <a:rPr lang="en-US" sz="1700" dirty="0">
                <a:solidFill>
                  <a:srgbClr val="2B2B2B"/>
                </a:solidFill>
                <a:latin typeface="BIZ UDPGothic" pitchFamily="34" charset="0"/>
                <a:ea typeface="BIZ UDPGothic" pitchFamily="34" charset="-122"/>
                <a:cs typeface="BIZ UDPGothic" pitchFamily="34" charset="-120"/>
              </a:rPr>
              <a:t>発酵、野草、天給自足（きのこ、山菜、陸稲、菊芋等々）の情報を共有できる資料です。</a:t>
            </a:r>
            <a:endParaRPr lang="en-US" sz="1700" dirty="0"/>
          </a:p>
        </p:txBody>
      </p:sp>
      <p:pic>
        <p:nvPicPr>
          <p:cNvPr id="9" name="Image 0" descr="/root/work/gen/p_s29_6ce31d67_608x392_FFFFFF.jpg">    </p:cNvPr>
          <p:cNvPicPr>
            <a:picLocks noChangeAspect="1"/>
          </p:cNvPicPr>
          <p:nvPr/>
        </p:nvPicPr>
        <p:blipFill>
          <a:blip r:embed="rId1"/>
          <a:stretch>
            <a:fillRect/>
          </a:stretch>
        </p:blipFill>
        <p:spPr>
          <a:xfrm>
            <a:off x="8138160" y="1508760"/>
            <a:ext cx="3474720" cy="2240280"/>
          </a:xfrm>
          <a:prstGeom prst="rect">
            <a:avLst/>
          </a:prstGeom>
          <a:effectLst>
            <a:outerShdw sx="100000" sy="100000" kx="0" ky="0" algn="bl" rotWithShape="0" blurRad="127000" dist="25400" dir="5400000">
              <a:srgbClr val="000000">
                <a:alpha val="13000"/>
              </a:srgbClr>
            </a:outerShdw>
          </a:effectLst>
        </p:spPr>
      </p:pic>
      <p:pic>
        <p:nvPicPr>
          <p:cNvPr id="10" name="Image 1" descr="/root/work/gen/p_s29_7a84b17b_608x392_FFFFFF.jpg">    </p:cNvPr>
          <p:cNvPicPr>
            <a:picLocks noChangeAspect="1"/>
          </p:cNvPicPr>
          <p:nvPr/>
        </p:nvPicPr>
        <p:blipFill>
          <a:blip r:embed="rId2"/>
          <a:stretch>
            <a:fillRect/>
          </a:stretch>
        </p:blipFill>
        <p:spPr>
          <a:xfrm>
            <a:off x="8138160" y="3931920"/>
            <a:ext cx="3474720" cy="224028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ご成約特典</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特別限定特典一覧</a:t>
            </a:r>
            <a:endParaRPr lang="en-US" sz="3000" dirty="0"/>
          </a:p>
        </p:txBody>
      </p:sp>
      <p:sp>
        <p:nvSpPr>
          <p:cNvPr id="4" name="Shape 2"/>
          <p:cNvSpPr/>
          <p:nvPr/>
        </p:nvSpPr>
        <p:spPr>
          <a:xfrm>
            <a:off x="548640" y="1545336"/>
            <a:ext cx="502920" cy="502920"/>
          </a:xfrm>
          <a:prstGeom prst="ellipse">
            <a:avLst/>
          </a:prstGeom>
          <a:solidFill>
            <a:srgbClr val="1E4D3A"/>
          </a:solidFill>
          <a:ln/>
        </p:spPr>
      </p:sp>
      <p:pic>
        <p:nvPicPr>
          <p:cNvPr id="5" name="Image 0" descr="preencoded.png">    </p:cNvPr>
          <p:cNvPicPr>
            <a:picLocks noChangeAspect="1"/>
          </p:cNvPicPr>
          <p:nvPr/>
        </p:nvPicPr>
        <p:blipFill>
          <a:blip r:embed="rId1"/>
          <a:stretch>
            <a:fillRect/>
          </a:stretch>
        </p:blipFill>
        <p:spPr>
          <a:xfrm>
            <a:off x="669341" y="1666037"/>
            <a:ext cx="261518" cy="261518"/>
          </a:xfrm>
          <a:prstGeom prst="rect">
            <a:avLst/>
          </a:prstGeom>
        </p:spPr>
      </p:pic>
      <p:sp>
        <p:nvSpPr>
          <p:cNvPr id="6" name="Text 3"/>
          <p:cNvSpPr txBox="1"/>
          <p:nvPr/>
        </p:nvSpPr>
        <p:spPr>
          <a:xfrm>
            <a:off x="1188720" y="1508760"/>
            <a:ext cx="5394960" cy="566928"/>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① フォロー＆圃場リアル見学 期間無制限</a:t>
            </a:r>
            <a:endParaRPr lang="en-US" sz="1500" dirty="0"/>
          </a:p>
        </p:txBody>
      </p:sp>
      <p:sp>
        <p:nvSpPr>
          <p:cNvPr id="7" name="Text 4"/>
          <p:cNvSpPr txBox="1"/>
          <p:nvPr/>
        </p:nvSpPr>
        <p:spPr>
          <a:xfrm>
            <a:off x="6492240" y="1508760"/>
            <a:ext cx="1188720" cy="566928"/>
          </a:xfrm>
          <a:prstGeom prst="rect">
            <a:avLst/>
          </a:prstGeom>
          <a:noFill/>
          <a:ln/>
        </p:spPr>
        <p:txBody>
          <a:bodyPr wrap="square" lIns="635" tIns="635" rIns="635" bIns="635" rtlCol="0" anchor="ctr"/>
          <a:lstStyle/>
          <a:p>
            <a:pPr algn="r" indent="0" marL="0">
              <a:lnSpc>
                <a:spcPct val="120000"/>
              </a:lnSpc>
              <a:buNone/>
            </a:pPr>
            <a:r>
              <a:rPr lang="en-US" sz="1500" b="1" dirty="0">
                <a:solidFill>
                  <a:srgbClr val="C8502F"/>
                </a:solidFill>
                <a:latin typeface="BIZ UDPGothic" pitchFamily="34" charset="0"/>
                <a:ea typeface="BIZ UDPGothic" pitchFamily="34" charset="-122"/>
                <a:cs typeface="BIZ UDPGothic" pitchFamily="34" charset="-120"/>
              </a:rPr>
              <a:t>50万円〜</a:t>
            </a:r>
            <a:endParaRPr lang="en-US" sz="1500" dirty="0"/>
          </a:p>
        </p:txBody>
      </p:sp>
      <p:sp>
        <p:nvSpPr>
          <p:cNvPr id="8" name="Shape 5"/>
          <p:cNvSpPr/>
          <p:nvPr/>
        </p:nvSpPr>
        <p:spPr>
          <a:xfrm>
            <a:off x="548640" y="2203704"/>
            <a:ext cx="502920" cy="502920"/>
          </a:xfrm>
          <a:prstGeom prst="ellipse">
            <a:avLst/>
          </a:prstGeom>
          <a:solidFill>
            <a:srgbClr val="1E4D3A"/>
          </a:solidFill>
          <a:ln/>
        </p:spPr>
      </p:sp>
      <p:pic>
        <p:nvPicPr>
          <p:cNvPr id="9" name="Image 1" descr="preencoded.png">    </p:cNvPr>
          <p:cNvPicPr>
            <a:picLocks noChangeAspect="1"/>
          </p:cNvPicPr>
          <p:nvPr/>
        </p:nvPicPr>
        <p:blipFill>
          <a:blip r:embed="rId2"/>
          <a:stretch>
            <a:fillRect/>
          </a:stretch>
        </p:blipFill>
        <p:spPr>
          <a:xfrm>
            <a:off x="669341" y="2324405"/>
            <a:ext cx="261518" cy="261518"/>
          </a:xfrm>
          <a:prstGeom prst="rect">
            <a:avLst/>
          </a:prstGeom>
        </p:spPr>
      </p:pic>
      <p:sp>
        <p:nvSpPr>
          <p:cNvPr id="10" name="Text 6"/>
          <p:cNvSpPr txBox="1"/>
          <p:nvPr/>
        </p:nvSpPr>
        <p:spPr>
          <a:xfrm>
            <a:off x="1188720" y="2167128"/>
            <a:ext cx="5394960" cy="566928"/>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② 本格スタート前のプレ体験</a:t>
            </a:r>
            <a:endParaRPr lang="en-US" sz="1500" dirty="0"/>
          </a:p>
        </p:txBody>
      </p:sp>
      <p:sp>
        <p:nvSpPr>
          <p:cNvPr id="11" name="Text 7"/>
          <p:cNvSpPr txBox="1"/>
          <p:nvPr/>
        </p:nvSpPr>
        <p:spPr>
          <a:xfrm>
            <a:off x="6492240" y="2167128"/>
            <a:ext cx="1188720" cy="566928"/>
          </a:xfrm>
          <a:prstGeom prst="rect">
            <a:avLst/>
          </a:prstGeom>
          <a:noFill/>
          <a:ln/>
        </p:spPr>
        <p:txBody>
          <a:bodyPr wrap="square" lIns="635" tIns="635" rIns="635" bIns="635" rtlCol="0" anchor="ctr"/>
          <a:lstStyle/>
          <a:p>
            <a:pPr algn="r" indent="0" marL="0">
              <a:lnSpc>
                <a:spcPct val="120000"/>
              </a:lnSpc>
              <a:buNone/>
            </a:pPr>
            <a:r>
              <a:rPr lang="en-US" sz="1500" b="1" dirty="0">
                <a:solidFill>
                  <a:srgbClr val="C8502F"/>
                </a:solidFill>
                <a:latin typeface="BIZ UDPGothic" pitchFamily="34" charset="0"/>
                <a:ea typeface="BIZ UDPGothic" pitchFamily="34" charset="-122"/>
                <a:cs typeface="BIZ UDPGothic" pitchFamily="34" charset="-120"/>
              </a:rPr>
              <a:t>50万円〜</a:t>
            </a:r>
            <a:endParaRPr lang="en-US" sz="1500" dirty="0"/>
          </a:p>
        </p:txBody>
      </p:sp>
      <p:sp>
        <p:nvSpPr>
          <p:cNvPr id="12" name="Shape 8"/>
          <p:cNvSpPr/>
          <p:nvPr/>
        </p:nvSpPr>
        <p:spPr>
          <a:xfrm>
            <a:off x="548640" y="2862072"/>
            <a:ext cx="502920" cy="502920"/>
          </a:xfrm>
          <a:prstGeom prst="ellipse">
            <a:avLst/>
          </a:prstGeom>
          <a:solidFill>
            <a:srgbClr val="1E4D3A"/>
          </a:solidFill>
          <a:ln/>
        </p:spPr>
      </p:sp>
      <p:pic>
        <p:nvPicPr>
          <p:cNvPr id="13" name="Image 2" descr="preencoded.png">    </p:cNvPr>
          <p:cNvPicPr>
            <a:picLocks noChangeAspect="1"/>
          </p:cNvPicPr>
          <p:nvPr/>
        </p:nvPicPr>
        <p:blipFill>
          <a:blip r:embed="rId3"/>
          <a:stretch>
            <a:fillRect/>
          </a:stretch>
        </p:blipFill>
        <p:spPr>
          <a:xfrm>
            <a:off x="669341" y="2982773"/>
            <a:ext cx="261518" cy="261518"/>
          </a:xfrm>
          <a:prstGeom prst="rect">
            <a:avLst/>
          </a:prstGeom>
        </p:spPr>
      </p:pic>
      <p:sp>
        <p:nvSpPr>
          <p:cNvPr id="14" name="Text 9"/>
          <p:cNvSpPr txBox="1"/>
          <p:nvPr/>
        </p:nvSpPr>
        <p:spPr>
          <a:xfrm>
            <a:off x="1188720" y="2825496"/>
            <a:ext cx="5394960" cy="566928"/>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③ 限定Facebookグループ（発酵食・野草健康食・天給自足研究会）参加</a:t>
            </a:r>
            <a:endParaRPr lang="en-US" sz="1500" dirty="0"/>
          </a:p>
        </p:txBody>
      </p:sp>
      <p:sp>
        <p:nvSpPr>
          <p:cNvPr id="15" name="Text 10"/>
          <p:cNvSpPr txBox="1"/>
          <p:nvPr/>
        </p:nvSpPr>
        <p:spPr>
          <a:xfrm>
            <a:off x="6492240" y="2825496"/>
            <a:ext cx="1188720" cy="566928"/>
          </a:xfrm>
          <a:prstGeom prst="rect">
            <a:avLst/>
          </a:prstGeom>
          <a:noFill/>
          <a:ln/>
        </p:spPr>
        <p:txBody>
          <a:bodyPr wrap="square" lIns="635" tIns="635" rIns="635" bIns="635" rtlCol="0" anchor="ctr"/>
          <a:lstStyle/>
          <a:p>
            <a:pPr algn="r" indent="0" marL="0">
              <a:lnSpc>
                <a:spcPct val="120000"/>
              </a:lnSpc>
              <a:buNone/>
            </a:pPr>
            <a:r>
              <a:rPr lang="en-US" sz="1500" b="1" dirty="0">
                <a:solidFill>
                  <a:srgbClr val="C8502F"/>
                </a:solidFill>
                <a:latin typeface="BIZ UDPGothic" pitchFamily="34" charset="0"/>
                <a:ea typeface="BIZ UDPGothic" pitchFamily="34" charset="-122"/>
                <a:cs typeface="BIZ UDPGothic" pitchFamily="34" charset="-120"/>
              </a:rPr>
              <a:t>10万円〜</a:t>
            </a:r>
            <a:endParaRPr lang="en-US" sz="1500" dirty="0"/>
          </a:p>
        </p:txBody>
      </p:sp>
      <p:sp>
        <p:nvSpPr>
          <p:cNvPr id="16" name="Shape 11"/>
          <p:cNvSpPr/>
          <p:nvPr/>
        </p:nvSpPr>
        <p:spPr>
          <a:xfrm>
            <a:off x="548640" y="3520440"/>
            <a:ext cx="502920" cy="502920"/>
          </a:xfrm>
          <a:prstGeom prst="ellipse">
            <a:avLst/>
          </a:prstGeom>
          <a:solidFill>
            <a:srgbClr val="1E4D3A"/>
          </a:solidFill>
          <a:ln/>
        </p:spPr>
      </p:sp>
      <p:pic>
        <p:nvPicPr>
          <p:cNvPr id="17" name="Image 3" descr="preencoded.png">    </p:cNvPr>
          <p:cNvPicPr>
            <a:picLocks noChangeAspect="1"/>
          </p:cNvPicPr>
          <p:nvPr/>
        </p:nvPicPr>
        <p:blipFill>
          <a:blip r:embed="rId4"/>
          <a:stretch>
            <a:fillRect/>
          </a:stretch>
        </p:blipFill>
        <p:spPr>
          <a:xfrm>
            <a:off x="669341" y="3641141"/>
            <a:ext cx="261518" cy="261518"/>
          </a:xfrm>
          <a:prstGeom prst="rect">
            <a:avLst/>
          </a:prstGeom>
        </p:spPr>
      </p:pic>
      <p:sp>
        <p:nvSpPr>
          <p:cNvPr id="18" name="Text 12"/>
          <p:cNvSpPr txBox="1"/>
          <p:nvPr/>
        </p:nvSpPr>
        <p:spPr>
          <a:xfrm>
            <a:off x="1188720" y="3483864"/>
            <a:ext cx="5394960" cy="566928"/>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④ フランス菓子の基本動画3本プレゼント</a:t>
            </a:r>
            <a:endParaRPr lang="en-US" sz="1500" dirty="0"/>
          </a:p>
        </p:txBody>
      </p:sp>
      <p:sp>
        <p:nvSpPr>
          <p:cNvPr id="19" name="Text 13"/>
          <p:cNvSpPr txBox="1"/>
          <p:nvPr/>
        </p:nvSpPr>
        <p:spPr>
          <a:xfrm>
            <a:off x="6492240" y="3483864"/>
            <a:ext cx="1188720" cy="566928"/>
          </a:xfrm>
          <a:prstGeom prst="rect">
            <a:avLst/>
          </a:prstGeom>
          <a:noFill/>
          <a:ln/>
        </p:spPr>
        <p:txBody>
          <a:bodyPr wrap="square" lIns="635" tIns="635" rIns="635" bIns="635" rtlCol="0" anchor="ctr"/>
          <a:lstStyle/>
          <a:p>
            <a:pPr algn="r" indent="0" marL="0">
              <a:lnSpc>
                <a:spcPct val="120000"/>
              </a:lnSpc>
              <a:buNone/>
            </a:pPr>
            <a:r>
              <a:rPr lang="en-US" sz="1500" b="1" dirty="0">
                <a:solidFill>
                  <a:srgbClr val="C8502F"/>
                </a:solidFill>
                <a:latin typeface="BIZ UDPGothic" pitchFamily="34" charset="0"/>
                <a:ea typeface="BIZ UDPGothic" pitchFamily="34" charset="-122"/>
                <a:cs typeface="BIZ UDPGothic" pitchFamily="34" charset="-120"/>
              </a:rPr>
              <a:t>10万円〜</a:t>
            </a:r>
            <a:endParaRPr lang="en-US" sz="1500" dirty="0"/>
          </a:p>
        </p:txBody>
      </p:sp>
      <p:sp>
        <p:nvSpPr>
          <p:cNvPr id="20" name="Shape 14"/>
          <p:cNvSpPr/>
          <p:nvPr/>
        </p:nvSpPr>
        <p:spPr>
          <a:xfrm>
            <a:off x="548640" y="4178808"/>
            <a:ext cx="502920" cy="502920"/>
          </a:xfrm>
          <a:prstGeom prst="ellipse">
            <a:avLst/>
          </a:prstGeom>
          <a:solidFill>
            <a:srgbClr val="1E4D3A"/>
          </a:solidFill>
          <a:ln/>
        </p:spPr>
      </p:sp>
      <p:pic>
        <p:nvPicPr>
          <p:cNvPr id="21" name="Image 4" descr="preencoded.png">    </p:cNvPr>
          <p:cNvPicPr>
            <a:picLocks noChangeAspect="1"/>
          </p:cNvPicPr>
          <p:nvPr/>
        </p:nvPicPr>
        <p:blipFill>
          <a:blip r:embed="rId5"/>
          <a:stretch>
            <a:fillRect/>
          </a:stretch>
        </p:blipFill>
        <p:spPr>
          <a:xfrm>
            <a:off x="669341" y="4299509"/>
            <a:ext cx="261518" cy="261518"/>
          </a:xfrm>
          <a:prstGeom prst="rect">
            <a:avLst/>
          </a:prstGeom>
        </p:spPr>
      </p:pic>
      <p:sp>
        <p:nvSpPr>
          <p:cNvPr id="22" name="Text 15"/>
          <p:cNvSpPr txBox="1"/>
          <p:nvPr/>
        </p:nvSpPr>
        <p:spPr>
          <a:xfrm>
            <a:off x="1188720" y="4142232"/>
            <a:ext cx="5394960" cy="566928"/>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⑤ 食がもたらす健康「過去、現在、未来」厳選PDFプレゼント</a:t>
            </a:r>
            <a:endParaRPr lang="en-US" sz="1500" dirty="0"/>
          </a:p>
        </p:txBody>
      </p:sp>
      <p:sp>
        <p:nvSpPr>
          <p:cNvPr id="23" name="Text 16"/>
          <p:cNvSpPr txBox="1"/>
          <p:nvPr/>
        </p:nvSpPr>
        <p:spPr>
          <a:xfrm>
            <a:off x="6492240" y="4142232"/>
            <a:ext cx="1188720" cy="566928"/>
          </a:xfrm>
          <a:prstGeom prst="rect">
            <a:avLst/>
          </a:prstGeom>
          <a:noFill/>
          <a:ln/>
        </p:spPr>
        <p:txBody>
          <a:bodyPr wrap="square" lIns="635" tIns="635" rIns="635" bIns="635" rtlCol="0" anchor="ctr"/>
          <a:lstStyle/>
          <a:p>
            <a:pPr algn="r" indent="0" marL="0">
              <a:lnSpc>
                <a:spcPct val="120000"/>
              </a:lnSpc>
              <a:buNone/>
            </a:pPr>
            <a:r>
              <a:rPr lang="en-US" sz="1500" b="1" dirty="0">
                <a:solidFill>
                  <a:srgbClr val="C8502F"/>
                </a:solidFill>
                <a:latin typeface="BIZ UDPGothic" pitchFamily="34" charset="0"/>
                <a:ea typeface="BIZ UDPGothic" pitchFamily="34" charset="-122"/>
                <a:cs typeface="BIZ UDPGothic" pitchFamily="34" charset="-120"/>
              </a:rPr>
              <a:t>1万円〜</a:t>
            </a:r>
            <a:endParaRPr lang="en-US" sz="1500" dirty="0"/>
          </a:p>
        </p:txBody>
      </p:sp>
      <p:sp>
        <p:nvSpPr>
          <p:cNvPr id="24" name="Shape 17"/>
          <p:cNvSpPr/>
          <p:nvPr/>
        </p:nvSpPr>
        <p:spPr>
          <a:xfrm>
            <a:off x="548640" y="4983480"/>
            <a:ext cx="7132320" cy="1188720"/>
          </a:xfrm>
          <a:prstGeom prst="roundRect">
            <a:avLst>
              <a:gd name="adj" fmla="val 9231"/>
            </a:avLst>
          </a:prstGeom>
          <a:solidFill>
            <a:srgbClr val="1E4D3A"/>
          </a:solidFill>
          <a:ln/>
        </p:spPr>
      </p:sp>
      <p:sp>
        <p:nvSpPr>
          <p:cNvPr id="25" name="Text 18"/>
          <p:cNvSpPr txBox="1"/>
          <p:nvPr/>
        </p:nvSpPr>
        <p:spPr>
          <a:xfrm>
            <a:off x="777240" y="5029200"/>
            <a:ext cx="6766560" cy="685800"/>
          </a:xfrm>
          <a:prstGeom prst="rect">
            <a:avLst/>
          </a:prstGeom>
          <a:noFill/>
          <a:ln/>
        </p:spPr>
        <p:txBody>
          <a:bodyPr wrap="square" lIns="635" tIns="635" rIns="635" bIns="635" rtlCol="0" anchor="ctr"/>
          <a:lstStyle/>
          <a:p>
            <a:pPr indent="0" marL="0">
              <a:lnSpc>
                <a:spcPct val="120000"/>
              </a:lnSpc>
              <a:buNone/>
            </a:pPr>
            <a:r>
              <a:rPr lang="en-US" sz="2600" b="1" dirty="0">
                <a:solidFill>
                  <a:srgbClr val="E8A33D"/>
                </a:solidFill>
                <a:latin typeface="BIZ UDPGothic" pitchFamily="34" charset="0"/>
                <a:ea typeface="BIZ UDPGothic" pitchFamily="34" charset="-122"/>
                <a:cs typeface="BIZ UDPGothic" pitchFamily="34" charset="-120"/>
              </a:rPr>
              <a:t>合計 121万円相当</a:t>
            </a:r>
            <a:pPr indent="0" marL="0">
              <a:lnSpc>
                <a:spcPct val="120000"/>
              </a:lnSpc>
              <a:buNone/>
            </a:pPr>
            <a:r>
              <a:rPr lang="en-US" sz="2000" b="1" dirty="0">
                <a:solidFill>
                  <a:srgbClr val="FFFFFF"/>
                </a:solidFill>
                <a:latin typeface="BIZ UDPGothic" pitchFamily="34" charset="0"/>
                <a:ea typeface="BIZ UDPGothic" pitchFamily="34" charset="-122"/>
                <a:cs typeface="BIZ UDPGothic" pitchFamily="34" charset="-120"/>
              </a:rPr>
              <a:t> の特典を無料でプレゼント！</a:t>
            </a:r>
            <a:endParaRPr lang="en-US" sz="1600" dirty="0"/>
          </a:p>
        </p:txBody>
      </p:sp>
      <p:sp>
        <p:nvSpPr>
          <p:cNvPr id="26" name="Text 19"/>
          <p:cNvSpPr txBox="1"/>
          <p:nvPr/>
        </p:nvSpPr>
        <p:spPr>
          <a:xfrm>
            <a:off x="777240" y="5669280"/>
            <a:ext cx="6766560" cy="365760"/>
          </a:xfrm>
          <a:prstGeom prst="rect">
            <a:avLst/>
          </a:prstGeom>
          <a:noFill/>
          <a:ln/>
        </p:spPr>
        <p:txBody>
          <a:bodyPr wrap="square" lIns="635" tIns="635" rIns="635" bIns="635" rtlCol="0" anchor="t"/>
          <a:lstStyle/>
          <a:p>
            <a:pPr indent="0" marL="0">
              <a:lnSpc>
                <a:spcPct val="120000"/>
              </a:lnSpc>
              <a:buNone/>
            </a:pPr>
            <a:r>
              <a:rPr lang="en-US" sz="1300" dirty="0">
                <a:solidFill>
                  <a:srgbClr val="DDE8DF"/>
                </a:solidFill>
                <a:latin typeface="BIZ UDPGothic" pitchFamily="34" charset="0"/>
                <a:ea typeface="BIZ UDPGothic" pitchFamily="34" charset="-122"/>
                <a:cs typeface="BIZ UDPGothic" pitchFamily="34" charset="-120"/>
              </a:rPr>
              <a:t>※参加コースで特典は変わります。</a:t>
            </a:r>
            <a:endParaRPr lang="en-US" sz="1300" dirty="0"/>
          </a:p>
        </p:txBody>
      </p:sp>
      <p:pic>
        <p:nvPicPr>
          <p:cNvPr id="27" name="Image 5" descr="/root/work/gen/p_s30_9ad4dc30_624x816_FFFFFF.jpg">    </p:cNvPr>
          <p:cNvPicPr>
            <a:picLocks noChangeAspect="1"/>
          </p:cNvPicPr>
          <p:nvPr/>
        </p:nvPicPr>
        <p:blipFill>
          <a:blip r:embed="rId6"/>
          <a:stretch>
            <a:fillRect/>
          </a:stretch>
        </p:blipFill>
        <p:spPr>
          <a:xfrm>
            <a:off x="8046720" y="1508760"/>
            <a:ext cx="3566160" cy="466344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822960" y="1554480"/>
            <a:ext cx="2743200" cy="109728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06</a:t>
            </a:r>
            <a:endParaRPr lang="en-US" sz="7200" dirty="0"/>
          </a:p>
        </p:txBody>
      </p:sp>
      <p:sp>
        <p:nvSpPr>
          <p:cNvPr id="3" name="Text 1"/>
          <p:cNvSpPr txBox="1"/>
          <p:nvPr/>
        </p:nvSpPr>
        <p:spPr>
          <a:xfrm>
            <a:off x="822960" y="2697480"/>
            <a:ext cx="10058400" cy="914400"/>
          </a:xfrm>
          <a:prstGeom prst="rect">
            <a:avLst/>
          </a:prstGeom>
          <a:noFill/>
          <a:ln/>
        </p:spPr>
        <p:txBody>
          <a:bodyPr wrap="square" lIns="635" tIns="635" rIns="635" bIns="635" rtlCol="0" anchor="t"/>
          <a:lstStyle/>
          <a:p>
            <a:pPr indent="0" marL="0">
              <a:lnSpc>
                <a:spcPct val="120000"/>
              </a:lnSpc>
              <a:buNone/>
            </a:pPr>
            <a:r>
              <a:rPr lang="en-US" sz="4400" dirty="0">
                <a:solidFill>
                  <a:srgbClr val="FFFFFF"/>
                </a:solidFill>
                <a:latin typeface="BIZ UDPMincho" pitchFamily="34" charset="0"/>
                <a:ea typeface="BIZ UDPMincho" pitchFamily="34" charset="-122"/>
                <a:cs typeface="BIZ UDPMincho" pitchFamily="34" charset="-120"/>
              </a:rPr>
              <a:t>メニューと価格</a:t>
            </a:r>
            <a:endParaRPr lang="en-US" sz="4400" dirty="0"/>
          </a:p>
        </p:txBody>
      </p:sp>
      <p:sp>
        <p:nvSpPr>
          <p:cNvPr id="4" name="Text 2"/>
          <p:cNvSpPr txBox="1"/>
          <p:nvPr/>
        </p:nvSpPr>
        <p:spPr>
          <a:xfrm>
            <a:off x="822960" y="3703320"/>
            <a:ext cx="9144000" cy="548640"/>
          </a:xfrm>
          <a:prstGeom prst="rect">
            <a:avLst/>
          </a:prstGeom>
          <a:noFill/>
          <a:ln/>
        </p:spPr>
        <p:txBody>
          <a:bodyPr wrap="square" lIns="635" tIns="635" rIns="635" bIns="635" rtlCol="0" anchor="t"/>
          <a:lstStyle/>
          <a:p>
            <a:pPr indent="0" marL="0">
              <a:lnSpc>
                <a:spcPct val="120000"/>
              </a:lnSpc>
              <a:buNone/>
            </a:pPr>
            <a:r>
              <a:rPr lang="en-US" sz="2000" dirty="0">
                <a:solidFill>
                  <a:srgbClr val="CFE0D3"/>
                </a:solidFill>
                <a:latin typeface="BIZ UDPGothic" pitchFamily="34" charset="0"/>
                <a:ea typeface="BIZ UDPGothic" pitchFamily="34" charset="-122"/>
                <a:cs typeface="BIZ UDPGothic" pitchFamily="34" charset="-120"/>
              </a:rPr>
              <a:t>あなたに合ったコースで、天給自足の一歩を</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メニューのご紹介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天給自足講師養成 2年コース</a:t>
            </a:r>
            <a:endParaRPr lang="en-US" sz="3000" dirty="0"/>
          </a:p>
        </p:txBody>
      </p:sp>
      <p:sp>
        <p:nvSpPr>
          <p:cNvPr id="4" name="Text 2"/>
          <p:cNvSpPr txBox="1"/>
          <p:nvPr/>
        </p:nvSpPr>
        <p:spPr>
          <a:xfrm>
            <a:off x="548640" y="1371600"/>
            <a:ext cx="7589520" cy="77724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発酵、農、自然の恵みを学び、習得実践できるようになり、講師として活躍もでき、さらにご自身・家族が最後まで健康で楽しい人生を実現できるようになるコースです。</a:t>
            </a:r>
            <a:endParaRPr lang="en-US" sz="1500" dirty="0"/>
          </a:p>
        </p:txBody>
      </p:sp>
      <p:sp>
        <p:nvSpPr>
          <p:cNvPr id="5" name="Text 3"/>
          <p:cNvSpPr txBox="1"/>
          <p:nvPr/>
        </p:nvSpPr>
        <p:spPr>
          <a:xfrm>
            <a:off x="548640" y="2194560"/>
            <a:ext cx="758952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天給自足を学び講師として活躍し、家族の生涯健康を実現（すべて合宿型）</a:t>
            </a:r>
            <a:endParaRPr lang="en-US" sz="1500" dirty="0"/>
          </a:p>
        </p:txBody>
      </p:sp>
      <p:sp>
        <p:nvSpPr>
          <p:cNvPr id="6" name="Shape 4"/>
          <p:cNvSpPr/>
          <p:nvPr/>
        </p:nvSpPr>
        <p:spPr>
          <a:xfrm>
            <a:off x="548640" y="2633472"/>
            <a:ext cx="7589520" cy="493776"/>
          </a:xfrm>
          <a:prstGeom prst="roundRect">
            <a:avLst>
              <a:gd name="adj" fmla="val 14815"/>
            </a:avLst>
          </a:prstGeom>
          <a:solidFill>
            <a:srgbClr val="F6F8F4"/>
          </a:solidFill>
          <a:ln/>
        </p:spPr>
      </p:sp>
      <p:sp>
        <p:nvSpPr>
          <p:cNvPr id="7" name="Shape 5"/>
          <p:cNvSpPr/>
          <p:nvPr/>
        </p:nvSpPr>
        <p:spPr>
          <a:xfrm>
            <a:off x="640080" y="2697480"/>
            <a:ext cx="868680" cy="365760"/>
          </a:xfrm>
          <a:prstGeom prst="roundRect">
            <a:avLst>
              <a:gd name="adj" fmla="val 50000"/>
            </a:avLst>
          </a:prstGeom>
          <a:solidFill>
            <a:srgbClr val="1E4D3A"/>
          </a:solidFill>
          <a:ln/>
        </p:spPr>
      </p:sp>
      <p:sp>
        <p:nvSpPr>
          <p:cNvPr id="8" name="Text 6"/>
          <p:cNvSpPr txBox="1"/>
          <p:nvPr/>
        </p:nvSpPr>
        <p:spPr>
          <a:xfrm>
            <a:off x="640080" y="269748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4月</a:t>
            </a:r>
            <a:endParaRPr lang="en-US" sz="1400" dirty="0"/>
          </a:p>
        </p:txBody>
      </p:sp>
      <p:sp>
        <p:nvSpPr>
          <p:cNvPr id="9" name="Text 7"/>
          <p:cNvSpPr txBox="1"/>
          <p:nvPr/>
        </p:nvSpPr>
        <p:spPr>
          <a:xfrm>
            <a:off x="1600200" y="263347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菊芋活用実践塾＆陸稲・自然農野菜の植え付け、播種。ポタジェ（キッチンガーデン）で菌ちゃん農法実践</a:t>
            </a:r>
            <a:endParaRPr lang="en-US" sz="1400" dirty="0"/>
          </a:p>
        </p:txBody>
      </p:sp>
      <p:sp>
        <p:nvSpPr>
          <p:cNvPr id="10" name="Text 8"/>
          <p:cNvSpPr txBox="1"/>
          <p:nvPr/>
        </p:nvSpPr>
        <p:spPr>
          <a:xfrm>
            <a:off x="7132320" y="263347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11" name="Shape 9"/>
          <p:cNvSpPr/>
          <p:nvPr/>
        </p:nvSpPr>
        <p:spPr>
          <a:xfrm>
            <a:off x="548640" y="3182112"/>
            <a:ext cx="7589520" cy="493776"/>
          </a:xfrm>
          <a:prstGeom prst="roundRect">
            <a:avLst>
              <a:gd name="adj" fmla="val 14815"/>
            </a:avLst>
          </a:prstGeom>
          <a:solidFill>
            <a:srgbClr val="F6F8F4"/>
          </a:solidFill>
          <a:ln/>
        </p:spPr>
      </p:sp>
      <p:sp>
        <p:nvSpPr>
          <p:cNvPr id="12" name="Shape 10"/>
          <p:cNvSpPr/>
          <p:nvPr/>
        </p:nvSpPr>
        <p:spPr>
          <a:xfrm>
            <a:off x="640080" y="3246120"/>
            <a:ext cx="868680" cy="365760"/>
          </a:xfrm>
          <a:prstGeom prst="roundRect">
            <a:avLst>
              <a:gd name="adj" fmla="val 50000"/>
            </a:avLst>
          </a:prstGeom>
          <a:solidFill>
            <a:srgbClr val="1E4D3A"/>
          </a:solidFill>
          <a:ln/>
        </p:spPr>
      </p:sp>
      <p:sp>
        <p:nvSpPr>
          <p:cNvPr id="13" name="Text 11"/>
          <p:cNvSpPr txBox="1"/>
          <p:nvPr/>
        </p:nvSpPr>
        <p:spPr>
          <a:xfrm>
            <a:off x="640080" y="324612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6月</a:t>
            </a:r>
            <a:endParaRPr lang="en-US" sz="1400" dirty="0"/>
          </a:p>
        </p:txBody>
      </p:sp>
      <p:sp>
        <p:nvSpPr>
          <p:cNvPr id="14" name="Text 12"/>
          <p:cNvSpPr txBox="1"/>
          <p:nvPr/>
        </p:nvSpPr>
        <p:spPr>
          <a:xfrm>
            <a:off x="1600200" y="318211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野草を生活に落とし込み楽しみ、見極め食べつくす。野草醤・野草チンキ・野草酵素を作ります</a:t>
            </a:r>
            <a:endParaRPr lang="en-US" sz="1400" dirty="0"/>
          </a:p>
        </p:txBody>
      </p:sp>
      <p:sp>
        <p:nvSpPr>
          <p:cNvPr id="15" name="Text 13"/>
          <p:cNvSpPr txBox="1"/>
          <p:nvPr/>
        </p:nvSpPr>
        <p:spPr>
          <a:xfrm>
            <a:off x="7132320" y="318211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16" name="Shape 14"/>
          <p:cNvSpPr/>
          <p:nvPr/>
        </p:nvSpPr>
        <p:spPr>
          <a:xfrm>
            <a:off x="548640" y="3730752"/>
            <a:ext cx="7589520" cy="493776"/>
          </a:xfrm>
          <a:prstGeom prst="roundRect">
            <a:avLst>
              <a:gd name="adj" fmla="val 14815"/>
            </a:avLst>
          </a:prstGeom>
          <a:solidFill>
            <a:srgbClr val="F6F8F4"/>
          </a:solidFill>
          <a:ln/>
        </p:spPr>
      </p:sp>
      <p:sp>
        <p:nvSpPr>
          <p:cNvPr id="17" name="Shape 15"/>
          <p:cNvSpPr/>
          <p:nvPr/>
        </p:nvSpPr>
        <p:spPr>
          <a:xfrm>
            <a:off x="640080" y="3794760"/>
            <a:ext cx="868680" cy="365760"/>
          </a:xfrm>
          <a:prstGeom prst="roundRect">
            <a:avLst>
              <a:gd name="adj" fmla="val 50000"/>
            </a:avLst>
          </a:prstGeom>
          <a:solidFill>
            <a:srgbClr val="1E4D3A"/>
          </a:solidFill>
          <a:ln/>
        </p:spPr>
      </p:sp>
      <p:sp>
        <p:nvSpPr>
          <p:cNvPr id="18" name="Text 16"/>
          <p:cNvSpPr txBox="1"/>
          <p:nvPr/>
        </p:nvSpPr>
        <p:spPr>
          <a:xfrm>
            <a:off x="640080" y="379476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8月</a:t>
            </a:r>
            <a:endParaRPr lang="en-US" sz="1400" dirty="0"/>
          </a:p>
        </p:txBody>
      </p:sp>
      <p:sp>
        <p:nvSpPr>
          <p:cNvPr id="19" name="Text 17"/>
          <p:cNvSpPr txBox="1"/>
          <p:nvPr/>
        </p:nvSpPr>
        <p:spPr>
          <a:xfrm>
            <a:off x="1600200" y="373075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陸稲＆野菜栽培観察、夏野菜を楽しみ食べ尽くす。竹細工で自分の箸・皿・カップ等々を創る</a:t>
            </a:r>
            <a:endParaRPr lang="en-US" sz="1400" dirty="0"/>
          </a:p>
        </p:txBody>
      </p:sp>
      <p:sp>
        <p:nvSpPr>
          <p:cNvPr id="20" name="Text 18"/>
          <p:cNvSpPr txBox="1"/>
          <p:nvPr/>
        </p:nvSpPr>
        <p:spPr>
          <a:xfrm>
            <a:off x="7132320" y="373075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21" name="Shape 19"/>
          <p:cNvSpPr/>
          <p:nvPr/>
        </p:nvSpPr>
        <p:spPr>
          <a:xfrm>
            <a:off x="548640" y="4279392"/>
            <a:ext cx="7589520" cy="493776"/>
          </a:xfrm>
          <a:prstGeom prst="roundRect">
            <a:avLst>
              <a:gd name="adj" fmla="val 14815"/>
            </a:avLst>
          </a:prstGeom>
          <a:solidFill>
            <a:srgbClr val="F6F8F4"/>
          </a:solidFill>
          <a:ln/>
        </p:spPr>
      </p:sp>
      <p:sp>
        <p:nvSpPr>
          <p:cNvPr id="22" name="Shape 20"/>
          <p:cNvSpPr/>
          <p:nvPr/>
        </p:nvSpPr>
        <p:spPr>
          <a:xfrm>
            <a:off x="640080" y="4343400"/>
            <a:ext cx="868680" cy="365760"/>
          </a:xfrm>
          <a:prstGeom prst="roundRect">
            <a:avLst>
              <a:gd name="adj" fmla="val 50000"/>
            </a:avLst>
          </a:prstGeom>
          <a:solidFill>
            <a:srgbClr val="1E4D3A"/>
          </a:solidFill>
          <a:ln/>
        </p:spPr>
      </p:sp>
      <p:sp>
        <p:nvSpPr>
          <p:cNvPr id="23" name="Text 21"/>
          <p:cNvSpPr txBox="1"/>
          <p:nvPr/>
        </p:nvSpPr>
        <p:spPr>
          <a:xfrm>
            <a:off x="640080" y="434340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10月</a:t>
            </a:r>
            <a:endParaRPr lang="en-US" sz="1400" dirty="0"/>
          </a:p>
        </p:txBody>
      </p:sp>
      <p:sp>
        <p:nvSpPr>
          <p:cNvPr id="24" name="Text 22"/>
          <p:cNvSpPr txBox="1"/>
          <p:nvPr/>
        </p:nvSpPr>
        <p:spPr>
          <a:xfrm>
            <a:off x="1600200" y="427939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醗酵実践塾＆きのこを楽しむ。あらゆる醗酵を学び、きのこ収穫体験と見極め</a:t>
            </a:r>
            <a:endParaRPr lang="en-US" sz="1400" dirty="0"/>
          </a:p>
        </p:txBody>
      </p:sp>
      <p:sp>
        <p:nvSpPr>
          <p:cNvPr id="25" name="Text 23"/>
          <p:cNvSpPr txBox="1"/>
          <p:nvPr/>
        </p:nvSpPr>
        <p:spPr>
          <a:xfrm>
            <a:off x="7132320" y="427939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3泊4日</a:t>
            </a:r>
            <a:endParaRPr lang="en-US" sz="1300" dirty="0"/>
          </a:p>
        </p:txBody>
      </p:sp>
      <p:sp>
        <p:nvSpPr>
          <p:cNvPr id="26" name="Shape 24"/>
          <p:cNvSpPr/>
          <p:nvPr/>
        </p:nvSpPr>
        <p:spPr>
          <a:xfrm>
            <a:off x="548640" y="4828032"/>
            <a:ext cx="7589520" cy="493776"/>
          </a:xfrm>
          <a:prstGeom prst="roundRect">
            <a:avLst>
              <a:gd name="adj" fmla="val 14815"/>
            </a:avLst>
          </a:prstGeom>
          <a:solidFill>
            <a:srgbClr val="F6F8F4"/>
          </a:solidFill>
          <a:ln/>
        </p:spPr>
      </p:sp>
      <p:sp>
        <p:nvSpPr>
          <p:cNvPr id="27" name="Shape 25"/>
          <p:cNvSpPr/>
          <p:nvPr/>
        </p:nvSpPr>
        <p:spPr>
          <a:xfrm>
            <a:off x="640080" y="4892040"/>
            <a:ext cx="868680" cy="365760"/>
          </a:xfrm>
          <a:prstGeom prst="roundRect">
            <a:avLst>
              <a:gd name="adj" fmla="val 50000"/>
            </a:avLst>
          </a:prstGeom>
          <a:solidFill>
            <a:srgbClr val="1E4D3A"/>
          </a:solidFill>
          <a:ln/>
        </p:spPr>
      </p:sp>
      <p:sp>
        <p:nvSpPr>
          <p:cNvPr id="28" name="Text 26"/>
          <p:cNvSpPr txBox="1"/>
          <p:nvPr/>
        </p:nvSpPr>
        <p:spPr>
          <a:xfrm>
            <a:off x="640080" y="489204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12月</a:t>
            </a:r>
            <a:endParaRPr lang="en-US" sz="1400" dirty="0"/>
          </a:p>
        </p:txBody>
      </p:sp>
      <p:sp>
        <p:nvSpPr>
          <p:cNvPr id="29" name="Text 27"/>
          <p:cNvSpPr txBox="1"/>
          <p:nvPr/>
        </p:nvSpPr>
        <p:spPr>
          <a:xfrm>
            <a:off x="1600200" y="482803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菊芋堀り＆乾物活用を楽しみ学ぶ</a:t>
            </a:r>
            <a:endParaRPr lang="en-US" sz="1400" dirty="0"/>
          </a:p>
        </p:txBody>
      </p:sp>
      <p:sp>
        <p:nvSpPr>
          <p:cNvPr id="30" name="Text 28"/>
          <p:cNvSpPr txBox="1"/>
          <p:nvPr/>
        </p:nvSpPr>
        <p:spPr>
          <a:xfrm>
            <a:off x="7132320" y="482803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31" name="Shape 29"/>
          <p:cNvSpPr/>
          <p:nvPr/>
        </p:nvSpPr>
        <p:spPr>
          <a:xfrm>
            <a:off x="548640" y="5376672"/>
            <a:ext cx="7589520" cy="493776"/>
          </a:xfrm>
          <a:prstGeom prst="roundRect">
            <a:avLst>
              <a:gd name="adj" fmla="val 14815"/>
            </a:avLst>
          </a:prstGeom>
          <a:solidFill>
            <a:srgbClr val="F6F8F4"/>
          </a:solidFill>
          <a:ln/>
        </p:spPr>
      </p:sp>
      <p:sp>
        <p:nvSpPr>
          <p:cNvPr id="32" name="Shape 30"/>
          <p:cNvSpPr/>
          <p:nvPr/>
        </p:nvSpPr>
        <p:spPr>
          <a:xfrm>
            <a:off x="640080" y="5440680"/>
            <a:ext cx="868680" cy="365760"/>
          </a:xfrm>
          <a:prstGeom prst="roundRect">
            <a:avLst>
              <a:gd name="adj" fmla="val 50000"/>
            </a:avLst>
          </a:prstGeom>
          <a:solidFill>
            <a:srgbClr val="1E4D3A"/>
          </a:solidFill>
          <a:ln/>
        </p:spPr>
      </p:sp>
      <p:sp>
        <p:nvSpPr>
          <p:cNvPr id="33" name="Text 31"/>
          <p:cNvSpPr txBox="1"/>
          <p:nvPr/>
        </p:nvSpPr>
        <p:spPr>
          <a:xfrm>
            <a:off x="640080" y="544068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2月</a:t>
            </a:r>
            <a:endParaRPr lang="en-US" sz="1400" dirty="0"/>
          </a:p>
        </p:txBody>
      </p:sp>
      <p:sp>
        <p:nvSpPr>
          <p:cNvPr id="34" name="Text 32"/>
          <p:cNvSpPr txBox="1"/>
          <p:nvPr/>
        </p:nvSpPr>
        <p:spPr>
          <a:xfrm>
            <a:off x="1600200" y="537667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米・玄米粉のフランス菓子＆米パンを学ぶ</a:t>
            </a:r>
            <a:endParaRPr lang="en-US" sz="1400" dirty="0"/>
          </a:p>
        </p:txBody>
      </p:sp>
      <p:sp>
        <p:nvSpPr>
          <p:cNvPr id="35" name="Text 33"/>
          <p:cNvSpPr txBox="1"/>
          <p:nvPr/>
        </p:nvSpPr>
        <p:spPr>
          <a:xfrm>
            <a:off x="7132320" y="537667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36" name="Text 34"/>
          <p:cNvSpPr txBox="1"/>
          <p:nvPr/>
        </p:nvSpPr>
        <p:spPr>
          <a:xfrm>
            <a:off x="548640" y="5943600"/>
            <a:ext cx="7589520" cy="347472"/>
          </a:xfrm>
          <a:prstGeom prst="rect">
            <a:avLst/>
          </a:prstGeom>
          <a:noFill/>
          <a:ln/>
        </p:spPr>
        <p:txBody>
          <a:bodyPr wrap="square" lIns="635" tIns="635" rIns="635" bIns="635" rtlCol="0" anchor="t"/>
          <a:lstStyle/>
          <a:p>
            <a:pPr indent="0" marL="0">
              <a:lnSpc>
                <a:spcPct val="120000"/>
              </a:lnSpc>
              <a:buNone/>
            </a:pPr>
            <a:r>
              <a:rPr lang="en-US" sz="1400" b="1" dirty="0">
                <a:solidFill>
                  <a:srgbClr val="8A5A10"/>
                </a:solidFill>
                <a:latin typeface="BIZ UDPGothic" pitchFamily="34" charset="0"/>
                <a:ea typeface="BIZ UDPGothic" pitchFamily="34" charset="-122"/>
                <a:cs typeface="BIZ UDPGothic" pitchFamily="34" charset="-120"/>
              </a:rPr>
              <a:t>★2年目は講師としての視点で講座構築を考えながら再受講</a:t>
            </a:r>
            <a:endParaRPr lang="en-US" sz="1400" dirty="0"/>
          </a:p>
        </p:txBody>
      </p:sp>
      <p:sp>
        <p:nvSpPr>
          <p:cNvPr id="37" name="Shape 35"/>
          <p:cNvSpPr/>
          <p:nvPr/>
        </p:nvSpPr>
        <p:spPr>
          <a:xfrm>
            <a:off x="8412480" y="1371600"/>
            <a:ext cx="3200400" cy="4800600"/>
          </a:xfrm>
          <a:prstGeom prst="roundRect">
            <a:avLst>
              <a:gd name="adj" fmla="val 3429"/>
            </a:avLst>
          </a:prstGeom>
          <a:solidFill>
            <a:srgbClr val="1E4D3A"/>
          </a:solidFill>
          <a:ln/>
          <a:effectLst>
            <a:outerShdw sx="100000" sy="100000" kx="0" ky="0" algn="bl" rotWithShape="0" blurRad="127000" dist="25400" dir="5400000">
              <a:srgbClr val="000000">
                <a:alpha val="13000"/>
              </a:srgbClr>
            </a:outerShdw>
          </a:effectLst>
        </p:spPr>
      </p:sp>
      <p:sp>
        <p:nvSpPr>
          <p:cNvPr id="38" name="Text 36"/>
          <p:cNvSpPr txBox="1"/>
          <p:nvPr/>
        </p:nvSpPr>
        <p:spPr>
          <a:xfrm>
            <a:off x="8641080" y="1554480"/>
            <a:ext cx="2743200" cy="411480"/>
          </a:xfrm>
          <a:prstGeom prst="rect">
            <a:avLst/>
          </a:prstGeom>
          <a:noFill/>
          <a:ln/>
        </p:spPr>
        <p:txBody>
          <a:bodyPr wrap="square" lIns="635" tIns="635" rIns="635" bIns="635" rtlCol="0" anchor="t"/>
          <a:lstStyle/>
          <a:p>
            <a:pPr indent="0" marL="0">
              <a:lnSpc>
                <a:spcPct val="120000"/>
              </a:lnSpc>
              <a:buNone/>
            </a:pPr>
            <a:r>
              <a:rPr lang="en-US" sz="1800" b="1" dirty="0">
                <a:solidFill>
                  <a:srgbClr val="E8A33D"/>
                </a:solidFill>
                <a:latin typeface="BIZ UDPGothic" pitchFamily="34" charset="0"/>
                <a:ea typeface="BIZ UDPGothic" pitchFamily="34" charset="-122"/>
                <a:cs typeface="BIZ UDPGothic" pitchFamily="34" charset="-120"/>
              </a:rPr>
              <a:t>特別限定特典</a:t>
            </a:r>
            <a:endParaRPr lang="en-US" sz="1800" dirty="0"/>
          </a:p>
        </p:txBody>
      </p:sp>
      <p:sp>
        <p:nvSpPr>
          <p:cNvPr id="39" name="Text 37"/>
          <p:cNvSpPr txBox="1"/>
          <p:nvPr/>
        </p:nvSpPr>
        <p:spPr>
          <a:xfrm>
            <a:off x="8641080" y="2103120"/>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LINEフォロー無期限</a:t>
            </a:r>
            <a:endParaRPr lang="en-US" sz="1500" dirty="0"/>
          </a:p>
        </p:txBody>
      </p:sp>
      <p:sp>
        <p:nvSpPr>
          <p:cNvPr id="40" name="Text 38"/>
          <p:cNvSpPr txBox="1"/>
          <p:nvPr/>
        </p:nvSpPr>
        <p:spPr>
          <a:xfrm>
            <a:off x="8641080" y="2612898"/>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リアルにいつでも圃場見学OK</a:t>
            </a:r>
            <a:endParaRPr lang="en-US" sz="1500" dirty="0"/>
          </a:p>
        </p:txBody>
      </p:sp>
      <p:sp>
        <p:nvSpPr>
          <p:cNvPr id="41" name="Text 39"/>
          <p:cNvSpPr txBox="1"/>
          <p:nvPr/>
        </p:nvSpPr>
        <p:spPr>
          <a:xfrm>
            <a:off x="8641080" y="3385566"/>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フランス菓子基礎動画プレゼント</a:t>
            </a:r>
            <a:endParaRPr lang="en-US" sz="1500" dirty="0"/>
          </a:p>
        </p:txBody>
      </p:sp>
      <p:sp>
        <p:nvSpPr>
          <p:cNvPr id="42" name="Text 40"/>
          <p:cNvSpPr txBox="1"/>
          <p:nvPr/>
        </p:nvSpPr>
        <p:spPr>
          <a:xfrm>
            <a:off x="8641080" y="4158234"/>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FBグループ参加</a:t>
            </a:r>
            <a:endParaRPr lang="en-US" sz="1500" dirty="0"/>
          </a:p>
        </p:txBody>
      </p:sp>
      <p:sp>
        <p:nvSpPr>
          <p:cNvPr id="43" name="Text 41"/>
          <p:cNvSpPr txBox="1"/>
          <p:nvPr/>
        </p:nvSpPr>
        <p:spPr>
          <a:xfrm>
            <a:off x="8641080" y="4668012"/>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食がもたらす健康 最新PDFプレゼント</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メニューのご紹介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 1年コース</a:t>
            </a:r>
            <a:endParaRPr lang="en-US" sz="3000" dirty="0"/>
          </a:p>
        </p:txBody>
      </p:sp>
      <p:sp>
        <p:nvSpPr>
          <p:cNvPr id="4" name="Text 2"/>
          <p:cNvSpPr txBox="1"/>
          <p:nvPr/>
        </p:nvSpPr>
        <p:spPr>
          <a:xfrm>
            <a:off x="548640" y="1371600"/>
            <a:ext cx="7589520" cy="77724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発酵、農業、自然の恵みを学び、習得実践できるようになり、ご自身・家族が最後まで健康で楽しい人生を実現できるようになるコースです。</a:t>
            </a:r>
            <a:endParaRPr lang="en-US" sz="1500" dirty="0"/>
          </a:p>
        </p:txBody>
      </p:sp>
      <p:sp>
        <p:nvSpPr>
          <p:cNvPr id="5" name="Text 3"/>
          <p:cNvSpPr txBox="1"/>
          <p:nvPr/>
        </p:nvSpPr>
        <p:spPr>
          <a:xfrm>
            <a:off x="548640" y="2194560"/>
            <a:ext cx="758952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天給自足を目指し、生涯健康をめざす（すべて合宿型）</a:t>
            </a:r>
            <a:endParaRPr lang="en-US" sz="1500" dirty="0"/>
          </a:p>
        </p:txBody>
      </p:sp>
      <p:sp>
        <p:nvSpPr>
          <p:cNvPr id="6" name="Shape 4"/>
          <p:cNvSpPr/>
          <p:nvPr/>
        </p:nvSpPr>
        <p:spPr>
          <a:xfrm>
            <a:off x="548640" y="2633472"/>
            <a:ext cx="7589520" cy="493776"/>
          </a:xfrm>
          <a:prstGeom prst="roundRect">
            <a:avLst>
              <a:gd name="adj" fmla="val 14815"/>
            </a:avLst>
          </a:prstGeom>
          <a:solidFill>
            <a:srgbClr val="F6F8F4"/>
          </a:solidFill>
          <a:ln/>
        </p:spPr>
      </p:sp>
      <p:sp>
        <p:nvSpPr>
          <p:cNvPr id="7" name="Shape 5"/>
          <p:cNvSpPr/>
          <p:nvPr/>
        </p:nvSpPr>
        <p:spPr>
          <a:xfrm>
            <a:off x="640080" y="2697480"/>
            <a:ext cx="868680" cy="365760"/>
          </a:xfrm>
          <a:prstGeom prst="roundRect">
            <a:avLst>
              <a:gd name="adj" fmla="val 50000"/>
            </a:avLst>
          </a:prstGeom>
          <a:solidFill>
            <a:srgbClr val="1E4D3A"/>
          </a:solidFill>
          <a:ln/>
        </p:spPr>
      </p:sp>
      <p:sp>
        <p:nvSpPr>
          <p:cNvPr id="8" name="Text 6"/>
          <p:cNvSpPr txBox="1"/>
          <p:nvPr/>
        </p:nvSpPr>
        <p:spPr>
          <a:xfrm>
            <a:off x="640080" y="269748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4月</a:t>
            </a:r>
            <a:endParaRPr lang="en-US" sz="1400" dirty="0"/>
          </a:p>
        </p:txBody>
      </p:sp>
      <p:sp>
        <p:nvSpPr>
          <p:cNvPr id="9" name="Text 7"/>
          <p:cNvSpPr txBox="1"/>
          <p:nvPr/>
        </p:nvSpPr>
        <p:spPr>
          <a:xfrm>
            <a:off x="1600200" y="263347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菊芋活用実践塾＆陸稲・自然農野菜の植え付け、播種。ポタジェ（キッチンガーデン）で菌ちゃん農法実践</a:t>
            </a:r>
            <a:endParaRPr lang="en-US" sz="1400" dirty="0"/>
          </a:p>
        </p:txBody>
      </p:sp>
      <p:sp>
        <p:nvSpPr>
          <p:cNvPr id="10" name="Text 8"/>
          <p:cNvSpPr txBox="1"/>
          <p:nvPr/>
        </p:nvSpPr>
        <p:spPr>
          <a:xfrm>
            <a:off x="7132320" y="263347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11" name="Shape 9"/>
          <p:cNvSpPr/>
          <p:nvPr/>
        </p:nvSpPr>
        <p:spPr>
          <a:xfrm>
            <a:off x="548640" y="3182112"/>
            <a:ext cx="7589520" cy="493776"/>
          </a:xfrm>
          <a:prstGeom prst="roundRect">
            <a:avLst>
              <a:gd name="adj" fmla="val 14815"/>
            </a:avLst>
          </a:prstGeom>
          <a:solidFill>
            <a:srgbClr val="F6F8F4"/>
          </a:solidFill>
          <a:ln/>
        </p:spPr>
      </p:sp>
      <p:sp>
        <p:nvSpPr>
          <p:cNvPr id="12" name="Shape 10"/>
          <p:cNvSpPr/>
          <p:nvPr/>
        </p:nvSpPr>
        <p:spPr>
          <a:xfrm>
            <a:off x="640080" y="3246120"/>
            <a:ext cx="868680" cy="365760"/>
          </a:xfrm>
          <a:prstGeom prst="roundRect">
            <a:avLst>
              <a:gd name="adj" fmla="val 50000"/>
            </a:avLst>
          </a:prstGeom>
          <a:solidFill>
            <a:srgbClr val="1E4D3A"/>
          </a:solidFill>
          <a:ln/>
        </p:spPr>
      </p:sp>
      <p:sp>
        <p:nvSpPr>
          <p:cNvPr id="13" name="Text 11"/>
          <p:cNvSpPr txBox="1"/>
          <p:nvPr/>
        </p:nvSpPr>
        <p:spPr>
          <a:xfrm>
            <a:off x="640080" y="324612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6月</a:t>
            </a:r>
            <a:endParaRPr lang="en-US" sz="1400" dirty="0"/>
          </a:p>
        </p:txBody>
      </p:sp>
      <p:sp>
        <p:nvSpPr>
          <p:cNvPr id="14" name="Text 12"/>
          <p:cNvSpPr txBox="1"/>
          <p:nvPr/>
        </p:nvSpPr>
        <p:spPr>
          <a:xfrm>
            <a:off x="1600200" y="318211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野草を生活に落とし込み楽しみ、見極め食べつくす。野草醤・野草チンキ・野草酵素を作ります</a:t>
            </a:r>
            <a:endParaRPr lang="en-US" sz="1400" dirty="0"/>
          </a:p>
        </p:txBody>
      </p:sp>
      <p:sp>
        <p:nvSpPr>
          <p:cNvPr id="15" name="Text 13"/>
          <p:cNvSpPr txBox="1"/>
          <p:nvPr/>
        </p:nvSpPr>
        <p:spPr>
          <a:xfrm>
            <a:off x="7132320" y="318211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16" name="Shape 14"/>
          <p:cNvSpPr/>
          <p:nvPr/>
        </p:nvSpPr>
        <p:spPr>
          <a:xfrm>
            <a:off x="548640" y="3730752"/>
            <a:ext cx="7589520" cy="493776"/>
          </a:xfrm>
          <a:prstGeom prst="roundRect">
            <a:avLst>
              <a:gd name="adj" fmla="val 14815"/>
            </a:avLst>
          </a:prstGeom>
          <a:solidFill>
            <a:srgbClr val="F6F8F4"/>
          </a:solidFill>
          <a:ln/>
        </p:spPr>
      </p:sp>
      <p:sp>
        <p:nvSpPr>
          <p:cNvPr id="17" name="Shape 15"/>
          <p:cNvSpPr/>
          <p:nvPr/>
        </p:nvSpPr>
        <p:spPr>
          <a:xfrm>
            <a:off x="640080" y="3794760"/>
            <a:ext cx="868680" cy="365760"/>
          </a:xfrm>
          <a:prstGeom prst="roundRect">
            <a:avLst>
              <a:gd name="adj" fmla="val 50000"/>
            </a:avLst>
          </a:prstGeom>
          <a:solidFill>
            <a:srgbClr val="1E4D3A"/>
          </a:solidFill>
          <a:ln/>
        </p:spPr>
      </p:sp>
      <p:sp>
        <p:nvSpPr>
          <p:cNvPr id="18" name="Text 16"/>
          <p:cNvSpPr txBox="1"/>
          <p:nvPr/>
        </p:nvSpPr>
        <p:spPr>
          <a:xfrm>
            <a:off x="640080" y="379476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8月</a:t>
            </a:r>
            <a:endParaRPr lang="en-US" sz="1400" dirty="0"/>
          </a:p>
        </p:txBody>
      </p:sp>
      <p:sp>
        <p:nvSpPr>
          <p:cNvPr id="19" name="Text 17"/>
          <p:cNvSpPr txBox="1"/>
          <p:nvPr/>
        </p:nvSpPr>
        <p:spPr>
          <a:xfrm>
            <a:off x="1600200" y="373075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陸稲＆野菜栽培観察、夏野菜を楽しみ食べ尽くす。竹細工で自分の箸・皿・カップ等々を創る</a:t>
            </a:r>
            <a:endParaRPr lang="en-US" sz="1400" dirty="0"/>
          </a:p>
        </p:txBody>
      </p:sp>
      <p:sp>
        <p:nvSpPr>
          <p:cNvPr id="20" name="Text 18"/>
          <p:cNvSpPr txBox="1"/>
          <p:nvPr/>
        </p:nvSpPr>
        <p:spPr>
          <a:xfrm>
            <a:off x="7132320" y="373075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21" name="Shape 19"/>
          <p:cNvSpPr/>
          <p:nvPr/>
        </p:nvSpPr>
        <p:spPr>
          <a:xfrm>
            <a:off x="548640" y="4279392"/>
            <a:ext cx="7589520" cy="493776"/>
          </a:xfrm>
          <a:prstGeom prst="roundRect">
            <a:avLst>
              <a:gd name="adj" fmla="val 14815"/>
            </a:avLst>
          </a:prstGeom>
          <a:solidFill>
            <a:srgbClr val="F6F8F4"/>
          </a:solidFill>
          <a:ln/>
        </p:spPr>
      </p:sp>
      <p:sp>
        <p:nvSpPr>
          <p:cNvPr id="22" name="Shape 20"/>
          <p:cNvSpPr/>
          <p:nvPr/>
        </p:nvSpPr>
        <p:spPr>
          <a:xfrm>
            <a:off x="640080" y="4343400"/>
            <a:ext cx="868680" cy="365760"/>
          </a:xfrm>
          <a:prstGeom prst="roundRect">
            <a:avLst>
              <a:gd name="adj" fmla="val 50000"/>
            </a:avLst>
          </a:prstGeom>
          <a:solidFill>
            <a:srgbClr val="1E4D3A"/>
          </a:solidFill>
          <a:ln/>
        </p:spPr>
      </p:sp>
      <p:sp>
        <p:nvSpPr>
          <p:cNvPr id="23" name="Text 21"/>
          <p:cNvSpPr txBox="1"/>
          <p:nvPr/>
        </p:nvSpPr>
        <p:spPr>
          <a:xfrm>
            <a:off x="640080" y="434340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10月</a:t>
            </a:r>
            <a:endParaRPr lang="en-US" sz="1400" dirty="0"/>
          </a:p>
        </p:txBody>
      </p:sp>
      <p:sp>
        <p:nvSpPr>
          <p:cNvPr id="24" name="Text 22"/>
          <p:cNvSpPr txBox="1"/>
          <p:nvPr/>
        </p:nvSpPr>
        <p:spPr>
          <a:xfrm>
            <a:off x="1600200" y="427939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醗酵実践塾＆きのこを楽しむ。あらゆる醗酵を学び、きのこ収穫体験と見極め</a:t>
            </a:r>
            <a:endParaRPr lang="en-US" sz="1400" dirty="0"/>
          </a:p>
        </p:txBody>
      </p:sp>
      <p:sp>
        <p:nvSpPr>
          <p:cNvPr id="25" name="Text 23"/>
          <p:cNvSpPr txBox="1"/>
          <p:nvPr/>
        </p:nvSpPr>
        <p:spPr>
          <a:xfrm>
            <a:off x="7132320" y="427939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3泊4日</a:t>
            </a:r>
            <a:endParaRPr lang="en-US" sz="1300" dirty="0"/>
          </a:p>
        </p:txBody>
      </p:sp>
      <p:sp>
        <p:nvSpPr>
          <p:cNvPr id="26" name="Shape 24"/>
          <p:cNvSpPr/>
          <p:nvPr/>
        </p:nvSpPr>
        <p:spPr>
          <a:xfrm>
            <a:off x="548640" y="4828032"/>
            <a:ext cx="7589520" cy="493776"/>
          </a:xfrm>
          <a:prstGeom prst="roundRect">
            <a:avLst>
              <a:gd name="adj" fmla="val 14815"/>
            </a:avLst>
          </a:prstGeom>
          <a:solidFill>
            <a:srgbClr val="F6F8F4"/>
          </a:solidFill>
          <a:ln/>
        </p:spPr>
      </p:sp>
      <p:sp>
        <p:nvSpPr>
          <p:cNvPr id="27" name="Shape 25"/>
          <p:cNvSpPr/>
          <p:nvPr/>
        </p:nvSpPr>
        <p:spPr>
          <a:xfrm>
            <a:off x="640080" y="4892040"/>
            <a:ext cx="868680" cy="365760"/>
          </a:xfrm>
          <a:prstGeom prst="roundRect">
            <a:avLst>
              <a:gd name="adj" fmla="val 50000"/>
            </a:avLst>
          </a:prstGeom>
          <a:solidFill>
            <a:srgbClr val="1E4D3A"/>
          </a:solidFill>
          <a:ln/>
        </p:spPr>
      </p:sp>
      <p:sp>
        <p:nvSpPr>
          <p:cNvPr id="28" name="Text 26"/>
          <p:cNvSpPr txBox="1"/>
          <p:nvPr/>
        </p:nvSpPr>
        <p:spPr>
          <a:xfrm>
            <a:off x="640080" y="489204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12月</a:t>
            </a:r>
            <a:endParaRPr lang="en-US" sz="1400" dirty="0"/>
          </a:p>
        </p:txBody>
      </p:sp>
      <p:sp>
        <p:nvSpPr>
          <p:cNvPr id="29" name="Text 27"/>
          <p:cNvSpPr txBox="1"/>
          <p:nvPr/>
        </p:nvSpPr>
        <p:spPr>
          <a:xfrm>
            <a:off x="1600200" y="482803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菊芋堀り＆乾物活用を楽しみ学ぶ</a:t>
            </a:r>
            <a:endParaRPr lang="en-US" sz="1400" dirty="0"/>
          </a:p>
        </p:txBody>
      </p:sp>
      <p:sp>
        <p:nvSpPr>
          <p:cNvPr id="30" name="Text 28"/>
          <p:cNvSpPr txBox="1"/>
          <p:nvPr/>
        </p:nvSpPr>
        <p:spPr>
          <a:xfrm>
            <a:off x="7132320" y="482803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31" name="Shape 29"/>
          <p:cNvSpPr/>
          <p:nvPr/>
        </p:nvSpPr>
        <p:spPr>
          <a:xfrm>
            <a:off x="548640" y="5376672"/>
            <a:ext cx="7589520" cy="493776"/>
          </a:xfrm>
          <a:prstGeom prst="roundRect">
            <a:avLst>
              <a:gd name="adj" fmla="val 14815"/>
            </a:avLst>
          </a:prstGeom>
          <a:solidFill>
            <a:srgbClr val="F6F8F4"/>
          </a:solidFill>
          <a:ln/>
        </p:spPr>
      </p:sp>
      <p:sp>
        <p:nvSpPr>
          <p:cNvPr id="32" name="Shape 30"/>
          <p:cNvSpPr/>
          <p:nvPr/>
        </p:nvSpPr>
        <p:spPr>
          <a:xfrm>
            <a:off x="640080" y="5440680"/>
            <a:ext cx="868680" cy="365760"/>
          </a:xfrm>
          <a:prstGeom prst="roundRect">
            <a:avLst>
              <a:gd name="adj" fmla="val 50000"/>
            </a:avLst>
          </a:prstGeom>
          <a:solidFill>
            <a:srgbClr val="1E4D3A"/>
          </a:solidFill>
          <a:ln/>
        </p:spPr>
      </p:sp>
      <p:sp>
        <p:nvSpPr>
          <p:cNvPr id="33" name="Text 31"/>
          <p:cNvSpPr txBox="1"/>
          <p:nvPr/>
        </p:nvSpPr>
        <p:spPr>
          <a:xfrm>
            <a:off x="640080" y="544068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2月</a:t>
            </a:r>
            <a:endParaRPr lang="en-US" sz="1400" dirty="0"/>
          </a:p>
        </p:txBody>
      </p:sp>
      <p:sp>
        <p:nvSpPr>
          <p:cNvPr id="34" name="Text 32"/>
          <p:cNvSpPr txBox="1"/>
          <p:nvPr/>
        </p:nvSpPr>
        <p:spPr>
          <a:xfrm>
            <a:off x="1600200" y="5376672"/>
            <a:ext cx="5504688" cy="493776"/>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米・玄米粉のフランス菓子＆米パンを学ぶ</a:t>
            </a:r>
            <a:endParaRPr lang="en-US" sz="1400" dirty="0"/>
          </a:p>
        </p:txBody>
      </p:sp>
      <p:sp>
        <p:nvSpPr>
          <p:cNvPr id="35" name="Text 33"/>
          <p:cNvSpPr txBox="1"/>
          <p:nvPr/>
        </p:nvSpPr>
        <p:spPr>
          <a:xfrm>
            <a:off x="7132320" y="5376672"/>
            <a:ext cx="960120" cy="493776"/>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36" name="Shape 34"/>
          <p:cNvSpPr/>
          <p:nvPr/>
        </p:nvSpPr>
        <p:spPr>
          <a:xfrm>
            <a:off x="8412480" y="1371600"/>
            <a:ext cx="3200400" cy="4800600"/>
          </a:xfrm>
          <a:prstGeom prst="roundRect">
            <a:avLst>
              <a:gd name="adj" fmla="val 3429"/>
            </a:avLst>
          </a:prstGeom>
          <a:solidFill>
            <a:srgbClr val="1E4D3A"/>
          </a:solidFill>
          <a:ln/>
          <a:effectLst>
            <a:outerShdw sx="100000" sy="100000" kx="0" ky="0" algn="bl" rotWithShape="0" blurRad="127000" dist="25400" dir="5400000">
              <a:srgbClr val="000000">
                <a:alpha val="13000"/>
              </a:srgbClr>
            </a:outerShdw>
          </a:effectLst>
        </p:spPr>
      </p:sp>
      <p:sp>
        <p:nvSpPr>
          <p:cNvPr id="37" name="Text 35"/>
          <p:cNvSpPr txBox="1"/>
          <p:nvPr/>
        </p:nvSpPr>
        <p:spPr>
          <a:xfrm>
            <a:off x="8641080" y="1554480"/>
            <a:ext cx="2743200" cy="411480"/>
          </a:xfrm>
          <a:prstGeom prst="rect">
            <a:avLst/>
          </a:prstGeom>
          <a:noFill/>
          <a:ln/>
        </p:spPr>
        <p:txBody>
          <a:bodyPr wrap="square" lIns="635" tIns="635" rIns="635" bIns="635" rtlCol="0" anchor="t"/>
          <a:lstStyle/>
          <a:p>
            <a:pPr indent="0" marL="0">
              <a:lnSpc>
                <a:spcPct val="120000"/>
              </a:lnSpc>
              <a:buNone/>
            </a:pPr>
            <a:r>
              <a:rPr lang="en-US" sz="1800" b="1" dirty="0">
                <a:solidFill>
                  <a:srgbClr val="E8A33D"/>
                </a:solidFill>
                <a:latin typeface="BIZ UDPGothic" pitchFamily="34" charset="0"/>
                <a:ea typeface="BIZ UDPGothic" pitchFamily="34" charset="-122"/>
                <a:cs typeface="BIZ UDPGothic" pitchFamily="34" charset="-120"/>
              </a:rPr>
              <a:t>特別限定特典</a:t>
            </a:r>
            <a:endParaRPr lang="en-US" sz="1800" dirty="0"/>
          </a:p>
        </p:txBody>
      </p:sp>
      <p:sp>
        <p:nvSpPr>
          <p:cNvPr id="38" name="Text 36"/>
          <p:cNvSpPr txBox="1"/>
          <p:nvPr/>
        </p:nvSpPr>
        <p:spPr>
          <a:xfrm>
            <a:off x="8641080" y="2103120"/>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LINEフォロー無期限</a:t>
            </a:r>
            <a:endParaRPr lang="en-US" sz="1500" dirty="0"/>
          </a:p>
        </p:txBody>
      </p:sp>
      <p:sp>
        <p:nvSpPr>
          <p:cNvPr id="39" name="Text 37"/>
          <p:cNvSpPr txBox="1"/>
          <p:nvPr/>
        </p:nvSpPr>
        <p:spPr>
          <a:xfrm>
            <a:off x="8641080" y="2612898"/>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リアルにいつでも圃場見学OK</a:t>
            </a:r>
            <a:endParaRPr lang="en-US" sz="1500" dirty="0"/>
          </a:p>
        </p:txBody>
      </p:sp>
      <p:sp>
        <p:nvSpPr>
          <p:cNvPr id="40" name="Text 38"/>
          <p:cNvSpPr txBox="1"/>
          <p:nvPr/>
        </p:nvSpPr>
        <p:spPr>
          <a:xfrm>
            <a:off x="8641080" y="3385566"/>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フランス菓子基礎動画プレゼント</a:t>
            </a:r>
            <a:endParaRPr lang="en-US" sz="1500" dirty="0"/>
          </a:p>
        </p:txBody>
      </p:sp>
      <p:sp>
        <p:nvSpPr>
          <p:cNvPr id="41" name="Text 39"/>
          <p:cNvSpPr txBox="1"/>
          <p:nvPr/>
        </p:nvSpPr>
        <p:spPr>
          <a:xfrm>
            <a:off x="8641080" y="4158234"/>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FBグループ参加</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メニューのご紹介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 半年コース</a:t>
            </a:r>
            <a:endParaRPr lang="en-US" sz="3000" dirty="0"/>
          </a:p>
        </p:txBody>
      </p:sp>
      <p:sp>
        <p:nvSpPr>
          <p:cNvPr id="4" name="Text 2"/>
          <p:cNvSpPr txBox="1"/>
          <p:nvPr/>
        </p:nvSpPr>
        <p:spPr>
          <a:xfrm>
            <a:off x="548640" y="1371600"/>
            <a:ext cx="7589520" cy="77724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発酵と菊芋の加工、天給自足（野草、きのこ、山菜）を学び、実践できるようになり、家族の健康が実現できます。</a:t>
            </a:r>
            <a:endParaRPr lang="en-US" sz="1500" dirty="0"/>
          </a:p>
        </p:txBody>
      </p:sp>
      <p:sp>
        <p:nvSpPr>
          <p:cNvPr id="5" name="Text 3"/>
          <p:cNvSpPr txBox="1"/>
          <p:nvPr/>
        </p:nvSpPr>
        <p:spPr>
          <a:xfrm>
            <a:off x="548640" y="2194560"/>
            <a:ext cx="758952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天給自足を生活に落とし込み、家族の健康を実現</a:t>
            </a:r>
            <a:endParaRPr lang="en-US" sz="1500" dirty="0"/>
          </a:p>
        </p:txBody>
      </p:sp>
      <p:sp>
        <p:nvSpPr>
          <p:cNvPr id="6" name="Shape 4"/>
          <p:cNvSpPr/>
          <p:nvPr/>
        </p:nvSpPr>
        <p:spPr>
          <a:xfrm>
            <a:off x="548640" y="2633472"/>
            <a:ext cx="7589520" cy="658368"/>
          </a:xfrm>
          <a:prstGeom prst="roundRect">
            <a:avLst>
              <a:gd name="adj" fmla="val 11111"/>
            </a:avLst>
          </a:prstGeom>
          <a:solidFill>
            <a:srgbClr val="F6F8F4"/>
          </a:solidFill>
          <a:ln/>
        </p:spPr>
      </p:sp>
      <p:sp>
        <p:nvSpPr>
          <p:cNvPr id="7" name="Shape 5"/>
          <p:cNvSpPr/>
          <p:nvPr/>
        </p:nvSpPr>
        <p:spPr>
          <a:xfrm>
            <a:off x="640080" y="2779776"/>
            <a:ext cx="868680" cy="365760"/>
          </a:xfrm>
          <a:prstGeom prst="roundRect">
            <a:avLst>
              <a:gd name="adj" fmla="val 50000"/>
            </a:avLst>
          </a:prstGeom>
          <a:solidFill>
            <a:srgbClr val="1E4D3A"/>
          </a:solidFill>
          <a:ln/>
        </p:spPr>
      </p:sp>
      <p:sp>
        <p:nvSpPr>
          <p:cNvPr id="8" name="Text 6"/>
          <p:cNvSpPr txBox="1"/>
          <p:nvPr/>
        </p:nvSpPr>
        <p:spPr>
          <a:xfrm>
            <a:off x="640080" y="2779776"/>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4月</a:t>
            </a:r>
            <a:endParaRPr lang="en-US" sz="1400" dirty="0"/>
          </a:p>
        </p:txBody>
      </p:sp>
      <p:sp>
        <p:nvSpPr>
          <p:cNvPr id="9" name="Text 7"/>
          <p:cNvSpPr txBox="1"/>
          <p:nvPr/>
        </p:nvSpPr>
        <p:spPr>
          <a:xfrm>
            <a:off x="1600200" y="2633472"/>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菊芋活用実践塾＆陸稲・自然農野菜の植え付け、播種。ポタジェ（キッチンガーデン）で菌ちゃん農法実践</a:t>
            </a:r>
            <a:endParaRPr lang="en-US" sz="1400" dirty="0"/>
          </a:p>
        </p:txBody>
      </p:sp>
      <p:sp>
        <p:nvSpPr>
          <p:cNvPr id="10" name="Text 8"/>
          <p:cNvSpPr txBox="1"/>
          <p:nvPr/>
        </p:nvSpPr>
        <p:spPr>
          <a:xfrm>
            <a:off x="7132320" y="2633472"/>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11" name="Shape 9"/>
          <p:cNvSpPr/>
          <p:nvPr/>
        </p:nvSpPr>
        <p:spPr>
          <a:xfrm>
            <a:off x="548640" y="3346704"/>
            <a:ext cx="7589520" cy="658368"/>
          </a:xfrm>
          <a:prstGeom prst="roundRect">
            <a:avLst>
              <a:gd name="adj" fmla="val 11111"/>
            </a:avLst>
          </a:prstGeom>
          <a:solidFill>
            <a:srgbClr val="F6F8F4"/>
          </a:solidFill>
          <a:ln/>
        </p:spPr>
      </p:sp>
      <p:sp>
        <p:nvSpPr>
          <p:cNvPr id="12" name="Shape 10"/>
          <p:cNvSpPr/>
          <p:nvPr/>
        </p:nvSpPr>
        <p:spPr>
          <a:xfrm>
            <a:off x="640080" y="3493008"/>
            <a:ext cx="868680" cy="365760"/>
          </a:xfrm>
          <a:prstGeom prst="roundRect">
            <a:avLst>
              <a:gd name="adj" fmla="val 50000"/>
            </a:avLst>
          </a:prstGeom>
          <a:solidFill>
            <a:srgbClr val="1E4D3A"/>
          </a:solidFill>
          <a:ln/>
        </p:spPr>
      </p:sp>
      <p:sp>
        <p:nvSpPr>
          <p:cNvPr id="13" name="Text 11"/>
          <p:cNvSpPr txBox="1"/>
          <p:nvPr/>
        </p:nvSpPr>
        <p:spPr>
          <a:xfrm>
            <a:off x="640080" y="3493008"/>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6月</a:t>
            </a:r>
            <a:endParaRPr lang="en-US" sz="1400" dirty="0"/>
          </a:p>
        </p:txBody>
      </p:sp>
      <p:sp>
        <p:nvSpPr>
          <p:cNvPr id="14" name="Text 12"/>
          <p:cNvSpPr txBox="1"/>
          <p:nvPr/>
        </p:nvSpPr>
        <p:spPr>
          <a:xfrm>
            <a:off x="1600200" y="3346704"/>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野草を生活に落とし込み楽しみ、見極め食べつくす。野草醤・野草チンキ・野草酵素を作ります</a:t>
            </a:r>
            <a:endParaRPr lang="en-US" sz="1400" dirty="0"/>
          </a:p>
        </p:txBody>
      </p:sp>
      <p:sp>
        <p:nvSpPr>
          <p:cNvPr id="15" name="Text 13"/>
          <p:cNvSpPr txBox="1"/>
          <p:nvPr/>
        </p:nvSpPr>
        <p:spPr>
          <a:xfrm>
            <a:off x="7132320" y="3346704"/>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16" name="Shape 14"/>
          <p:cNvSpPr/>
          <p:nvPr/>
        </p:nvSpPr>
        <p:spPr>
          <a:xfrm>
            <a:off x="548640" y="4059936"/>
            <a:ext cx="7589520" cy="658368"/>
          </a:xfrm>
          <a:prstGeom prst="roundRect">
            <a:avLst>
              <a:gd name="adj" fmla="val 11111"/>
            </a:avLst>
          </a:prstGeom>
          <a:solidFill>
            <a:srgbClr val="F6F8F4"/>
          </a:solidFill>
          <a:ln/>
        </p:spPr>
      </p:sp>
      <p:sp>
        <p:nvSpPr>
          <p:cNvPr id="17" name="Shape 15"/>
          <p:cNvSpPr/>
          <p:nvPr/>
        </p:nvSpPr>
        <p:spPr>
          <a:xfrm>
            <a:off x="640080" y="4206240"/>
            <a:ext cx="868680" cy="365760"/>
          </a:xfrm>
          <a:prstGeom prst="roundRect">
            <a:avLst>
              <a:gd name="adj" fmla="val 50000"/>
            </a:avLst>
          </a:prstGeom>
          <a:solidFill>
            <a:srgbClr val="1E4D3A"/>
          </a:solidFill>
          <a:ln/>
        </p:spPr>
      </p:sp>
      <p:sp>
        <p:nvSpPr>
          <p:cNvPr id="18" name="Text 16"/>
          <p:cNvSpPr txBox="1"/>
          <p:nvPr/>
        </p:nvSpPr>
        <p:spPr>
          <a:xfrm>
            <a:off x="640080" y="420624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8月</a:t>
            </a:r>
            <a:endParaRPr lang="en-US" sz="1400" dirty="0"/>
          </a:p>
        </p:txBody>
      </p:sp>
      <p:sp>
        <p:nvSpPr>
          <p:cNvPr id="19" name="Text 17"/>
          <p:cNvSpPr txBox="1"/>
          <p:nvPr/>
        </p:nvSpPr>
        <p:spPr>
          <a:xfrm>
            <a:off x="1600200" y="4059936"/>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陸稲＆野菜栽培観察、夏野菜を楽しみ食べ尽くす。竹細工で自分の箸・皿・カップ等々を創る</a:t>
            </a:r>
            <a:endParaRPr lang="en-US" sz="1400" dirty="0"/>
          </a:p>
        </p:txBody>
      </p:sp>
      <p:sp>
        <p:nvSpPr>
          <p:cNvPr id="20" name="Text 18"/>
          <p:cNvSpPr txBox="1"/>
          <p:nvPr/>
        </p:nvSpPr>
        <p:spPr>
          <a:xfrm>
            <a:off x="7132320" y="4059936"/>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21" name="Shape 19"/>
          <p:cNvSpPr/>
          <p:nvPr/>
        </p:nvSpPr>
        <p:spPr>
          <a:xfrm>
            <a:off x="548640" y="4773168"/>
            <a:ext cx="7589520" cy="658368"/>
          </a:xfrm>
          <a:prstGeom prst="roundRect">
            <a:avLst>
              <a:gd name="adj" fmla="val 11111"/>
            </a:avLst>
          </a:prstGeom>
          <a:solidFill>
            <a:srgbClr val="F6F8F4"/>
          </a:solidFill>
          <a:ln/>
        </p:spPr>
      </p:sp>
      <p:sp>
        <p:nvSpPr>
          <p:cNvPr id="22" name="Shape 20"/>
          <p:cNvSpPr/>
          <p:nvPr/>
        </p:nvSpPr>
        <p:spPr>
          <a:xfrm>
            <a:off x="640080" y="4919472"/>
            <a:ext cx="868680" cy="365760"/>
          </a:xfrm>
          <a:prstGeom prst="roundRect">
            <a:avLst>
              <a:gd name="adj" fmla="val 50000"/>
            </a:avLst>
          </a:prstGeom>
          <a:solidFill>
            <a:srgbClr val="1E4D3A"/>
          </a:solidFill>
          <a:ln/>
        </p:spPr>
      </p:sp>
      <p:sp>
        <p:nvSpPr>
          <p:cNvPr id="23" name="Text 21"/>
          <p:cNvSpPr txBox="1"/>
          <p:nvPr/>
        </p:nvSpPr>
        <p:spPr>
          <a:xfrm>
            <a:off x="640080" y="4919472"/>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10月</a:t>
            </a:r>
            <a:endParaRPr lang="en-US" sz="1400" dirty="0"/>
          </a:p>
        </p:txBody>
      </p:sp>
      <p:sp>
        <p:nvSpPr>
          <p:cNvPr id="24" name="Text 22"/>
          <p:cNvSpPr txBox="1"/>
          <p:nvPr/>
        </p:nvSpPr>
        <p:spPr>
          <a:xfrm>
            <a:off x="1600200" y="4773168"/>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醗酵実践塾＆きのこを楽しむ。あらゆる醗酵を学び、きのこ収穫体験と見極め</a:t>
            </a:r>
            <a:endParaRPr lang="en-US" sz="1400" dirty="0"/>
          </a:p>
        </p:txBody>
      </p:sp>
      <p:sp>
        <p:nvSpPr>
          <p:cNvPr id="25" name="Text 23"/>
          <p:cNvSpPr txBox="1"/>
          <p:nvPr/>
        </p:nvSpPr>
        <p:spPr>
          <a:xfrm>
            <a:off x="7132320" y="4773168"/>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3泊4日</a:t>
            </a:r>
            <a:endParaRPr lang="en-US" sz="1300" dirty="0"/>
          </a:p>
        </p:txBody>
      </p:sp>
      <p:sp>
        <p:nvSpPr>
          <p:cNvPr id="26" name="Text 24"/>
          <p:cNvSpPr txBox="1"/>
          <p:nvPr/>
        </p:nvSpPr>
        <p:spPr>
          <a:xfrm>
            <a:off x="548640" y="5504688"/>
            <a:ext cx="7589520" cy="347472"/>
          </a:xfrm>
          <a:prstGeom prst="rect">
            <a:avLst/>
          </a:prstGeom>
          <a:noFill/>
          <a:ln/>
        </p:spPr>
        <p:txBody>
          <a:bodyPr wrap="square" lIns="635" tIns="635" rIns="635" bIns="635" rtlCol="0" anchor="t"/>
          <a:lstStyle/>
          <a:p>
            <a:pPr indent="0" marL="0">
              <a:lnSpc>
                <a:spcPct val="120000"/>
              </a:lnSpc>
              <a:buNone/>
            </a:pPr>
            <a:r>
              <a:rPr lang="en-US" sz="1400" b="1" dirty="0">
                <a:solidFill>
                  <a:srgbClr val="8A5A10"/>
                </a:solidFill>
                <a:latin typeface="BIZ UDPGothic" pitchFamily="34" charset="0"/>
                <a:ea typeface="BIZ UDPGothic" pitchFamily="34" charset="-122"/>
                <a:cs typeface="BIZ UDPGothic" pitchFamily="34" charset="-120"/>
              </a:rPr>
              <a:t>★このコースは半年で天給自足を学ぶコースです。</a:t>
            </a:r>
            <a:endParaRPr lang="en-US" sz="1400" dirty="0"/>
          </a:p>
        </p:txBody>
      </p:sp>
      <p:sp>
        <p:nvSpPr>
          <p:cNvPr id="27" name="Shape 25"/>
          <p:cNvSpPr/>
          <p:nvPr/>
        </p:nvSpPr>
        <p:spPr>
          <a:xfrm>
            <a:off x="8412480" y="1371600"/>
            <a:ext cx="3200400" cy="4800600"/>
          </a:xfrm>
          <a:prstGeom prst="roundRect">
            <a:avLst>
              <a:gd name="adj" fmla="val 3429"/>
            </a:avLst>
          </a:prstGeom>
          <a:solidFill>
            <a:srgbClr val="1E4D3A"/>
          </a:solidFill>
          <a:ln/>
          <a:effectLst>
            <a:outerShdw sx="100000" sy="100000" kx="0" ky="0" algn="bl" rotWithShape="0" blurRad="127000" dist="25400" dir="5400000">
              <a:srgbClr val="000000">
                <a:alpha val="13000"/>
              </a:srgbClr>
            </a:outerShdw>
          </a:effectLst>
        </p:spPr>
      </p:sp>
      <p:sp>
        <p:nvSpPr>
          <p:cNvPr id="28" name="Text 26"/>
          <p:cNvSpPr txBox="1"/>
          <p:nvPr/>
        </p:nvSpPr>
        <p:spPr>
          <a:xfrm>
            <a:off x="8641080" y="1554480"/>
            <a:ext cx="2743200" cy="411480"/>
          </a:xfrm>
          <a:prstGeom prst="rect">
            <a:avLst/>
          </a:prstGeom>
          <a:noFill/>
          <a:ln/>
        </p:spPr>
        <p:txBody>
          <a:bodyPr wrap="square" lIns="635" tIns="635" rIns="635" bIns="635" rtlCol="0" anchor="t"/>
          <a:lstStyle/>
          <a:p>
            <a:pPr indent="0" marL="0">
              <a:lnSpc>
                <a:spcPct val="120000"/>
              </a:lnSpc>
              <a:buNone/>
            </a:pPr>
            <a:r>
              <a:rPr lang="en-US" sz="1800" b="1" dirty="0">
                <a:solidFill>
                  <a:srgbClr val="E8A33D"/>
                </a:solidFill>
                <a:latin typeface="BIZ UDPGothic" pitchFamily="34" charset="0"/>
                <a:ea typeface="BIZ UDPGothic" pitchFamily="34" charset="-122"/>
                <a:cs typeface="BIZ UDPGothic" pitchFamily="34" charset="-120"/>
              </a:rPr>
              <a:t>特別限定特典</a:t>
            </a:r>
            <a:endParaRPr lang="en-US" sz="1800" dirty="0"/>
          </a:p>
        </p:txBody>
      </p:sp>
      <p:sp>
        <p:nvSpPr>
          <p:cNvPr id="29" name="Text 27"/>
          <p:cNvSpPr txBox="1"/>
          <p:nvPr/>
        </p:nvSpPr>
        <p:spPr>
          <a:xfrm>
            <a:off x="8641080" y="2103120"/>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LINEフォロー無期限</a:t>
            </a:r>
            <a:endParaRPr lang="en-US" sz="1500" dirty="0"/>
          </a:p>
        </p:txBody>
      </p:sp>
      <p:sp>
        <p:nvSpPr>
          <p:cNvPr id="30" name="Text 28"/>
          <p:cNvSpPr txBox="1"/>
          <p:nvPr/>
        </p:nvSpPr>
        <p:spPr>
          <a:xfrm>
            <a:off x="8641080" y="2612898"/>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リアルにいつでも圃場見学 無期限</a:t>
            </a:r>
            <a:endParaRPr lang="en-US" sz="1500" dirty="0"/>
          </a:p>
        </p:txBody>
      </p:sp>
      <p:sp>
        <p:nvSpPr>
          <p:cNvPr id="31" name="Text 29"/>
          <p:cNvSpPr txBox="1"/>
          <p:nvPr/>
        </p:nvSpPr>
        <p:spPr>
          <a:xfrm>
            <a:off x="8641080" y="3385566"/>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FBグループ参加</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50年の経験のすべてを</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天給自足塾でお伝えできること</a:t>
            </a:r>
            <a:endParaRPr lang="en-US" sz="3000" dirty="0"/>
          </a:p>
        </p:txBody>
      </p:sp>
      <p:sp>
        <p:nvSpPr>
          <p:cNvPr id="4" name="Shape 2"/>
          <p:cNvSpPr/>
          <p:nvPr/>
        </p:nvSpPr>
        <p:spPr>
          <a:xfrm>
            <a:off x="548640" y="1472184"/>
            <a:ext cx="402336" cy="402336"/>
          </a:xfrm>
          <a:prstGeom prst="ellipse">
            <a:avLst/>
          </a:prstGeom>
          <a:solidFill>
            <a:srgbClr val="EEF5EA"/>
          </a:solidFill>
          <a:ln/>
        </p:spPr>
      </p:sp>
      <p:pic>
        <p:nvPicPr>
          <p:cNvPr id="5" name="Image 0" descr="preencoded.png">    </p:cNvPr>
          <p:cNvPicPr>
            <a:picLocks noChangeAspect="1"/>
          </p:cNvPicPr>
          <p:nvPr/>
        </p:nvPicPr>
        <p:blipFill>
          <a:blip r:embed="rId1"/>
          <a:stretch>
            <a:fillRect/>
          </a:stretch>
        </p:blipFill>
        <p:spPr>
          <a:xfrm>
            <a:off x="645201" y="1568745"/>
            <a:ext cx="209215" cy="209215"/>
          </a:xfrm>
          <a:prstGeom prst="rect">
            <a:avLst/>
          </a:prstGeom>
        </p:spPr>
      </p:pic>
      <p:sp>
        <p:nvSpPr>
          <p:cNvPr id="6" name="Text 3"/>
          <p:cNvSpPr txBox="1"/>
          <p:nvPr/>
        </p:nvSpPr>
        <p:spPr>
          <a:xfrm>
            <a:off x="1097280" y="1444752"/>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スイス1年・フランス3年のお菓子作り修行</a:t>
            </a:r>
            <a:endParaRPr lang="en-US" sz="1500" dirty="0"/>
          </a:p>
        </p:txBody>
      </p:sp>
      <p:sp>
        <p:nvSpPr>
          <p:cNvPr id="7" name="Shape 4"/>
          <p:cNvSpPr/>
          <p:nvPr/>
        </p:nvSpPr>
        <p:spPr>
          <a:xfrm>
            <a:off x="8092440" y="1499616"/>
            <a:ext cx="2057400" cy="347472"/>
          </a:xfrm>
          <a:prstGeom prst="roundRect">
            <a:avLst>
              <a:gd name="adj" fmla="val 50000"/>
            </a:avLst>
          </a:prstGeom>
          <a:solidFill>
            <a:srgbClr val="EEF5EA"/>
          </a:solidFill>
          <a:ln/>
        </p:spPr>
      </p:sp>
      <p:sp>
        <p:nvSpPr>
          <p:cNvPr id="8" name="Text 5"/>
          <p:cNvSpPr txBox="1"/>
          <p:nvPr/>
        </p:nvSpPr>
        <p:spPr>
          <a:xfrm>
            <a:off x="8092440" y="1499616"/>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修行4年4か月＋50年</a:t>
            </a:r>
            <a:endParaRPr lang="en-US" sz="1200" dirty="0"/>
          </a:p>
        </p:txBody>
      </p:sp>
      <p:sp>
        <p:nvSpPr>
          <p:cNvPr id="9" name="Text 6"/>
          <p:cNvSpPr txBox="1"/>
          <p:nvPr/>
        </p:nvSpPr>
        <p:spPr>
          <a:xfrm>
            <a:off x="10195560" y="1444752"/>
            <a:ext cx="1417320" cy="457200"/>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1,000万円〜</a:t>
            </a:r>
            <a:endParaRPr lang="en-US" sz="1700" dirty="0"/>
          </a:p>
        </p:txBody>
      </p:sp>
      <p:sp>
        <p:nvSpPr>
          <p:cNvPr id="10" name="Shape 7"/>
          <p:cNvSpPr/>
          <p:nvPr/>
        </p:nvSpPr>
        <p:spPr>
          <a:xfrm>
            <a:off x="548640" y="2093976"/>
            <a:ext cx="402336" cy="402336"/>
          </a:xfrm>
          <a:prstGeom prst="ellipse">
            <a:avLst/>
          </a:prstGeom>
          <a:solidFill>
            <a:srgbClr val="EEF5EA"/>
          </a:solidFill>
          <a:ln/>
        </p:spPr>
      </p:sp>
      <p:pic>
        <p:nvPicPr>
          <p:cNvPr id="11" name="Image 1" descr="preencoded.png">    </p:cNvPr>
          <p:cNvPicPr>
            <a:picLocks noChangeAspect="1"/>
          </p:cNvPicPr>
          <p:nvPr/>
        </p:nvPicPr>
        <p:blipFill>
          <a:blip r:embed="rId2"/>
          <a:stretch>
            <a:fillRect/>
          </a:stretch>
        </p:blipFill>
        <p:spPr>
          <a:xfrm>
            <a:off x="645201" y="2190537"/>
            <a:ext cx="209215" cy="209215"/>
          </a:xfrm>
          <a:prstGeom prst="rect">
            <a:avLst/>
          </a:prstGeom>
        </p:spPr>
      </p:pic>
      <p:sp>
        <p:nvSpPr>
          <p:cNvPr id="12" name="Text 8"/>
          <p:cNvSpPr txBox="1"/>
          <p:nvPr/>
        </p:nvSpPr>
        <p:spPr>
          <a:xfrm>
            <a:off x="1097280" y="1956816"/>
            <a:ext cx="6858000" cy="676656"/>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新潟県柏崎農業高等学校 食品化学科で、食の理論と実践を学ぶ ＆ 家庭で簡単にできる糀作り（だき糀作り）</a:t>
            </a:r>
            <a:endParaRPr lang="en-US" sz="1500" dirty="0"/>
          </a:p>
        </p:txBody>
      </p:sp>
      <p:sp>
        <p:nvSpPr>
          <p:cNvPr id="13" name="Shape 9"/>
          <p:cNvSpPr/>
          <p:nvPr/>
        </p:nvSpPr>
        <p:spPr>
          <a:xfrm>
            <a:off x="8092440" y="2121408"/>
            <a:ext cx="2057400" cy="347472"/>
          </a:xfrm>
          <a:prstGeom prst="roundRect">
            <a:avLst>
              <a:gd name="adj" fmla="val 50000"/>
            </a:avLst>
          </a:prstGeom>
          <a:solidFill>
            <a:srgbClr val="EEF5EA"/>
          </a:solidFill>
          <a:ln/>
        </p:spPr>
      </p:sp>
      <p:sp>
        <p:nvSpPr>
          <p:cNvPr id="14" name="Text 10"/>
          <p:cNvSpPr txBox="1"/>
          <p:nvPr/>
        </p:nvSpPr>
        <p:spPr>
          <a:xfrm>
            <a:off x="8092440" y="2121408"/>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3年</a:t>
            </a:r>
            <a:endParaRPr lang="en-US" sz="1200" dirty="0"/>
          </a:p>
        </p:txBody>
      </p:sp>
      <p:sp>
        <p:nvSpPr>
          <p:cNvPr id="15" name="Text 11"/>
          <p:cNvSpPr txBox="1"/>
          <p:nvPr/>
        </p:nvSpPr>
        <p:spPr>
          <a:xfrm>
            <a:off x="10195560" y="1956816"/>
            <a:ext cx="1417320" cy="676656"/>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30万円〜</a:t>
            </a:r>
            <a:endParaRPr lang="en-US" sz="1700" dirty="0"/>
          </a:p>
        </p:txBody>
      </p:sp>
      <p:sp>
        <p:nvSpPr>
          <p:cNvPr id="16" name="Shape 12"/>
          <p:cNvSpPr/>
          <p:nvPr/>
        </p:nvSpPr>
        <p:spPr>
          <a:xfrm>
            <a:off x="548640" y="2825496"/>
            <a:ext cx="402336" cy="402336"/>
          </a:xfrm>
          <a:prstGeom prst="ellipse">
            <a:avLst/>
          </a:prstGeom>
          <a:solidFill>
            <a:srgbClr val="EEF5EA"/>
          </a:solidFill>
          <a:ln/>
        </p:spPr>
      </p:sp>
      <p:pic>
        <p:nvPicPr>
          <p:cNvPr id="17" name="Image 2" descr="preencoded.png">    </p:cNvPr>
          <p:cNvPicPr>
            <a:picLocks noChangeAspect="1"/>
          </p:cNvPicPr>
          <p:nvPr/>
        </p:nvPicPr>
        <p:blipFill>
          <a:blip r:embed="rId3"/>
          <a:stretch>
            <a:fillRect/>
          </a:stretch>
        </p:blipFill>
        <p:spPr>
          <a:xfrm>
            <a:off x="645201" y="2922057"/>
            <a:ext cx="209215" cy="209215"/>
          </a:xfrm>
          <a:prstGeom prst="rect">
            <a:avLst/>
          </a:prstGeom>
        </p:spPr>
      </p:pic>
      <p:sp>
        <p:nvSpPr>
          <p:cNvPr id="18" name="Text 13"/>
          <p:cNvSpPr txBox="1"/>
          <p:nvPr/>
        </p:nvSpPr>
        <p:spPr>
          <a:xfrm>
            <a:off x="1097280" y="2688336"/>
            <a:ext cx="6858000" cy="676656"/>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陸稲（畑のお米づくり）・菌ちゃん農法・自然農・野草塾・きのこ塾・ポタジェ（キッチンガーデン）作り・サバイバル術講座</a:t>
            </a:r>
            <a:endParaRPr lang="en-US" sz="1500" dirty="0"/>
          </a:p>
        </p:txBody>
      </p:sp>
      <p:sp>
        <p:nvSpPr>
          <p:cNvPr id="19" name="Shape 14"/>
          <p:cNvSpPr/>
          <p:nvPr/>
        </p:nvSpPr>
        <p:spPr>
          <a:xfrm>
            <a:off x="8092440" y="2852928"/>
            <a:ext cx="2057400" cy="347472"/>
          </a:xfrm>
          <a:prstGeom prst="roundRect">
            <a:avLst>
              <a:gd name="adj" fmla="val 50000"/>
            </a:avLst>
          </a:prstGeom>
          <a:solidFill>
            <a:srgbClr val="EEF5EA"/>
          </a:solidFill>
          <a:ln/>
        </p:spPr>
      </p:sp>
      <p:sp>
        <p:nvSpPr>
          <p:cNvPr id="20" name="Text 15"/>
          <p:cNvSpPr txBox="1"/>
          <p:nvPr/>
        </p:nvSpPr>
        <p:spPr>
          <a:xfrm>
            <a:off x="8092440" y="2852928"/>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1〜5年</a:t>
            </a:r>
            <a:endParaRPr lang="en-US" sz="1200" dirty="0"/>
          </a:p>
        </p:txBody>
      </p:sp>
      <p:sp>
        <p:nvSpPr>
          <p:cNvPr id="21" name="Text 16"/>
          <p:cNvSpPr txBox="1"/>
          <p:nvPr/>
        </p:nvSpPr>
        <p:spPr>
          <a:xfrm>
            <a:off x="10195560" y="2688336"/>
            <a:ext cx="1417320" cy="676656"/>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30万円〜</a:t>
            </a:r>
            <a:endParaRPr lang="en-US" sz="1700" dirty="0"/>
          </a:p>
        </p:txBody>
      </p:sp>
      <p:sp>
        <p:nvSpPr>
          <p:cNvPr id="22" name="Shape 17"/>
          <p:cNvSpPr/>
          <p:nvPr/>
        </p:nvSpPr>
        <p:spPr>
          <a:xfrm>
            <a:off x="548640" y="3447288"/>
            <a:ext cx="402336" cy="402336"/>
          </a:xfrm>
          <a:prstGeom prst="ellipse">
            <a:avLst/>
          </a:prstGeom>
          <a:solidFill>
            <a:srgbClr val="EEF5EA"/>
          </a:solidFill>
          <a:ln/>
        </p:spPr>
      </p:sp>
      <p:pic>
        <p:nvPicPr>
          <p:cNvPr id="23" name="Image 3" descr="preencoded.png">    </p:cNvPr>
          <p:cNvPicPr>
            <a:picLocks noChangeAspect="1"/>
          </p:cNvPicPr>
          <p:nvPr/>
        </p:nvPicPr>
        <p:blipFill>
          <a:blip r:embed="rId4"/>
          <a:stretch>
            <a:fillRect/>
          </a:stretch>
        </p:blipFill>
        <p:spPr>
          <a:xfrm>
            <a:off x="645201" y="3543849"/>
            <a:ext cx="209215" cy="209215"/>
          </a:xfrm>
          <a:prstGeom prst="rect">
            <a:avLst/>
          </a:prstGeom>
        </p:spPr>
      </p:pic>
      <p:sp>
        <p:nvSpPr>
          <p:cNvPr id="24" name="Text 18"/>
          <p:cNvSpPr txBox="1"/>
          <p:nvPr/>
        </p:nvSpPr>
        <p:spPr>
          <a:xfrm>
            <a:off x="1097280" y="3419856"/>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お米・玄米で作るフランス菓子講座</a:t>
            </a:r>
            <a:endParaRPr lang="en-US" sz="1500" dirty="0"/>
          </a:p>
        </p:txBody>
      </p:sp>
      <p:sp>
        <p:nvSpPr>
          <p:cNvPr id="25" name="Shape 19"/>
          <p:cNvSpPr/>
          <p:nvPr/>
        </p:nvSpPr>
        <p:spPr>
          <a:xfrm>
            <a:off x="8092440" y="3474720"/>
            <a:ext cx="2057400" cy="347472"/>
          </a:xfrm>
          <a:prstGeom prst="roundRect">
            <a:avLst>
              <a:gd name="adj" fmla="val 50000"/>
            </a:avLst>
          </a:prstGeom>
          <a:solidFill>
            <a:srgbClr val="EEF5EA"/>
          </a:solidFill>
          <a:ln/>
        </p:spPr>
      </p:sp>
      <p:sp>
        <p:nvSpPr>
          <p:cNvPr id="26" name="Text 20"/>
          <p:cNvSpPr txBox="1"/>
          <p:nvPr/>
        </p:nvSpPr>
        <p:spPr>
          <a:xfrm>
            <a:off x="8092440" y="3474720"/>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50年</a:t>
            </a:r>
            <a:endParaRPr lang="en-US" sz="1200" dirty="0"/>
          </a:p>
        </p:txBody>
      </p:sp>
      <p:sp>
        <p:nvSpPr>
          <p:cNvPr id="27" name="Text 21"/>
          <p:cNvSpPr txBox="1"/>
          <p:nvPr/>
        </p:nvSpPr>
        <p:spPr>
          <a:xfrm>
            <a:off x="10195560" y="3419856"/>
            <a:ext cx="1417320" cy="457200"/>
          </a:xfrm>
          <a:prstGeom prst="rect">
            <a:avLst/>
          </a:prstGeom>
          <a:noFill/>
          <a:ln/>
        </p:spPr>
        <p:txBody>
          <a:bodyPr wrap="square" lIns="635" tIns="635" rIns="635" bIns="635" rtlCol="0" anchor="ctr"/>
          <a:lstStyle/>
          <a:p>
            <a:pPr algn="r" indent="0" marL="0">
              <a:lnSpc>
                <a:spcPct val="120000"/>
              </a:lnSpc>
              <a:buNone/>
            </a:pPr>
            <a:endParaRPr lang="en-US" sz="1700" dirty="0"/>
          </a:p>
        </p:txBody>
      </p:sp>
      <p:sp>
        <p:nvSpPr>
          <p:cNvPr id="28" name="Shape 22"/>
          <p:cNvSpPr/>
          <p:nvPr/>
        </p:nvSpPr>
        <p:spPr>
          <a:xfrm>
            <a:off x="548640" y="3959352"/>
            <a:ext cx="402336" cy="402336"/>
          </a:xfrm>
          <a:prstGeom prst="ellipse">
            <a:avLst/>
          </a:prstGeom>
          <a:solidFill>
            <a:srgbClr val="EEF5EA"/>
          </a:solidFill>
          <a:ln/>
        </p:spPr>
      </p:sp>
      <p:pic>
        <p:nvPicPr>
          <p:cNvPr id="29" name="Image 4" descr="preencoded.png">    </p:cNvPr>
          <p:cNvPicPr>
            <a:picLocks noChangeAspect="1"/>
          </p:cNvPicPr>
          <p:nvPr/>
        </p:nvPicPr>
        <p:blipFill>
          <a:blip r:embed="rId5"/>
          <a:stretch>
            <a:fillRect/>
          </a:stretch>
        </p:blipFill>
        <p:spPr>
          <a:xfrm>
            <a:off x="645201" y="4055913"/>
            <a:ext cx="209215" cy="209215"/>
          </a:xfrm>
          <a:prstGeom prst="rect">
            <a:avLst/>
          </a:prstGeom>
        </p:spPr>
      </p:pic>
      <p:sp>
        <p:nvSpPr>
          <p:cNvPr id="30" name="Text 23"/>
          <p:cNvSpPr txBox="1"/>
          <p:nvPr/>
        </p:nvSpPr>
        <p:spPr>
          <a:xfrm>
            <a:off x="1097280" y="3931920"/>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お米・玄米で作るパン講座・天然酵母パン講座</a:t>
            </a:r>
            <a:endParaRPr lang="en-US" sz="1500" dirty="0"/>
          </a:p>
        </p:txBody>
      </p:sp>
      <p:sp>
        <p:nvSpPr>
          <p:cNvPr id="31" name="Shape 24"/>
          <p:cNvSpPr/>
          <p:nvPr/>
        </p:nvSpPr>
        <p:spPr>
          <a:xfrm>
            <a:off x="8092440" y="3986784"/>
            <a:ext cx="2057400" cy="347472"/>
          </a:xfrm>
          <a:prstGeom prst="roundRect">
            <a:avLst>
              <a:gd name="adj" fmla="val 50000"/>
            </a:avLst>
          </a:prstGeom>
          <a:solidFill>
            <a:srgbClr val="EEF5EA"/>
          </a:solidFill>
          <a:ln/>
        </p:spPr>
      </p:sp>
      <p:sp>
        <p:nvSpPr>
          <p:cNvPr id="32" name="Text 25"/>
          <p:cNvSpPr txBox="1"/>
          <p:nvPr/>
        </p:nvSpPr>
        <p:spPr>
          <a:xfrm>
            <a:off x="8092440" y="3986784"/>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50年</a:t>
            </a:r>
            <a:endParaRPr lang="en-US" sz="1200" dirty="0"/>
          </a:p>
        </p:txBody>
      </p:sp>
      <p:sp>
        <p:nvSpPr>
          <p:cNvPr id="33" name="Text 26"/>
          <p:cNvSpPr txBox="1"/>
          <p:nvPr/>
        </p:nvSpPr>
        <p:spPr>
          <a:xfrm>
            <a:off x="10195560" y="3931920"/>
            <a:ext cx="1417320" cy="457200"/>
          </a:xfrm>
          <a:prstGeom prst="rect">
            <a:avLst/>
          </a:prstGeom>
          <a:noFill/>
          <a:ln/>
        </p:spPr>
        <p:txBody>
          <a:bodyPr wrap="square" lIns="635" tIns="635" rIns="635" bIns="635" rtlCol="0" anchor="ctr"/>
          <a:lstStyle/>
          <a:p>
            <a:pPr algn="r" indent="0" marL="0">
              <a:lnSpc>
                <a:spcPct val="120000"/>
              </a:lnSpc>
              <a:buNone/>
            </a:pPr>
            <a:endParaRPr lang="en-US" sz="1700" dirty="0"/>
          </a:p>
        </p:txBody>
      </p:sp>
      <p:sp>
        <p:nvSpPr>
          <p:cNvPr id="34" name="Shape 27"/>
          <p:cNvSpPr/>
          <p:nvPr/>
        </p:nvSpPr>
        <p:spPr>
          <a:xfrm>
            <a:off x="548640" y="4471416"/>
            <a:ext cx="402336" cy="402336"/>
          </a:xfrm>
          <a:prstGeom prst="ellipse">
            <a:avLst/>
          </a:prstGeom>
          <a:solidFill>
            <a:srgbClr val="EEF5EA"/>
          </a:solidFill>
          <a:ln/>
        </p:spPr>
      </p:sp>
      <p:pic>
        <p:nvPicPr>
          <p:cNvPr id="35" name="Image 5" descr="preencoded.png">    </p:cNvPr>
          <p:cNvPicPr>
            <a:picLocks noChangeAspect="1"/>
          </p:cNvPicPr>
          <p:nvPr/>
        </p:nvPicPr>
        <p:blipFill>
          <a:blip r:embed="rId6"/>
          <a:stretch>
            <a:fillRect/>
          </a:stretch>
        </p:blipFill>
        <p:spPr>
          <a:xfrm>
            <a:off x="645201" y="4567977"/>
            <a:ext cx="209215" cy="209215"/>
          </a:xfrm>
          <a:prstGeom prst="rect">
            <a:avLst/>
          </a:prstGeom>
        </p:spPr>
      </p:pic>
      <p:sp>
        <p:nvSpPr>
          <p:cNvPr id="36" name="Text 28"/>
          <p:cNvSpPr txBox="1"/>
          <p:nvPr/>
        </p:nvSpPr>
        <p:spPr>
          <a:xfrm>
            <a:off x="1097280" y="4443984"/>
            <a:ext cx="6858000" cy="457200"/>
          </a:xfrm>
          <a:prstGeom prst="rect">
            <a:avLst/>
          </a:prstGeom>
          <a:noFill/>
          <a:ln/>
        </p:spPr>
        <p:txBody>
          <a:bodyPr wrap="square" lIns="635" tIns="635" rIns="635" bIns="635" rtlCol="0" anchor="ctr"/>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ビジネススクール</a:t>
            </a:r>
            <a:endParaRPr lang="en-US" sz="1500" dirty="0"/>
          </a:p>
        </p:txBody>
      </p:sp>
      <p:sp>
        <p:nvSpPr>
          <p:cNvPr id="37" name="Shape 29"/>
          <p:cNvSpPr/>
          <p:nvPr/>
        </p:nvSpPr>
        <p:spPr>
          <a:xfrm>
            <a:off x="8092440" y="4498848"/>
            <a:ext cx="2057400" cy="347472"/>
          </a:xfrm>
          <a:prstGeom prst="roundRect">
            <a:avLst>
              <a:gd name="adj" fmla="val 50000"/>
            </a:avLst>
          </a:prstGeom>
          <a:solidFill>
            <a:srgbClr val="EEF5EA"/>
          </a:solidFill>
          <a:ln/>
        </p:spPr>
      </p:sp>
      <p:sp>
        <p:nvSpPr>
          <p:cNvPr id="38" name="Text 30"/>
          <p:cNvSpPr txBox="1"/>
          <p:nvPr/>
        </p:nvSpPr>
        <p:spPr>
          <a:xfrm>
            <a:off x="8092440" y="4498848"/>
            <a:ext cx="2057400" cy="347472"/>
          </a:xfrm>
          <a:prstGeom prst="rect">
            <a:avLst/>
          </a:prstGeom>
          <a:noFill/>
          <a:ln/>
        </p:spPr>
        <p:txBody>
          <a:bodyPr wrap="square" lIns="0" tIns="0" rIns="0" bIns="0" rtlCol="0" anchor="ctr"/>
          <a:lstStyle/>
          <a:p>
            <a:pPr algn="ctr" indent="0" marL="0">
              <a:lnSpc>
                <a:spcPct val="120000"/>
              </a:lnSpc>
              <a:buNone/>
            </a:pPr>
            <a:r>
              <a:rPr lang="en-US" sz="1200" dirty="0">
                <a:solidFill>
                  <a:srgbClr val="1E4D3A"/>
                </a:solidFill>
                <a:latin typeface="BIZ UDPGothic" pitchFamily="34" charset="0"/>
                <a:ea typeface="BIZ UDPGothic" pitchFamily="34" charset="-122"/>
                <a:cs typeface="BIZ UDPGothic" pitchFamily="34" charset="-120"/>
              </a:rPr>
              <a:t>2年</a:t>
            </a:r>
            <a:endParaRPr lang="en-US" sz="1200" dirty="0"/>
          </a:p>
        </p:txBody>
      </p:sp>
      <p:sp>
        <p:nvSpPr>
          <p:cNvPr id="39" name="Text 31"/>
          <p:cNvSpPr txBox="1"/>
          <p:nvPr/>
        </p:nvSpPr>
        <p:spPr>
          <a:xfrm>
            <a:off x="10195560" y="4443984"/>
            <a:ext cx="1417320" cy="457200"/>
          </a:xfrm>
          <a:prstGeom prst="rect">
            <a:avLst/>
          </a:prstGeom>
          <a:noFill/>
          <a:ln/>
        </p:spPr>
        <p:txBody>
          <a:bodyPr wrap="square" lIns="635" tIns="635" rIns="635" bIns="635" rtlCol="0" anchor="ctr"/>
          <a:lstStyle/>
          <a:p>
            <a:pPr algn="r" indent="0" marL="0">
              <a:lnSpc>
                <a:spcPct val="120000"/>
              </a:lnSpc>
              <a:buNone/>
            </a:pPr>
            <a:r>
              <a:rPr lang="en-US" sz="1700" b="1" dirty="0">
                <a:solidFill>
                  <a:srgbClr val="C8502F"/>
                </a:solidFill>
                <a:latin typeface="BIZ UDPGothic" pitchFamily="34" charset="0"/>
                <a:ea typeface="BIZ UDPGothic" pitchFamily="34" charset="-122"/>
                <a:cs typeface="BIZ UDPGothic" pitchFamily="34" charset="-120"/>
              </a:rPr>
              <a:t>100万円</a:t>
            </a:r>
            <a:endParaRPr lang="en-US" sz="1700" dirty="0"/>
          </a:p>
        </p:txBody>
      </p:sp>
      <p:sp>
        <p:nvSpPr>
          <p:cNvPr id="40" name="Shape 32"/>
          <p:cNvSpPr/>
          <p:nvPr/>
        </p:nvSpPr>
        <p:spPr>
          <a:xfrm>
            <a:off x="548640" y="5138928"/>
            <a:ext cx="11064240" cy="1115568"/>
          </a:xfrm>
          <a:prstGeom prst="roundRect">
            <a:avLst>
              <a:gd name="adj" fmla="val 9836"/>
            </a:avLst>
          </a:prstGeom>
          <a:solidFill>
            <a:srgbClr val="1E4D3A"/>
          </a:solidFill>
          <a:ln/>
        </p:spPr>
      </p:sp>
      <p:sp>
        <p:nvSpPr>
          <p:cNvPr id="41" name="Text 33"/>
          <p:cNvSpPr txBox="1"/>
          <p:nvPr/>
        </p:nvSpPr>
        <p:spPr>
          <a:xfrm>
            <a:off x="822960" y="5175504"/>
            <a:ext cx="10607040" cy="566928"/>
          </a:xfrm>
          <a:prstGeom prst="rect">
            <a:avLst/>
          </a:prstGeom>
          <a:noFill/>
          <a:ln/>
        </p:spPr>
        <p:txBody>
          <a:bodyPr wrap="square" lIns="635" tIns="635" rIns="635" bIns="635" rtlCol="0" anchor="ctr"/>
          <a:lstStyle/>
          <a:p>
            <a:pPr indent="0" marL="0">
              <a:lnSpc>
                <a:spcPct val="120000"/>
              </a:lnSpc>
              <a:buNone/>
            </a:pPr>
            <a:r>
              <a:rPr lang="en-US" sz="2800" b="1" dirty="0">
                <a:solidFill>
                  <a:srgbClr val="E8A33D"/>
                </a:solidFill>
                <a:latin typeface="BIZ UDPGothic" pitchFamily="34" charset="0"/>
                <a:ea typeface="BIZ UDPGothic" pitchFamily="34" charset="-122"/>
                <a:cs typeface="BIZ UDPGothic" pitchFamily="34" charset="-120"/>
              </a:rPr>
              <a:t>1,160万円相当以上</a:t>
            </a:r>
            <a:pP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 の学びすべてを、オーダーメイドでサポート</a:t>
            </a:r>
            <a:endParaRPr lang="en-US" sz="1600" dirty="0"/>
          </a:p>
        </p:txBody>
      </p:sp>
      <p:sp>
        <p:nvSpPr>
          <p:cNvPr id="42" name="Text 34"/>
          <p:cNvSpPr txBox="1"/>
          <p:nvPr/>
        </p:nvSpPr>
        <p:spPr>
          <a:xfrm>
            <a:off x="822960" y="5715000"/>
            <a:ext cx="10607040" cy="457200"/>
          </a:xfrm>
          <a:prstGeom prst="rect">
            <a:avLst/>
          </a:prstGeom>
          <a:noFill/>
          <a:ln/>
        </p:spPr>
        <p:txBody>
          <a:bodyPr wrap="square" lIns="635" tIns="635" rIns="635" bIns="635" rtlCol="0" anchor="ctr"/>
          <a:lstStyle/>
          <a:p>
            <a:pPr indent="0" marL="0">
              <a:lnSpc>
                <a:spcPct val="120000"/>
              </a:lnSpc>
              <a:buNone/>
            </a:pPr>
            <a:r>
              <a:rPr lang="en-US" sz="1600" dirty="0">
                <a:solidFill>
                  <a:srgbClr val="DDE8DF"/>
                </a:solidFill>
                <a:latin typeface="BIZ UDPGothic" pitchFamily="34" charset="0"/>
                <a:ea typeface="BIZ UDPGothic" pitchFamily="34" charset="-122"/>
                <a:cs typeface="BIZ UDPGothic" pitchFamily="34" charset="-120"/>
              </a:rPr>
              <a:t>有住さんの必要な時期に、必要なタイミングで、必要な量の学びを随時提供してゆきます。</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一生モノのメリット</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天給自足塾プランで得られる、7つのメリット</a:t>
            </a:r>
            <a:endParaRPr lang="en-US" sz="3000" dirty="0"/>
          </a:p>
        </p:txBody>
      </p:sp>
      <p:sp>
        <p:nvSpPr>
          <p:cNvPr id="4" name="Shape 2"/>
          <p:cNvSpPr/>
          <p:nvPr/>
        </p:nvSpPr>
        <p:spPr>
          <a:xfrm>
            <a:off x="548640" y="1508760"/>
            <a:ext cx="2606040" cy="2194560"/>
          </a:xfrm>
          <a:prstGeom prst="roundRect">
            <a:avLst>
              <a:gd name="adj" fmla="val 5000"/>
            </a:avLst>
          </a:prstGeom>
          <a:solidFill>
            <a:srgbClr val="F6F8F4"/>
          </a:solidFill>
          <a:ln/>
          <a:effectLst>
            <a:outerShdw sx="100000" sy="100000" kx="0" ky="0" algn="bl" rotWithShape="0" blurRad="127000" dist="25400" dir="5400000">
              <a:srgbClr val="000000">
                <a:alpha val="13000"/>
              </a:srgbClr>
            </a:outerShdw>
          </a:effectLst>
        </p:spPr>
      </p:sp>
      <p:sp>
        <p:nvSpPr>
          <p:cNvPr id="5" name="Shape 3"/>
          <p:cNvSpPr/>
          <p:nvPr/>
        </p:nvSpPr>
        <p:spPr>
          <a:xfrm>
            <a:off x="777240" y="1737360"/>
            <a:ext cx="685800" cy="685800"/>
          </a:xfrm>
          <a:prstGeom prst="ellipse">
            <a:avLst/>
          </a:prstGeom>
          <a:solidFill>
            <a:srgbClr val="1E4D3A"/>
          </a:solidFill>
          <a:ln/>
        </p:spPr>
      </p:sp>
      <p:pic>
        <p:nvPicPr>
          <p:cNvPr id="6" name="Image 0" descr="preencoded.png">    </p:cNvPr>
          <p:cNvPicPr>
            <a:picLocks noChangeAspect="1"/>
          </p:cNvPicPr>
          <p:nvPr/>
        </p:nvPicPr>
        <p:blipFill>
          <a:blip r:embed="rId1"/>
          <a:stretch>
            <a:fillRect/>
          </a:stretch>
        </p:blipFill>
        <p:spPr>
          <a:xfrm>
            <a:off x="941832" y="1901952"/>
            <a:ext cx="356616" cy="356616"/>
          </a:xfrm>
          <a:prstGeom prst="rect">
            <a:avLst/>
          </a:prstGeom>
        </p:spPr>
      </p:pic>
      <p:sp>
        <p:nvSpPr>
          <p:cNvPr id="7" name="Text 4"/>
          <p:cNvSpPr txBox="1"/>
          <p:nvPr/>
        </p:nvSpPr>
        <p:spPr>
          <a:xfrm>
            <a:off x="2103120" y="173736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B9CBB5"/>
                </a:solidFill>
                <a:latin typeface="BIZ UDPGothic" pitchFamily="34" charset="0"/>
                <a:ea typeface="BIZ UDPGothic" pitchFamily="34" charset="-122"/>
                <a:cs typeface="BIZ UDPGothic" pitchFamily="34" charset="-120"/>
              </a:rPr>
              <a:t>01</a:t>
            </a:r>
            <a:endParaRPr lang="en-US" sz="2600" dirty="0"/>
          </a:p>
        </p:txBody>
      </p:sp>
      <p:sp>
        <p:nvSpPr>
          <p:cNvPr id="8" name="Text 5"/>
          <p:cNvSpPr txBox="1"/>
          <p:nvPr/>
        </p:nvSpPr>
        <p:spPr>
          <a:xfrm>
            <a:off x="749808" y="251460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自然農（天給自足）がスタートできる！</a:t>
            </a:r>
            <a:endParaRPr lang="en-US" sz="1500" dirty="0"/>
          </a:p>
        </p:txBody>
      </p:sp>
      <p:sp>
        <p:nvSpPr>
          <p:cNvPr id="9" name="Shape 6"/>
          <p:cNvSpPr/>
          <p:nvPr/>
        </p:nvSpPr>
        <p:spPr>
          <a:xfrm>
            <a:off x="3367735" y="1508760"/>
            <a:ext cx="2606040" cy="2194560"/>
          </a:xfrm>
          <a:prstGeom prst="roundRect">
            <a:avLst>
              <a:gd name="adj" fmla="val 5000"/>
            </a:avLst>
          </a:prstGeom>
          <a:solidFill>
            <a:srgbClr val="F6F8F4"/>
          </a:solidFill>
          <a:ln/>
          <a:effectLst>
            <a:outerShdw sx="100000" sy="100000" kx="0" ky="0" algn="bl" rotWithShape="0" blurRad="127000" dist="25400" dir="5400000">
              <a:srgbClr val="000000">
                <a:alpha val="13000"/>
              </a:srgbClr>
            </a:outerShdw>
          </a:effectLst>
        </p:spPr>
      </p:sp>
      <p:sp>
        <p:nvSpPr>
          <p:cNvPr id="10" name="Shape 7"/>
          <p:cNvSpPr/>
          <p:nvPr/>
        </p:nvSpPr>
        <p:spPr>
          <a:xfrm>
            <a:off x="3596335" y="1737360"/>
            <a:ext cx="685800" cy="685800"/>
          </a:xfrm>
          <a:prstGeom prst="ellipse">
            <a:avLst/>
          </a:prstGeom>
          <a:solidFill>
            <a:srgbClr val="1E4D3A"/>
          </a:solidFill>
          <a:ln/>
        </p:spPr>
      </p:sp>
      <p:pic>
        <p:nvPicPr>
          <p:cNvPr id="11" name="Image 1" descr="preencoded.png">    </p:cNvPr>
          <p:cNvPicPr>
            <a:picLocks noChangeAspect="1"/>
          </p:cNvPicPr>
          <p:nvPr/>
        </p:nvPicPr>
        <p:blipFill>
          <a:blip r:embed="rId2"/>
          <a:stretch>
            <a:fillRect/>
          </a:stretch>
        </p:blipFill>
        <p:spPr>
          <a:xfrm>
            <a:off x="3760927" y="1901952"/>
            <a:ext cx="356616" cy="356616"/>
          </a:xfrm>
          <a:prstGeom prst="rect">
            <a:avLst/>
          </a:prstGeom>
        </p:spPr>
      </p:pic>
      <p:sp>
        <p:nvSpPr>
          <p:cNvPr id="12" name="Text 8"/>
          <p:cNvSpPr txBox="1"/>
          <p:nvPr/>
        </p:nvSpPr>
        <p:spPr>
          <a:xfrm>
            <a:off x="4922215" y="173736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B9CBB5"/>
                </a:solidFill>
                <a:latin typeface="BIZ UDPGothic" pitchFamily="34" charset="0"/>
                <a:ea typeface="BIZ UDPGothic" pitchFamily="34" charset="-122"/>
                <a:cs typeface="BIZ UDPGothic" pitchFamily="34" charset="-120"/>
              </a:rPr>
              <a:t>02</a:t>
            </a:r>
            <a:endParaRPr lang="en-US" sz="2600" dirty="0"/>
          </a:p>
        </p:txBody>
      </p:sp>
      <p:sp>
        <p:nvSpPr>
          <p:cNvPr id="13" name="Text 9"/>
          <p:cNvSpPr txBox="1"/>
          <p:nvPr/>
        </p:nvSpPr>
        <p:spPr>
          <a:xfrm>
            <a:off x="3568903" y="251460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一生モノの発酵スキル（発酵食作りの実践と理論）が得られる！</a:t>
            </a:r>
            <a:endParaRPr lang="en-US" sz="1500" dirty="0"/>
          </a:p>
        </p:txBody>
      </p:sp>
      <p:sp>
        <p:nvSpPr>
          <p:cNvPr id="14" name="Shape 10"/>
          <p:cNvSpPr/>
          <p:nvPr/>
        </p:nvSpPr>
        <p:spPr>
          <a:xfrm>
            <a:off x="6186830" y="1508760"/>
            <a:ext cx="2606040" cy="2194560"/>
          </a:xfrm>
          <a:prstGeom prst="roundRect">
            <a:avLst>
              <a:gd name="adj" fmla="val 5000"/>
            </a:avLst>
          </a:prstGeom>
          <a:solidFill>
            <a:srgbClr val="F6F8F4"/>
          </a:solidFill>
          <a:ln/>
          <a:effectLst>
            <a:outerShdw sx="100000" sy="100000" kx="0" ky="0" algn="bl" rotWithShape="0" blurRad="127000" dist="25400" dir="5400000">
              <a:srgbClr val="000000">
                <a:alpha val="13000"/>
              </a:srgbClr>
            </a:outerShdw>
          </a:effectLst>
        </p:spPr>
      </p:sp>
      <p:sp>
        <p:nvSpPr>
          <p:cNvPr id="15" name="Shape 11"/>
          <p:cNvSpPr/>
          <p:nvPr/>
        </p:nvSpPr>
        <p:spPr>
          <a:xfrm>
            <a:off x="6415430" y="1737360"/>
            <a:ext cx="685800" cy="685800"/>
          </a:xfrm>
          <a:prstGeom prst="ellipse">
            <a:avLst/>
          </a:prstGeom>
          <a:solidFill>
            <a:srgbClr val="1E4D3A"/>
          </a:solidFill>
          <a:ln/>
        </p:spPr>
      </p:sp>
      <p:pic>
        <p:nvPicPr>
          <p:cNvPr id="16" name="Image 2" descr="preencoded.png">    </p:cNvPr>
          <p:cNvPicPr>
            <a:picLocks noChangeAspect="1"/>
          </p:cNvPicPr>
          <p:nvPr/>
        </p:nvPicPr>
        <p:blipFill>
          <a:blip r:embed="rId3"/>
          <a:stretch>
            <a:fillRect/>
          </a:stretch>
        </p:blipFill>
        <p:spPr>
          <a:xfrm>
            <a:off x="6580022" y="1901952"/>
            <a:ext cx="356616" cy="356616"/>
          </a:xfrm>
          <a:prstGeom prst="rect">
            <a:avLst/>
          </a:prstGeom>
        </p:spPr>
      </p:pic>
      <p:sp>
        <p:nvSpPr>
          <p:cNvPr id="17" name="Text 12"/>
          <p:cNvSpPr txBox="1"/>
          <p:nvPr/>
        </p:nvSpPr>
        <p:spPr>
          <a:xfrm>
            <a:off x="7741310" y="173736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B9CBB5"/>
                </a:solidFill>
                <a:latin typeface="BIZ UDPGothic" pitchFamily="34" charset="0"/>
                <a:ea typeface="BIZ UDPGothic" pitchFamily="34" charset="-122"/>
                <a:cs typeface="BIZ UDPGothic" pitchFamily="34" charset="-120"/>
              </a:rPr>
              <a:t>03</a:t>
            </a:r>
            <a:endParaRPr lang="en-US" sz="2600" dirty="0"/>
          </a:p>
        </p:txBody>
      </p:sp>
      <p:sp>
        <p:nvSpPr>
          <p:cNvPr id="18" name="Text 13"/>
          <p:cNvSpPr txBox="1"/>
          <p:nvPr/>
        </p:nvSpPr>
        <p:spPr>
          <a:xfrm>
            <a:off x="6387998" y="251460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グルテンフリーのお菓子作り、玄米パン作りが身につく！</a:t>
            </a:r>
            <a:endParaRPr lang="en-US" sz="1500" dirty="0"/>
          </a:p>
        </p:txBody>
      </p:sp>
      <p:sp>
        <p:nvSpPr>
          <p:cNvPr id="19" name="Shape 14"/>
          <p:cNvSpPr/>
          <p:nvPr/>
        </p:nvSpPr>
        <p:spPr>
          <a:xfrm>
            <a:off x="9005926" y="1508760"/>
            <a:ext cx="2606040" cy="2194560"/>
          </a:xfrm>
          <a:prstGeom prst="roundRect">
            <a:avLst>
              <a:gd name="adj" fmla="val 5000"/>
            </a:avLst>
          </a:prstGeom>
          <a:solidFill>
            <a:srgbClr val="F6F8F4"/>
          </a:solidFill>
          <a:ln/>
          <a:effectLst>
            <a:outerShdw sx="100000" sy="100000" kx="0" ky="0" algn="bl" rotWithShape="0" blurRad="127000" dist="25400" dir="5400000">
              <a:srgbClr val="000000">
                <a:alpha val="13000"/>
              </a:srgbClr>
            </a:outerShdw>
          </a:effectLst>
        </p:spPr>
      </p:sp>
      <p:sp>
        <p:nvSpPr>
          <p:cNvPr id="20" name="Shape 15"/>
          <p:cNvSpPr/>
          <p:nvPr/>
        </p:nvSpPr>
        <p:spPr>
          <a:xfrm>
            <a:off x="9234526" y="1737360"/>
            <a:ext cx="685800" cy="685800"/>
          </a:xfrm>
          <a:prstGeom prst="ellipse">
            <a:avLst/>
          </a:prstGeom>
          <a:solidFill>
            <a:srgbClr val="1E4D3A"/>
          </a:solidFill>
          <a:ln/>
        </p:spPr>
      </p:sp>
      <p:pic>
        <p:nvPicPr>
          <p:cNvPr id="21" name="Image 3" descr="preencoded.png">    </p:cNvPr>
          <p:cNvPicPr>
            <a:picLocks noChangeAspect="1"/>
          </p:cNvPicPr>
          <p:nvPr/>
        </p:nvPicPr>
        <p:blipFill>
          <a:blip r:embed="rId4"/>
          <a:stretch>
            <a:fillRect/>
          </a:stretch>
        </p:blipFill>
        <p:spPr>
          <a:xfrm>
            <a:off x="9399118" y="1901952"/>
            <a:ext cx="356616" cy="356616"/>
          </a:xfrm>
          <a:prstGeom prst="rect">
            <a:avLst/>
          </a:prstGeom>
        </p:spPr>
      </p:pic>
      <p:sp>
        <p:nvSpPr>
          <p:cNvPr id="22" name="Text 16"/>
          <p:cNvSpPr txBox="1"/>
          <p:nvPr/>
        </p:nvSpPr>
        <p:spPr>
          <a:xfrm>
            <a:off x="10560406" y="173736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B9CBB5"/>
                </a:solidFill>
                <a:latin typeface="BIZ UDPGothic" pitchFamily="34" charset="0"/>
                <a:ea typeface="BIZ UDPGothic" pitchFamily="34" charset="-122"/>
                <a:cs typeface="BIZ UDPGothic" pitchFamily="34" charset="-120"/>
              </a:rPr>
              <a:t>04</a:t>
            </a:r>
            <a:endParaRPr lang="en-US" sz="2600" dirty="0"/>
          </a:p>
        </p:txBody>
      </p:sp>
      <p:sp>
        <p:nvSpPr>
          <p:cNvPr id="23" name="Text 17"/>
          <p:cNvSpPr txBox="1"/>
          <p:nvPr/>
        </p:nvSpPr>
        <p:spPr>
          <a:xfrm>
            <a:off x="9207094" y="251460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食品の加工スキルで無添加の食を作り備蓄し、安心が得られる！</a:t>
            </a:r>
            <a:endParaRPr lang="en-US" sz="1500" dirty="0"/>
          </a:p>
        </p:txBody>
      </p:sp>
      <p:sp>
        <p:nvSpPr>
          <p:cNvPr id="24" name="Shape 18"/>
          <p:cNvSpPr/>
          <p:nvPr/>
        </p:nvSpPr>
        <p:spPr>
          <a:xfrm>
            <a:off x="1958188" y="3886200"/>
            <a:ext cx="2606040" cy="2194560"/>
          </a:xfrm>
          <a:prstGeom prst="roundRect">
            <a:avLst>
              <a:gd name="adj" fmla="val 5000"/>
            </a:avLst>
          </a:prstGeom>
          <a:solidFill>
            <a:srgbClr val="F6F8F4"/>
          </a:solidFill>
          <a:ln/>
          <a:effectLst>
            <a:outerShdw sx="100000" sy="100000" kx="0" ky="0" algn="bl" rotWithShape="0" blurRad="127000" dist="25400" dir="5400000">
              <a:srgbClr val="000000">
                <a:alpha val="13000"/>
              </a:srgbClr>
            </a:outerShdw>
          </a:effectLst>
        </p:spPr>
      </p:sp>
      <p:sp>
        <p:nvSpPr>
          <p:cNvPr id="25" name="Shape 19"/>
          <p:cNvSpPr/>
          <p:nvPr/>
        </p:nvSpPr>
        <p:spPr>
          <a:xfrm>
            <a:off x="2186788" y="4114800"/>
            <a:ext cx="685800" cy="685800"/>
          </a:xfrm>
          <a:prstGeom prst="ellipse">
            <a:avLst/>
          </a:prstGeom>
          <a:solidFill>
            <a:srgbClr val="1E4D3A"/>
          </a:solidFill>
          <a:ln/>
        </p:spPr>
      </p:sp>
      <p:pic>
        <p:nvPicPr>
          <p:cNvPr id="26" name="Image 4" descr="preencoded.png">    </p:cNvPr>
          <p:cNvPicPr>
            <a:picLocks noChangeAspect="1"/>
          </p:cNvPicPr>
          <p:nvPr/>
        </p:nvPicPr>
        <p:blipFill>
          <a:blip r:embed="rId5"/>
          <a:stretch>
            <a:fillRect/>
          </a:stretch>
        </p:blipFill>
        <p:spPr>
          <a:xfrm>
            <a:off x="2351380" y="4279392"/>
            <a:ext cx="356616" cy="356616"/>
          </a:xfrm>
          <a:prstGeom prst="rect">
            <a:avLst/>
          </a:prstGeom>
        </p:spPr>
      </p:pic>
      <p:sp>
        <p:nvSpPr>
          <p:cNvPr id="27" name="Text 20"/>
          <p:cNvSpPr txBox="1"/>
          <p:nvPr/>
        </p:nvSpPr>
        <p:spPr>
          <a:xfrm>
            <a:off x="3512668" y="411480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B9CBB5"/>
                </a:solidFill>
                <a:latin typeface="BIZ UDPGothic" pitchFamily="34" charset="0"/>
                <a:ea typeface="BIZ UDPGothic" pitchFamily="34" charset="-122"/>
                <a:cs typeface="BIZ UDPGothic" pitchFamily="34" charset="-120"/>
              </a:rPr>
              <a:t>05</a:t>
            </a:r>
            <a:endParaRPr lang="en-US" sz="2600" dirty="0"/>
          </a:p>
        </p:txBody>
      </p:sp>
      <p:sp>
        <p:nvSpPr>
          <p:cNvPr id="28" name="Text 21"/>
          <p:cNvSpPr txBox="1"/>
          <p:nvPr/>
        </p:nvSpPr>
        <p:spPr>
          <a:xfrm>
            <a:off x="2159356" y="489204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ポタジェ作りで四季の恵みを知り、自然を楽しみ豊かさに氣づく</a:t>
            </a:r>
            <a:endParaRPr lang="en-US" sz="1500" dirty="0"/>
          </a:p>
        </p:txBody>
      </p:sp>
      <p:sp>
        <p:nvSpPr>
          <p:cNvPr id="29" name="Shape 22"/>
          <p:cNvSpPr/>
          <p:nvPr/>
        </p:nvSpPr>
        <p:spPr>
          <a:xfrm>
            <a:off x="4777283" y="3886200"/>
            <a:ext cx="2606040" cy="2194560"/>
          </a:xfrm>
          <a:prstGeom prst="roundRect">
            <a:avLst>
              <a:gd name="adj" fmla="val 5000"/>
            </a:avLst>
          </a:prstGeom>
          <a:solidFill>
            <a:srgbClr val="F6F8F4"/>
          </a:solidFill>
          <a:ln/>
          <a:effectLst>
            <a:outerShdw sx="100000" sy="100000" kx="0" ky="0" algn="bl" rotWithShape="0" blurRad="127000" dist="25400" dir="5400000">
              <a:srgbClr val="000000">
                <a:alpha val="13000"/>
              </a:srgbClr>
            </a:outerShdw>
          </a:effectLst>
        </p:spPr>
      </p:sp>
      <p:sp>
        <p:nvSpPr>
          <p:cNvPr id="30" name="Shape 23"/>
          <p:cNvSpPr/>
          <p:nvPr/>
        </p:nvSpPr>
        <p:spPr>
          <a:xfrm>
            <a:off x="5005883" y="4114800"/>
            <a:ext cx="685800" cy="685800"/>
          </a:xfrm>
          <a:prstGeom prst="ellipse">
            <a:avLst/>
          </a:prstGeom>
          <a:solidFill>
            <a:srgbClr val="1E4D3A"/>
          </a:solidFill>
          <a:ln/>
        </p:spPr>
      </p:sp>
      <p:pic>
        <p:nvPicPr>
          <p:cNvPr id="31" name="Image 5" descr="preencoded.png">    </p:cNvPr>
          <p:cNvPicPr>
            <a:picLocks noChangeAspect="1"/>
          </p:cNvPicPr>
          <p:nvPr/>
        </p:nvPicPr>
        <p:blipFill>
          <a:blip r:embed="rId6"/>
          <a:stretch>
            <a:fillRect/>
          </a:stretch>
        </p:blipFill>
        <p:spPr>
          <a:xfrm>
            <a:off x="5170475" y="4279392"/>
            <a:ext cx="356616" cy="356616"/>
          </a:xfrm>
          <a:prstGeom prst="rect">
            <a:avLst/>
          </a:prstGeom>
        </p:spPr>
      </p:pic>
      <p:sp>
        <p:nvSpPr>
          <p:cNvPr id="32" name="Text 24"/>
          <p:cNvSpPr txBox="1"/>
          <p:nvPr/>
        </p:nvSpPr>
        <p:spPr>
          <a:xfrm>
            <a:off x="6331763" y="411480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B9CBB5"/>
                </a:solidFill>
                <a:latin typeface="BIZ UDPGothic" pitchFamily="34" charset="0"/>
                <a:ea typeface="BIZ UDPGothic" pitchFamily="34" charset="-122"/>
                <a:cs typeface="BIZ UDPGothic" pitchFamily="34" charset="-120"/>
              </a:rPr>
              <a:t>06</a:t>
            </a:r>
            <a:endParaRPr lang="en-US" sz="2600" dirty="0"/>
          </a:p>
        </p:txBody>
      </p:sp>
      <p:sp>
        <p:nvSpPr>
          <p:cNvPr id="33" name="Text 25"/>
          <p:cNvSpPr txBox="1"/>
          <p:nvPr/>
        </p:nvSpPr>
        <p:spPr>
          <a:xfrm>
            <a:off x="4978451" y="489204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オンラインサポート無期限で、何度でも質問ができる安心</a:t>
            </a:r>
            <a:endParaRPr lang="en-US" sz="1500" dirty="0"/>
          </a:p>
        </p:txBody>
      </p:sp>
      <p:sp>
        <p:nvSpPr>
          <p:cNvPr id="34" name="Shape 26"/>
          <p:cNvSpPr/>
          <p:nvPr/>
        </p:nvSpPr>
        <p:spPr>
          <a:xfrm>
            <a:off x="7596378" y="3886200"/>
            <a:ext cx="2606040" cy="2194560"/>
          </a:xfrm>
          <a:prstGeom prst="roundRect">
            <a:avLst>
              <a:gd name="adj" fmla="val 5000"/>
            </a:avLst>
          </a:prstGeom>
          <a:solidFill>
            <a:srgbClr val="FBF0DC"/>
          </a:solidFill>
          <a:ln/>
          <a:effectLst>
            <a:outerShdw sx="100000" sy="100000" kx="0" ky="0" algn="bl" rotWithShape="0" blurRad="127000" dist="25400" dir="5400000">
              <a:srgbClr val="000000">
                <a:alpha val="13000"/>
              </a:srgbClr>
            </a:outerShdw>
          </a:effectLst>
        </p:spPr>
      </p:sp>
      <p:sp>
        <p:nvSpPr>
          <p:cNvPr id="35" name="Shape 27"/>
          <p:cNvSpPr/>
          <p:nvPr/>
        </p:nvSpPr>
        <p:spPr>
          <a:xfrm>
            <a:off x="7824978" y="4114800"/>
            <a:ext cx="685800" cy="685800"/>
          </a:xfrm>
          <a:prstGeom prst="ellipse">
            <a:avLst/>
          </a:prstGeom>
          <a:solidFill>
            <a:srgbClr val="E8A33D"/>
          </a:solidFill>
          <a:ln/>
        </p:spPr>
      </p:sp>
      <p:pic>
        <p:nvPicPr>
          <p:cNvPr id="36" name="Image 6" descr="preencoded.png">    </p:cNvPr>
          <p:cNvPicPr>
            <a:picLocks noChangeAspect="1"/>
          </p:cNvPicPr>
          <p:nvPr/>
        </p:nvPicPr>
        <p:blipFill>
          <a:blip r:embed="rId7"/>
          <a:stretch>
            <a:fillRect/>
          </a:stretch>
        </p:blipFill>
        <p:spPr>
          <a:xfrm>
            <a:off x="7989570" y="4279392"/>
            <a:ext cx="356616" cy="356616"/>
          </a:xfrm>
          <a:prstGeom prst="rect">
            <a:avLst/>
          </a:prstGeom>
        </p:spPr>
      </p:pic>
      <p:sp>
        <p:nvSpPr>
          <p:cNvPr id="37" name="Text 28"/>
          <p:cNvSpPr txBox="1"/>
          <p:nvPr/>
        </p:nvSpPr>
        <p:spPr>
          <a:xfrm>
            <a:off x="9150858" y="4114800"/>
            <a:ext cx="868680" cy="548640"/>
          </a:xfrm>
          <a:prstGeom prst="rect">
            <a:avLst/>
          </a:prstGeom>
          <a:noFill/>
          <a:ln/>
        </p:spPr>
        <p:txBody>
          <a:bodyPr wrap="square" lIns="635" tIns="635" rIns="635" bIns="635" rtlCol="0" anchor="t"/>
          <a:lstStyle/>
          <a:p>
            <a:pPr algn="r" indent="0" marL="0">
              <a:lnSpc>
                <a:spcPct val="120000"/>
              </a:lnSpc>
              <a:buNone/>
            </a:pPr>
            <a:r>
              <a:rPr lang="en-US" sz="2600" b="1" dirty="0">
                <a:solidFill>
                  <a:srgbClr val="E8A33D"/>
                </a:solidFill>
                <a:latin typeface="BIZ UDPGothic" pitchFamily="34" charset="0"/>
                <a:ea typeface="BIZ UDPGothic" pitchFamily="34" charset="-122"/>
                <a:cs typeface="BIZ UDPGothic" pitchFamily="34" charset="-120"/>
              </a:rPr>
              <a:t>07</a:t>
            </a:r>
            <a:endParaRPr lang="en-US" sz="2600" dirty="0"/>
          </a:p>
        </p:txBody>
      </p:sp>
      <p:sp>
        <p:nvSpPr>
          <p:cNvPr id="38" name="Text 29"/>
          <p:cNvSpPr txBox="1"/>
          <p:nvPr/>
        </p:nvSpPr>
        <p:spPr>
          <a:xfrm>
            <a:off x="7797546" y="4892040"/>
            <a:ext cx="2240280" cy="1097280"/>
          </a:xfrm>
          <a:prstGeom prst="rect">
            <a:avLst/>
          </a:prstGeom>
          <a:noFill/>
          <a:ln/>
        </p:spPr>
        <p:txBody>
          <a:bodyPr wrap="square" lIns="635" tIns="635" rIns="635" bIns="635" rtlCol="0" anchor="t"/>
          <a:lstStyle/>
          <a:p>
            <a:pPr indent="0" marL="0">
              <a:lnSpc>
                <a:spcPct val="120000"/>
              </a:lnSpc>
              <a:buNone/>
            </a:pPr>
            <a:r>
              <a:rPr lang="en-US" sz="1500" b="1" dirty="0">
                <a:solidFill>
                  <a:srgbClr val="2B2B2B"/>
                </a:solidFill>
                <a:latin typeface="BIZ UDPGothic" pitchFamily="34" charset="0"/>
                <a:ea typeface="BIZ UDPGothic" pitchFamily="34" charset="-122"/>
                <a:cs typeface="BIZ UDPGothic" pitchFamily="34" charset="-120"/>
              </a:rPr>
              <a:t>食改善で家族の健康（便秘・肌荒れ解消、心の安定）を得る</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価格のご紹介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価格のご紹介</a:t>
            </a:r>
            <a:endParaRPr lang="en-US" sz="3000" dirty="0"/>
          </a:p>
        </p:txBody>
      </p:sp>
      <p:sp>
        <p:nvSpPr>
          <p:cNvPr id="4" name="Shape 2"/>
          <p:cNvSpPr/>
          <p:nvPr/>
        </p:nvSpPr>
        <p:spPr>
          <a:xfrm>
            <a:off x="548640" y="1463040"/>
            <a:ext cx="3520440" cy="4572000"/>
          </a:xfrm>
          <a:prstGeom prst="roundRect">
            <a:avLst>
              <a:gd name="adj" fmla="val 3117"/>
            </a:avLst>
          </a:prstGeom>
          <a:solidFill>
            <a:srgbClr val="1E4D3A"/>
          </a:solidFill>
          <a:ln/>
          <a:effectLst>
            <a:outerShdw sx="100000" sy="100000" kx="0" ky="0" algn="bl" rotWithShape="0" blurRad="127000" dist="25400" dir="5400000">
              <a:srgbClr val="000000">
                <a:alpha val="13000"/>
              </a:srgbClr>
            </a:outerShdw>
          </a:effectLst>
        </p:spPr>
      </p:sp>
      <p:sp>
        <p:nvSpPr>
          <p:cNvPr id="5" name="Text 3"/>
          <p:cNvSpPr txBox="1"/>
          <p:nvPr/>
        </p:nvSpPr>
        <p:spPr>
          <a:xfrm>
            <a:off x="777240" y="1600200"/>
            <a:ext cx="306324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FFFFFF"/>
                </a:solidFill>
                <a:latin typeface="BIZ UDPGothic" pitchFamily="34" charset="0"/>
                <a:ea typeface="BIZ UDPGothic" pitchFamily="34" charset="-122"/>
                <a:cs typeface="BIZ UDPGothic" pitchFamily="34" charset="-120"/>
              </a:rPr>
              <a:t>天給自足講師養成</a:t>
            </a:r>
            <a:endParaRPr lang="en-US" sz="1800" dirty="0"/>
          </a:p>
          <a:p>
            <a:pPr indent="0" marL="0">
              <a:lnSpc>
                <a:spcPct val="120000"/>
              </a:lnSpc>
              <a:buNone/>
            </a:pPr>
            <a:r>
              <a:rPr lang="en-US" sz="1800" b="1" dirty="0">
                <a:solidFill>
                  <a:srgbClr val="FFFFFF"/>
                </a:solidFill>
                <a:latin typeface="BIZ UDPGothic" pitchFamily="34" charset="0"/>
                <a:ea typeface="BIZ UDPGothic" pitchFamily="34" charset="-122"/>
                <a:cs typeface="BIZ UDPGothic" pitchFamily="34" charset="-120"/>
              </a:rPr>
              <a:t>2年コース</a:t>
            </a:r>
            <a:endParaRPr lang="en-US" sz="1800" dirty="0"/>
          </a:p>
        </p:txBody>
      </p:sp>
      <p:sp>
        <p:nvSpPr>
          <p:cNvPr id="6" name="Text 4"/>
          <p:cNvSpPr txBox="1"/>
          <p:nvPr/>
        </p:nvSpPr>
        <p:spPr>
          <a:xfrm>
            <a:off x="777240" y="2468880"/>
            <a:ext cx="3154680" cy="914400"/>
          </a:xfrm>
          <a:prstGeom prst="rect">
            <a:avLst/>
          </a:prstGeom>
          <a:noFill/>
          <a:ln/>
        </p:spPr>
        <p:txBody>
          <a:bodyPr wrap="square" lIns="635" tIns="635" rIns="635" bIns="635" rtlCol="0" anchor="ctr"/>
          <a:lstStyle/>
          <a:p>
            <a:pPr indent="0" marL="0">
              <a:lnSpc>
                <a:spcPct val="120000"/>
              </a:lnSpc>
              <a:buNone/>
            </a:pPr>
            <a:r>
              <a:rPr lang="en-US" sz="4600" b="1" dirty="0">
                <a:solidFill>
                  <a:srgbClr val="E8A33D"/>
                </a:solidFill>
                <a:latin typeface="BIZ UDPGothic" pitchFamily="34" charset="0"/>
                <a:ea typeface="BIZ UDPGothic" pitchFamily="34" charset="-122"/>
                <a:cs typeface="BIZ UDPGothic" pitchFamily="34" charset="-120"/>
              </a:rPr>
              <a:t>120</a:t>
            </a:r>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万円（税込）</a:t>
            </a:r>
            <a:endParaRPr lang="en-US" sz="1600" dirty="0"/>
          </a:p>
        </p:txBody>
      </p:sp>
      <p:sp>
        <p:nvSpPr>
          <p:cNvPr id="7" name="Text 5"/>
          <p:cNvSpPr txBox="1"/>
          <p:nvPr/>
        </p:nvSpPr>
        <p:spPr>
          <a:xfrm>
            <a:off x="777240" y="3520440"/>
            <a:ext cx="3063240" cy="960120"/>
          </a:xfrm>
          <a:prstGeom prst="rect">
            <a:avLst/>
          </a:prstGeom>
          <a:noFill/>
          <a:ln/>
        </p:spPr>
        <p:txBody>
          <a:bodyPr wrap="square" lIns="635" tIns="635" rIns="635" bIns="635" rtlCol="0" anchor="t"/>
          <a:lstStyle/>
          <a:p>
            <a:pPr indent="0" marL="0">
              <a:lnSpc>
                <a:spcPct val="120000"/>
              </a:lnSpc>
              <a:buNone/>
            </a:pPr>
            <a:r>
              <a:rPr lang="en-US" sz="1400" dirty="0">
                <a:solidFill>
                  <a:srgbClr val="DDE8DF"/>
                </a:solidFill>
                <a:latin typeface="BIZ UDPGothic" pitchFamily="34" charset="0"/>
                <a:ea typeface="BIZ UDPGothic" pitchFamily="34" charset="-122"/>
                <a:cs typeface="BIZ UDPGothic" pitchFamily="34" charset="-120"/>
              </a:rPr>
              <a:t>すべての講座を2年（2回）にわたって受講。2年目からは教える立場で考え受講</a:t>
            </a:r>
            <a:endParaRPr lang="en-US" sz="1400" dirty="0"/>
          </a:p>
        </p:txBody>
      </p:sp>
      <p:sp>
        <p:nvSpPr>
          <p:cNvPr id="8" name="Text 6"/>
          <p:cNvSpPr txBox="1"/>
          <p:nvPr/>
        </p:nvSpPr>
        <p:spPr>
          <a:xfrm>
            <a:off x="777240" y="4526280"/>
            <a:ext cx="3063240" cy="1463040"/>
          </a:xfrm>
          <a:prstGeom prst="rect">
            <a:avLst/>
          </a:prstGeom>
          <a:noFill/>
          <a:ln/>
        </p:spPr>
        <p:txBody>
          <a:bodyPr wrap="square" lIns="635" tIns="635" rIns="635" bIns="635" rtlCol="0" anchor="t"/>
          <a:lstStyle/>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LINEサポート無制限</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リアルでいつでも見学OK</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フランス菓子基礎動画</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FBグループ参加</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食がもたらす健康 最新PDF</a:t>
            </a:r>
            <a:endParaRPr lang="en-US" sz="1400" dirty="0"/>
          </a:p>
        </p:txBody>
      </p:sp>
      <p:sp>
        <p:nvSpPr>
          <p:cNvPr id="9" name="Shape 7"/>
          <p:cNvSpPr/>
          <p:nvPr/>
        </p:nvSpPr>
        <p:spPr>
          <a:xfrm>
            <a:off x="429768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10" name="Text 8"/>
          <p:cNvSpPr txBox="1"/>
          <p:nvPr/>
        </p:nvSpPr>
        <p:spPr>
          <a:xfrm>
            <a:off x="4526280" y="1600200"/>
            <a:ext cx="306324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天給自足</a:t>
            </a:r>
            <a:endParaRPr lang="en-US" sz="1800" dirty="0"/>
          </a:p>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1年コース</a:t>
            </a:r>
            <a:endParaRPr lang="en-US" sz="1800" dirty="0"/>
          </a:p>
        </p:txBody>
      </p:sp>
      <p:sp>
        <p:nvSpPr>
          <p:cNvPr id="11" name="Text 9"/>
          <p:cNvSpPr txBox="1"/>
          <p:nvPr/>
        </p:nvSpPr>
        <p:spPr>
          <a:xfrm>
            <a:off x="4526280" y="2468880"/>
            <a:ext cx="3154680" cy="91440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60</a:t>
            </a:r>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万円（税込）</a:t>
            </a:r>
            <a:endParaRPr lang="en-US" sz="1600" dirty="0"/>
          </a:p>
        </p:txBody>
      </p:sp>
      <p:sp>
        <p:nvSpPr>
          <p:cNvPr id="12" name="Text 10"/>
          <p:cNvSpPr txBox="1"/>
          <p:nvPr/>
        </p:nvSpPr>
        <p:spPr>
          <a:xfrm>
            <a:off x="4526280" y="3520440"/>
            <a:ext cx="3063240" cy="960120"/>
          </a:xfrm>
          <a:prstGeom prst="rect">
            <a:avLst/>
          </a:prstGeom>
          <a:noFill/>
          <a:ln/>
        </p:spPr>
        <p:txBody>
          <a:bodyPr wrap="square" lIns="635" tIns="635" rIns="635" bIns="635" rtlCol="0" anchor="t"/>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1年間を通してすべての講座を受講できます。四季を通しての学びが豊かで楽しい</a:t>
            </a:r>
            <a:endParaRPr lang="en-US" sz="1400" dirty="0"/>
          </a:p>
        </p:txBody>
      </p:sp>
      <p:sp>
        <p:nvSpPr>
          <p:cNvPr id="13" name="Text 11"/>
          <p:cNvSpPr txBox="1"/>
          <p:nvPr/>
        </p:nvSpPr>
        <p:spPr>
          <a:xfrm>
            <a:off x="4526280" y="4526280"/>
            <a:ext cx="3063240" cy="1463040"/>
          </a:xfrm>
          <a:prstGeom prst="rect">
            <a:avLst/>
          </a:prstGeom>
          <a:noFill/>
          <a:ln/>
        </p:spPr>
        <p:txBody>
          <a:bodyPr wrap="square" lIns="635" tIns="635" rIns="635" bIns="635" rtlCol="0" anchor="t"/>
          <a:lstStyle/>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LINEサポート無制限</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リアルでいつでも見学OK</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フランス菓子基礎動画</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FBグループ参加</a:t>
            </a:r>
            <a:endParaRPr lang="en-US" sz="1400" dirty="0"/>
          </a:p>
        </p:txBody>
      </p:sp>
      <p:sp>
        <p:nvSpPr>
          <p:cNvPr id="14" name="Shape 12"/>
          <p:cNvSpPr/>
          <p:nvPr/>
        </p:nvSpPr>
        <p:spPr>
          <a:xfrm>
            <a:off x="804672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15" name="Text 13"/>
          <p:cNvSpPr txBox="1"/>
          <p:nvPr/>
        </p:nvSpPr>
        <p:spPr>
          <a:xfrm>
            <a:off x="8275320" y="1600200"/>
            <a:ext cx="306324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天給自足</a:t>
            </a:r>
            <a:endParaRPr lang="en-US" sz="1800" dirty="0"/>
          </a:p>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半年コース</a:t>
            </a:r>
            <a:endParaRPr lang="en-US" sz="1800" dirty="0"/>
          </a:p>
        </p:txBody>
      </p:sp>
      <p:sp>
        <p:nvSpPr>
          <p:cNvPr id="16" name="Text 14"/>
          <p:cNvSpPr txBox="1"/>
          <p:nvPr/>
        </p:nvSpPr>
        <p:spPr>
          <a:xfrm>
            <a:off x="8275320" y="2468880"/>
            <a:ext cx="3154680" cy="91440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40</a:t>
            </a:r>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万円（税込）</a:t>
            </a:r>
            <a:endParaRPr lang="en-US" sz="1600" dirty="0"/>
          </a:p>
        </p:txBody>
      </p:sp>
      <p:sp>
        <p:nvSpPr>
          <p:cNvPr id="17" name="Text 15"/>
          <p:cNvSpPr txBox="1"/>
          <p:nvPr/>
        </p:nvSpPr>
        <p:spPr>
          <a:xfrm>
            <a:off x="8275320" y="3520440"/>
            <a:ext cx="3063240" cy="960120"/>
          </a:xfrm>
          <a:prstGeom prst="rect">
            <a:avLst/>
          </a:prstGeom>
          <a:noFill/>
          <a:ln/>
        </p:spPr>
        <p:txBody>
          <a:bodyPr wrap="square" lIns="635" tIns="635" rIns="635" bIns="635" rtlCol="0" anchor="t"/>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天給自足の中心となる講座を受講。ポタジェ（キッチンガーデン）・菌ちゃん農法で素敵な庭を作ります</a:t>
            </a:r>
            <a:endParaRPr lang="en-US" sz="1400" dirty="0"/>
          </a:p>
        </p:txBody>
      </p:sp>
      <p:sp>
        <p:nvSpPr>
          <p:cNvPr id="18" name="Text 16"/>
          <p:cNvSpPr txBox="1"/>
          <p:nvPr/>
        </p:nvSpPr>
        <p:spPr>
          <a:xfrm>
            <a:off x="8275320" y="4526280"/>
            <a:ext cx="3063240" cy="1463040"/>
          </a:xfrm>
          <a:prstGeom prst="rect">
            <a:avLst/>
          </a:prstGeom>
          <a:noFill/>
          <a:ln/>
        </p:spPr>
        <p:txBody>
          <a:bodyPr wrap="square" lIns="635" tIns="635" rIns="635" bIns="635" rtlCol="0" anchor="t"/>
          <a:lstStyle/>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LINEサポート無制限</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リアルでいつでも見学OK</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FBグループ参加</a:t>
            </a:r>
            <a:endParaRPr lang="en-US" sz="1400" dirty="0"/>
          </a:p>
        </p:txBody>
      </p:sp>
      <p:sp>
        <p:nvSpPr>
          <p:cNvPr id="19" name="Text 17"/>
          <p:cNvSpPr txBox="1"/>
          <p:nvPr/>
        </p:nvSpPr>
        <p:spPr>
          <a:xfrm>
            <a:off x="548640" y="6080760"/>
            <a:ext cx="11064240" cy="301752"/>
          </a:xfrm>
          <a:prstGeom prst="rect">
            <a:avLst/>
          </a:prstGeom>
          <a:noFill/>
          <a:ln/>
        </p:spPr>
        <p:txBody>
          <a:bodyPr wrap="square" lIns="635" tIns="635" rIns="635" bIns="635" rtlCol="0" anchor="t"/>
          <a:lstStyle/>
          <a:p>
            <a:pPr indent="0" marL="0">
              <a:lnSpc>
                <a:spcPct val="120000"/>
              </a:lnSpc>
              <a:buNone/>
            </a:pPr>
            <a:r>
              <a:rPr lang="en-US" sz="1100" dirty="0">
                <a:solidFill>
                  <a:srgbClr val="666666"/>
                </a:solidFill>
                <a:latin typeface="BIZ UDPGothic" pitchFamily="34" charset="0"/>
                <a:ea typeface="BIZ UDPGothic" pitchFamily="34" charset="-122"/>
                <a:cs typeface="BIZ UDPGothic" pitchFamily="34" charset="-120"/>
              </a:rPr>
              <a:t>※お支払い方法は銀行一括振り込み・クレジット払いになります。（分割・クレジット一括の場合、5%のお手数料をいただきます。）</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822960" y="1463040"/>
            <a:ext cx="10058400" cy="822960"/>
          </a:xfrm>
          <a:prstGeom prst="rect">
            <a:avLst/>
          </a:prstGeom>
          <a:noFill/>
          <a:ln/>
        </p:spPr>
        <p:txBody>
          <a:bodyPr wrap="square" lIns="635" tIns="635" rIns="635" bIns="635" rtlCol="0" anchor="t"/>
          <a:lstStyle/>
          <a:p>
            <a:pPr indent="0" marL="0">
              <a:lnSpc>
                <a:spcPct val="120000"/>
              </a:lnSpc>
              <a:buNone/>
            </a:pPr>
            <a:r>
              <a:rPr lang="en-US" sz="4000" dirty="0">
                <a:solidFill>
                  <a:srgbClr val="FFFFFF"/>
                </a:solidFill>
                <a:latin typeface="BIZ UDPMincho" pitchFamily="34" charset="0"/>
                <a:ea typeface="BIZ UDPMincho" pitchFamily="34" charset="-122"/>
                <a:cs typeface="BIZ UDPMincho" pitchFamily="34" charset="-120"/>
              </a:rPr>
              <a:t>実は、今回限りの</a:t>
            </a:r>
            <a:endParaRPr lang="en-US" sz="4000" dirty="0"/>
          </a:p>
        </p:txBody>
      </p:sp>
      <p:sp>
        <p:nvSpPr>
          <p:cNvPr id="3" name="Text 1"/>
          <p:cNvSpPr txBox="1"/>
          <p:nvPr/>
        </p:nvSpPr>
        <p:spPr>
          <a:xfrm>
            <a:off x="822960" y="2331720"/>
            <a:ext cx="10058400" cy="1280160"/>
          </a:xfrm>
          <a:prstGeom prst="rect">
            <a:avLst/>
          </a:prstGeom>
          <a:noFill/>
          <a:ln/>
        </p:spPr>
        <p:txBody>
          <a:bodyPr wrap="square" lIns="635" tIns="635" rIns="635" bIns="635" rtlCol="0" anchor="t"/>
          <a:lstStyle/>
          <a:p>
            <a:pPr indent="0" marL="0">
              <a:lnSpc>
                <a:spcPct val="120000"/>
              </a:lnSpc>
              <a:buNone/>
            </a:pPr>
            <a:r>
              <a:rPr lang="en-US" sz="7200" dirty="0">
                <a:solidFill>
                  <a:srgbClr val="E8A33D"/>
                </a:solidFill>
                <a:latin typeface="BIZ UDPMincho" pitchFamily="34" charset="0"/>
                <a:ea typeface="BIZ UDPMincho" pitchFamily="34" charset="-122"/>
                <a:cs typeface="BIZ UDPMincho" pitchFamily="34" charset="-120"/>
              </a:rPr>
              <a:t>早期契約割引</a:t>
            </a:r>
            <a:endParaRPr lang="en-US" sz="7200" dirty="0"/>
          </a:p>
        </p:txBody>
      </p:sp>
      <p:sp>
        <p:nvSpPr>
          <p:cNvPr id="4" name="Text 2"/>
          <p:cNvSpPr txBox="1"/>
          <p:nvPr/>
        </p:nvSpPr>
        <p:spPr>
          <a:xfrm>
            <a:off x="822960" y="3657600"/>
            <a:ext cx="10058400" cy="822960"/>
          </a:xfrm>
          <a:prstGeom prst="rect">
            <a:avLst/>
          </a:prstGeom>
          <a:noFill/>
          <a:ln/>
        </p:spPr>
        <p:txBody>
          <a:bodyPr wrap="square" lIns="635" tIns="635" rIns="635" bIns="635" rtlCol="0" anchor="t"/>
          <a:lstStyle/>
          <a:p>
            <a:pPr indent="0" marL="0">
              <a:lnSpc>
                <a:spcPct val="120000"/>
              </a:lnSpc>
              <a:buNone/>
            </a:pPr>
            <a:r>
              <a:rPr lang="en-US" sz="4000" dirty="0">
                <a:solidFill>
                  <a:srgbClr val="FFFFFF"/>
                </a:solidFill>
                <a:latin typeface="BIZ UDPMincho" pitchFamily="34" charset="0"/>
                <a:ea typeface="BIZ UDPMincho" pitchFamily="34" charset="-122"/>
                <a:cs typeface="BIZ UDPMincho" pitchFamily="34" charset="-120"/>
              </a:rPr>
              <a:t>のご案内があります</a:t>
            </a:r>
            <a:endParaRPr lang="en-US" sz="4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BF"/>
                </a:solidFill>
                <a:latin typeface="BIZ UDPGothic"/>
                <a:ea typeface="BIZ UDPGothic"/>
                <a:cs typeface="BIZ UDPGothic"/>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早期契約割引</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実は今、割引価格にてご案内しています</a:t>
            </a:r>
            <a:endParaRPr lang="en-US" sz="3000" dirty="0"/>
          </a:p>
        </p:txBody>
      </p:sp>
      <p:sp>
        <p:nvSpPr>
          <p:cNvPr id="4" name="Text 2"/>
          <p:cNvSpPr txBox="1"/>
          <p:nvPr/>
        </p:nvSpPr>
        <p:spPr>
          <a:xfrm>
            <a:off x="548640" y="1417320"/>
            <a:ext cx="7315200" cy="411480"/>
          </a:xfrm>
          <a:prstGeom prst="rect">
            <a:avLst/>
          </a:prstGeom>
          <a:noFill/>
          <a:ln/>
        </p:spPr>
        <p:txBody>
          <a:bodyPr wrap="square" lIns="635" tIns="635" rIns="635" bIns="635" rtlCol="0" anchor="t"/>
          <a:lstStyle/>
          <a:p>
            <a:pPr indent="0" marL="0">
              <a:lnSpc>
                <a:spcPct val="120000"/>
              </a:lnSpc>
              <a:buNone/>
            </a:pPr>
            <a:r>
              <a:rPr lang="en-US" sz="1800" dirty="0">
                <a:solidFill>
                  <a:srgbClr val="666666"/>
                </a:solidFill>
                <a:latin typeface="BIZ UDPGothic" pitchFamily="34" charset="0"/>
                <a:ea typeface="BIZ UDPGothic" pitchFamily="34" charset="-122"/>
                <a:cs typeface="BIZ UDPGothic" pitchFamily="34" charset="-120"/>
              </a:rPr>
              <a:t>割引条件は、次の2つです</a:t>
            </a:r>
            <a:endParaRPr lang="en-US" sz="1800" dirty="0"/>
          </a:p>
        </p:txBody>
      </p:sp>
      <p:sp>
        <p:nvSpPr>
          <p:cNvPr id="5" name="Shape 3"/>
          <p:cNvSpPr/>
          <p:nvPr/>
        </p:nvSpPr>
        <p:spPr>
          <a:xfrm>
            <a:off x="548640" y="1965960"/>
            <a:ext cx="5394960" cy="2103120"/>
          </a:xfrm>
          <a:prstGeom prst="roundRect">
            <a:avLst>
              <a:gd name="adj" fmla="val 5217"/>
            </a:avLst>
          </a:prstGeom>
          <a:solidFill>
            <a:srgbClr val="F6F8F4"/>
          </a:solidFill>
          <a:ln/>
          <a:effectLst>
            <a:outerShdw sx="100000" sy="100000" kx="0" ky="0" algn="bl" rotWithShape="0" blurRad="127000" dist="25400" dir="5400000">
              <a:srgbClr val="000000">
                <a:alpha val="13000"/>
              </a:srgbClr>
            </a:outerShdw>
          </a:effectLst>
        </p:spPr>
      </p:sp>
      <p:sp>
        <p:nvSpPr>
          <p:cNvPr id="6" name="Shape 4"/>
          <p:cNvSpPr/>
          <p:nvPr/>
        </p:nvSpPr>
        <p:spPr>
          <a:xfrm>
            <a:off x="822960" y="2240280"/>
            <a:ext cx="777240" cy="777240"/>
          </a:xfrm>
          <a:prstGeom prst="ellipse">
            <a:avLst/>
          </a:prstGeom>
          <a:solidFill>
            <a:srgbClr val="1E4D3A"/>
          </a:solidFill>
          <a:ln/>
        </p:spPr>
      </p:sp>
      <p:pic>
        <p:nvPicPr>
          <p:cNvPr id="7" name="Image 0" descr="preencoded.png">    </p:cNvPr>
          <p:cNvPicPr>
            <a:picLocks noChangeAspect="1"/>
          </p:cNvPicPr>
          <p:nvPr/>
        </p:nvPicPr>
        <p:blipFill>
          <a:blip r:embed="rId1"/>
          <a:stretch>
            <a:fillRect/>
          </a:stretch>
        </p:blipFill>
        <p:spPr>
          <a:xfrm>
            <a:off x="1009498" y="2426818"/>
            <a:ext cx="404165" cy="404165"/>
          </a:xfrm>
          <a:prstGeom prst="rect">
            <a:avLst/>
          </a:prstGeom>
        </p:spPr>
      </p:pic>
      <p:sp>
        <p:nvSpPr>
          <p:cNvPr id="8" name="Text 5"/>
          <p:cNvSpPr txBox="1"/>
          <p:nvPr/>
        </p:nvSpPr>
        <p:spPr>
          <a:xfrm>
            <a:off x="1783080" y="2240280"/>
            <a:ext cx="365760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5E9E5A"/>
                </a:solidFill>
                <a:latin typeface="BIZ UDPGothic" pitchFamily="34" charset="0"/>
                <a:ea typeface="BIZ UDPGothic" pitchFamily="34" charset="-122"/>
                <a:cs typeface="BIZ UDPGothic" pitchFamily="34" charset="-120"/>
              </a:rPr>
              <a:t>条件 ①</a:t>
            </a:r>
            <a:endParaRPr lang="en-US" sz="1500" dirty="0"/>
          </a:p>
        </p:txBody>
      </p:sp>
      <p:sp>
        <p:nvSpPr>
          <p:cNvPr id="9" name="Text 6"/>
          <p:cNvSpPr txBox="1"/>
          <p:nvPr/>
        </p:nvSpPr>
        <p:spPr>
          <a:xfrm>
            <a:off x="1783080" y="2606040"/>
            <a:ext cx="3977640" cy="868680"/>
          </a:xfrm>
          <a:prstGeom prst="rect">
            <a:avLst/>
          </a:prstGeom>
          <a:noFill/>
          <a:ln/>
        </p:spPr>
        <p:txBody>
          <a:bodyPr wrap="square" lIns="635" tIns="635" rIns="635" bIns="635" rtlCol="0" anchor="t"/>
          <a:lstStyle/>
          <a:p>
            <a:pPr indent="0" marL="0">
              <a:lnSpc>
                <a:spcPct val="120000"/>
              </a:lnSpc>
              <a:buNone/>
            </a:pPr>
            <a:r>
              <a:rPr lang="en-US" sz="1900" b="1" dirty="0">
                <a:solidFill>
                  <a:srgbClr val="2B2B2B"/>
                </a:solidFill>
                <a:latin typeface="BIZ UDPGothic" pitchFamily="34" charset="0"/>
                <a:ea typeface="BIZ UDPGothic" pitchFamily="34" charset="-122"/>
                <a:cs typeface="BIZ UDPGothic" pitchFamily="34" charset="-120"/>
              </a:rPr>
              <a:t>お客様の声にご協力いただける方</a:t>
            </a:r>
            <a:endParaRPr lang="en-US" sz="1900" dirty="0"/>
          </a:p>
        </p:txBody>
      </p:sp>
      <p:sp>
        <p:nvSpPr>
          <p:cNvPr id="10" name="Shape 7"/>
          <p:cNvSpPr/>
          <p:nvPr/>
        </p:nvSpPr>
        <p:spPr>
          <a:xfrm>
            <a:off x="6217920" y="1965960"/>
            <a:ext cx="5394960" cy="2103120"/>
          </a:xfrm>
          <a:prstGeom prst="roundRect">
            <a:avLst>
              <a:gd name="adj" fmla="val 5217"/>
            </a:avLst>
          </a:prstGeom>
          <a:solidFill>
            <a:srgbClr val="F6F8F4"/>
          </a:solidFill>
          <a:ln/>
          <a:effectLst>
            <a:outerShdw sx="100000" sy="100000" kx="0" ky="0" algn="bl" rotWithShape="0" blurRad="127000" dist="25400" dir="5400000">
              <a:srgbClr val="000000">
                <a:alpha val="13000"/>
              </a:srgbClr>
            </a:outerShdw>
          </a:effectLst>
        </p:spPr>
      </p:sp>
      <p:sp>
        <p:nvSpPr>
          <p:cNvPr id="11" name="Shape 8"/>
          <p:cNvSpPr/>
          <p:nvPr/>
        </p:nvSpPr>
        <p:spPr>
          <a:xfrm>
            <a:off x="6492240" y="2240280"/>
            <a:ext cx="777240" cy="777240"/>
          </a:xfrm>
          <a:prstGeom prst="ellipse">
            <a:avLst/>
          </a:prstGeom>
          <a:solidFill>
            <a:srgbClr val="1E4D3A"/>
          </a:solidFill>
          <a:ln/>
        </p:spPr>
      </p:sp>
      <p:pic>
        <p:nvPicPr>
          <p:cNvPr id="12" name="Image 1" descr="preencoded.png">    </p:cNvPr>
          <p:cNvPicPr>
            <a:picLocks noChangeAspect="1"/>
          </p:cNvPicPr>
          <p:nvPr/>
        </p:nvPicPr>
        <p:blipFill>
          <a:blip r:embed="rId2"/>
          <a:stretch>
            <a:fillRect/>
          </a:stretch>
        </p:blipFill>
        <p:spPr>
          <a:xfrm>
            <a:off x="6678778" y="2426818"/>
            <a:ext cx="404165" cy="404165"/>
          </a:xfrm>
          <a:prstGeom prst="rect">
            <a:avLst/>
          </a:prstGeom>
        </p:spPr>
      </p:pic>
      <p:sp>
        <p:nvSpPr>
          <p:cNvPr id="13" name="Text 9"/>
          <p:cNvSpPr txBox="1"/>
          <p:nvPr/>
        </p:nvSpPr>
        <p:spPr>
          <a:xfrm>
            <a:off x="7452360" y="2240280"/>
            <a:ext cx="365760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5E9E5A"/>
                </a:solidFill>
                <a:latin typeface="BIZ UDPGothic" pitchFamily="34" charset="0"/>
                <a:ea typeface="BIZ UDPGothic" pitchFamily="34" charset="-122"/>
                <a:cs typeface="BIZ UDPGothic" pitchFamily="34" charset="-120"/>
              </a:rPr>
              <a:t>条件 ②</a:t>
            </a:r>
            <a:endParaRPr lang="en-US" sz="1500" dirty="0"/>
          </a:p>
        </p:txBody>
      </p:sp>
      <p:sp>
        <p:nvSpPr>
          <p:cNvPr id="14" name="Text 10"/>
          <p:cNvSpPr txBox="1"/>
          <p:nvPr/>
        </p:nvSpPr>
        <p:spPr>
          <a:xfrm>
            <a:off x="7452360" y="2606040"/>
            <a:ext cx="3977640" cy="868680"/>
          </a:xfrm>
          <a:prstGeom prst="rect">
            <a:avLst/>
          </a:prstGeom>
          <a:noFill/>
          <a:ln/>
        </p:spPr>
        <p:txBody>
          <a:bodyPr wrap="square" lIns="635" tIns="635" rIns="635" bIns="635" rtlCol="0" anchor="t"/>
          <a:lstStyle/>
          <a:p>
            <a:pPr indent="0" marL="0">
              <a:lnSpc>
                <a:spcPct val="120000"/>
              </a:lnSpc>
              <a:buNone/>
            </a:pPr>
            <a:r>
              <a:rPr lang="en-US" sz="1900" b="1" dirty="0">
                <a:solidFill>
                  <a:srgbClr val="2B2B2B"/>
                </a:solidFill>
                <a:latin typeface="BIZ UDPGothic" pitchFamily="34" charset="0"/>
                <a:ea typeface="BIZ UDPGothic" pitchFamily="34" charset="-122"/>
                <a:cs typeface="BIZ UDPGothic" pitchFamily="34" charset="-120"/>
              </a:rPr>
              <a:t>本日この場で、又は3日以内でご決断いただける方</a:t>
            </a:r>
            <a:endParaRPr lang="en-US" sz="1900" dirty="0"/>
          </a:p>
        </p:txBody>
      </p:sp>
      <p:sp>
        <p:nvSpPr>
          <p:cNvPr id="15" name="Text 11"/>
          <p:cNvSpPr txBox="1"/>
          <p:nvPr/>
        </p:nvSpPr>
        <p:spPr>
          <a:xfrm>
            <a:off x="7452360" y="3474720"/>
            <a:ext cx="3977640" cy="411480"/>
          </a:xfrm>
          <a:prstGeom prst="rect">
            <a:avLst/>
          </a:prstGeom>
          <a:noFill/>
          <a:ln/>
        </p:spPr>
        <p:txBody>
          <a:bodyPr wrap="square" lIns="635" tIns="635" rIns="635" bIns="635" rtlCol="0" anchor="t"/>
          <a:lstStyle/>
          <a:p>
            <a:pPr indent="0" marL="0">
              <a:lnSpc>
                <a:spcPct val="120000"/>
              </a:lnSpc>
              <a:buNone/>
            </a:pPr>
            <a:r>
              <a:rPr lang="en-US" sz="1500" dirty="0">
                <a:solidFill>
                  <a:srgbClr val="C8502F"/>
                </a:solidFill>
                <a:latin typeface="BIZ UDPGothic" pitchFamily="34" charset="0"/>
                <a:ea typeface="BIZ UDPGothic" pitchFamily="34" charset="-122"/>
                <a:cs typeface="BIZ UDPGothic" pitchFamily="34" charset="-120"/>
              </a:rPr>
              <a:t>3日を過ぎると定価となります。</a:t>
            </a:r>
            <a:endParaRPr lang="en-US" sz="1500" dirty="0"/>
          </a:p>
        </p:txBody>
      </p:sp>
      <p:sp>
        <p:nvSpPr>
          <p:cNvPr id="16" name="Text 12"/>
          <p:cNvSpPr txBox="1"/>
          <p:nvPr/>
        </p:nvSpPr>
        <p:spPr>
          <a:xfrm>
            <a:off x="548640" y="4297680"/>
            <a:ext cx="11064240" cy="548640"/>
          </a:xfrm>
          <a:prstGeom prst="rect">
            <a:avLst/>
          </a:prstGeom>
          <a:noFill/>
          <a:ln/>
        </p:spPr>
        <p:txBody>
          <a:bodyPr wrap="square" lIns="635" tIns="635" rIns="635" bIns="635" rtlCol="0" anchor="t"/>
          <a:lstStyle/>
          <a:p>
            <a:pPr algn="ctr" indent="0" marL="0">
              <a:lnSpc>
                <a:spcPct val="120000"/>
              </a:lnSpc>
              <a:buNone/>
            </a:pPr>
            <a:r>
              <a:rPr lang="en-US" sz="1800" dirty="0">
                <a:solidFill>
                  <a:srgbClr val="2B2B2B"/>
                </a:solidFill>
                <a:latin typeface="BIZ UDPGothic" pitchFamily="34" charset="0"/>
                <a:ea typeface="BIZ UDPGothic" pitchFamily="34" charset="-122"/>
                <a:cs typeface="BIZ UDPGothic" pitchFamily="34" charset="-120"/>
              </a:rPr>
              <a:t>私を信じて頂き、自分を信じて、行動の早い方は、実績を出す力がある人だからです。</a:t>
            </a:r>
            <a:endParaRPr lang="en-US" sz="1800" dirty="0"/>
          </a:p>
        </p:txBody>
      </p:sp>
      <p:sp>
        <p:nvSpPr>
          <p:cNvPr id="17" name="Shape 13"/>
          <p:cNvSpPr/>
          <p:nvPr/>
        </p:nvSpPr>
        <p:spPr>
          <a:xfrm>
            <a:off x="548640" y="5074920"/>
            <a:ext cx="11064240" cy="1051560"/>
          </a:xfrm>
          <a:prstGeom prst="roundRect">
            <a:avLst>
              <a:gd name="adj" fmla="val 10435"/>
            </a:avLst>
          </a:prstGeom>
          <a:solidFill>
            <a:srgbClr val="1E4D3A"/>
          </a:solidFill>
          <a:ln/>
        </p:spPr>
      </p:sp>
      <p:sp>
        <p:nvSpPr>
          <p:cNvPr id="18" name="Text 14"/>
          <p:cNvSpPr txBox="1"/>
          <p:nvPr/>
        </p:nvSpPr>
        <p:spPr>
          <a:xfrm>
            <a:off x="822960" y="5074920"/>
            <a:ext cx="10515600" cy="1051560"/>
          </a:xfrm>
          <a:prstGeom prst="rect">
            <a:avLst/>
          </a:prstGeom>
          <a:noFill/>
          <a:ln/>
        </p:spPr>
        <p:txBody>
          <a:bodyPr wrap="square" lIns="635" tIns="635" rIns="635" bIns="635" rtlCol="0" anchor="ctr"/>
          <a:lstStyle/>
          <a:p>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①②を満たす方には、</a:t>
            </a:r>
            <a:pPr algn="ctr" indent="0" marL="0">
              <a:lnSpc>
                <a:spcPct val="120000"/>
              </a:lnSpc>
              <a:buNone/>
            </a:pPr>
            <a:r>
              <a:rPr lang="en-US" sz="2200" b="1" dirty="0">
                <a:solidFill>
                  <a:srgbClr val="E8A33D"/>
                </a:solidFill>
                <a:latin typeface="BIZ UDPGothic" pitchFamily="34" charset="0"/>
                <a:ea typeface="BIZ UDPGothic" pitchFamily="34" charset="-122"/>
                <a:cs typeface="BIZ UDPGothic" pitchFamily="34" charset="-120"/>
              </a:rPr>
              <a:t>更に特別価格</a:t>
            </a:r>
            <a:pPr algn="ctr" indent="0" marL="0">
              <a:lnSpc>
                <a:spcPct val="120000"/>
              </a:lnSpc>
              <a:buNone/>
            </a:pPr>
            <a:r>
              <a:rPr lang="en-US" sz="2200" b="1" dirty="0">
                <a:solidFill>
                  <a:srgbClr val="FFFFFF"/>
                </a:solidFill>
                <a:latin typeface="BIZ UDPGothic" pitchFamily="34" charset="0"/>
                <a:ea typeface="BIZ UDPGothic" pitchFamily="34" charset="-122"/>
                <a:cs typeface="BIZ UDPGothic" pitchFamily="34" charset="-120"/>
              </a:rPr>
              <a:t>にてご案内させていただきます！</a:t>
            </a:r>
            <a:endParaRPr lang="en-US" sz="2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ご参加をご決断頂いた方への特別価格です</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早期割引 特別特典</a:t>
            </a:r>
            <a:endParaRPr lang="en-US" sz="3000" dirty="0"/>
          </a:p>
        </p:txBody>
      </p:sp>
      <p:sp>
        <p:nvSpPr>
          <p:cNvPr id="4" name="Shape 2"/>
          <p:cNvSpPr/>
          <p:nvPr/>
        </p:nvSpPr>
        <p:spPr>
          <a:xfrm>
            <a:off x="548640" y="1645920"/>
            <a:ext cx="6035040" cy="4480560"/>
          </a:xfrm>
          <a:prstGeom prst="roundRect">
            <a:avLst>
              <a:gd name="adj" fmla="val 2449"/>
            </a:avLst>
          </a:prstGeom>
          <a:solidFill>
            <a:srgbClr val="FBF0DC"/>
          </a:solidFill>
          <a:ln/>
        </p:spPr>
      </p:sp>
      <p:sp>
        <p:nvSpPr>
          <p:cNvPr id="5" name="Text 3"/>
          <p:cNvSpPr txBox="1"/>
          <p:nvPr/>
        </p:nvSpPr>
        <p:spPr>
          <a:xfrm>
            <a:off x="914400" y="2011680"/>
            <a:ext cx="5486400" cy="1554480"/>
          </a:xfrm>
          <a:prstGeom prst="rect">
            <a:avLst/>
          </a:prstGeom>
          <a:noFill/>
          <a:ln/>
        </p:spPr>
        <p:txBody>
          <a:bodyPr wrap="square" lIns="635" tIns="635" rIns="635" bIns="635" rtlCol="0" anchor="t"/>
          <a:lstStyle/>
          <a:p>
            <a:pPr indent="0" marL="0">
              <a:lnSpc>
                <a:spcPct val="120000"/>
              </a:lnSpc>
              <a:buNone/>
            </a:pPr>
            <a:r>
              <a:rPr lang="en-US" sz="2800" b="1" dirty="0">
                <a:solidFill>
                  <a:srgbClr val="1E4D3A"/>
                </a:solidFill>
                <a:latin typeface="BIZ UDPGothic" pitchFamily="34" charset="0"/>
                <a:ea typeface="BIZ UDPGothic" pitchFamily="34" charset="-122"/>
                <a:cs typeface="BIZ UDPGothic" pitchFamily="34" charset="-120"/>
              </a:rPr>
              <a:t>すぐにご決断頂ける方限定の</a:t>
            </a:r>
            <a:endParaRPr lang="en-US" sz="2800" dirty="0"/>
          </a:p>
          <a:p>
            <a:pPr indent="0" marL="0">
              <a:lnSpc>
                <a:spcPct val="120000"/>
              </a:lnSpc>
              <a:buNone/>
            </a:pPr>
            <a:r>
              <a:rPr lang="en-US" sz="2800" b="1" dirty="0">
                <a:solidFill>
                  <a:srgbClr val="1E4D3A"/>
                </a:solidFill>
                <a:latin typeface="BIZ UDPGothic" pitchFamily="34" charset="0"/>
                <a:ea typeface="BIZ UDPGothic" pitchFamily="34" charset="-122"/>
                <a:cs typeface="BIZ UDPGothic" pitchFamily="34" charset="-120"/>
              </a:rPr>
              <a:t>特別価格です。</a:t>
            </a:r>
            <a:endParaRPr lang="en-US" sz="2800" dirty="0"/>
          </a:p>
        </p:txBody>
      </p:sp>
      <p:sp>
        <p:nvSpPr>
          <p:cNvPr id="6" name="Shape 4"/>
          <p:cNvSpPr/>
          <p:nvPr/>
        </p:nvSpPr>
        <p:spPr>
          <a:xfrm>
            <a:off x="914400" y="3977640"/>
            <a:ext cx="822960" cy="822960"/>
          </a:xfrm>
          <a:prstGeom prst="ellipse">
            <a:avLst/>
          </a:prstGeom>
          <a:solidFill>
            <a:srgbClr val="C8502F"/>
          </a:solidFill>
          <a:ln/>
        </p:spPr>
      </p:sp>
      <p:pic>
        <p:nvPicPr>
          <p:cNvPr id="7" name="Image 0" descr="preencoded.png">    </p:cNvPr>
          <p:cNvPicPr>
            <a:picLocks noChangeAspect="1"/>
          </p:cNvPicPr>
          <p:nvPr/>
        </p:nvPicPr>
        <p:blipFill>
          <a:blip r:embed="rId1"/>
          <a:stretch>
            <a:fillRect/>
          </a:stretch>
        </p:blipFill>
        <p:spPr>
          <a:xfrm>
            <a:off x="1111910" y="4175150"/>
            <a:ext cx="427939" cy="427939"/>
          </a:xfrm>
          <a:prstGeom prst="rect">
            <a:avLst/>
          </a:prstGeom>
        </p:spPr>
      </p:pic>
      <p:sp>
        <p:nvSpPr>
          <p:cNvPr id="8" name="Text 5"/>
          <p:cNvSpPr txBox="1"/>
          <p:nvPr/>
        </p:nvSpPr>
        <p:spPr>
          <a:xfrm>
            <a:off x="1920240" y="3886200"/>
            <a:ext cx="4389120" cy="1005840"/>
          </a:xfrm>
          <a:prstGeom prst="rect">
            <a:avLst/>
          </a:prstGeom>
          <a:noFill/>
          <a:ln/>
        </p:spPr>
        <p:txBody>
          <a:bodyPr wrap="square" lIns="635" tIns="635" rIns="635" bIns="635" rtlCol="0" anchor="ctr"/>
          <a:lstStyle/>
          <a:p>
            <a:pPr indent="0" marL="0">
              <a:lnSpc>
                <a:spcPct val="120000"/>
              </a:lnSpc>
              <a:buNone/>
            </a:pPr>
            <a:r>
              <a:rPr lang="en-US" sz="2200" b="1" dirty="0">
                <a:solidFill>
                  <a:srgbClr val="C8502F"/>
                </a:solidFill>
                <a:latin typeface="BIZ UDPGothic" pitchFamily="34" charset="0"/>
                <a:ea typeface="BIZ UDPGothic" pitchFamily="34" charset="-122"/>
                <a:cs typeface="BIZ UDPGothic" pitchFamily="34" charset="-120"/>
              </a:rPr>
              <a:t>3日を過ぎると</a:t>
            </a:r>
            <a:endParaRPr lang="en-US" sz="2200" dirty="0"/>
          </a:p>
          <a:p>
            <a:pPr indent="0" marL="0">
              <a:lnSpc>
                <a:spcPct val="120000"/>
              </a:lnSpc>
              <a:buNone/>
            </a:pPr>
            <a:r>
              <a:rPr lang="en-US" sz="2200" b="1" dirty="0">
                <a:solidFill>
                  <a:srgbClr val="C8502F"/>
                </a:solidFill>
                <a:latin typeface="BIZ UDPGothic" pitchFamily="34" charset="0"/>
                <a:ea typeface="BIZ UDPGothic" pitchFamily="34" charset="-122"/>
                <a:cs typeface="BIZ UDPGothic" pitchFamily="34" charset="-120"/>
              </a:rPr>
              <a:t>定価となります</a:t>
            </a:r>
            <a:endParaRPr lang="en-US" sz="2200" dirty="0"/>
          </a:p>
        </p:txBody>
      </p:sp>
      <p:pic>
        <p:nvPicPr>
          <p:cNvPr id="9" name="Image 1" descr="/root/work/gen/p_s39_949c9115_816x784_FFFFFF.jpg">    </p:cNvPr>
          <p:cNvPicPr>
            <a:picLocks noChangeAspect="1"/>
          </p:cNvPicPr>
          <p:nvPr/>
        </p:nvPicPr>
        <p:blipFill>
          <a:blip r:embed="rId2"/>
          <a:stretch>
            <a:fillRect/>
          </a:stretch>
        </p:blipFill>
        <p:spPr>
          <a:xfrm>
            <a:off x="6949440" y="1645920"/>
            <a:ext cx="4663440" cy="4480560"/>
          </a:xfrm>
          <a:prstGeom prst="rect">
            <a:avLst/>
          </a:prstGeom>
          <a:effectLst>
            <a:outerShdw sx="100000" sy="100000" kx="0" ky="0" algn="bl" rotWithShape="0" blurRad="127000" dist="25400" dir="5400000">
              <a:srgbClr val="000000">
                <a:alpha val="13000"/>
              </a:srgbClr>
            </a:outerShdw>
          </a:effectLst>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早期割引価格</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価格のご紹介</a:t>
            </a:r>
            <a:endParaRPr lang="en-US" sz="3000" dirty="0"/>
          </a:p>
        </p:txBody>
      </p:sp>
      <p:sp>
        <p:nvSpPr>
          <p:cNvPr id="4" name="Shape 2"/>
          <p:cNvSpPr/>
          <p:nvPr/>
        </p:nvSpPr>
        <p:spPr>
          <a:xfrm>
            <a:off x="548640" y="1463040"/>
            <a:ext cx="3520440" cy="4572000"/>
          </a:xfrm>
          <a:prstGeom prst="roundRect">
            <a:avLst>
              <a:gd name="adj" fmla="val 3117"/>
            </a:avLst>
          </a:prstGeom>
          <a:solidFill>
            <a:srgbClr val="1E4D3A"/>
          </a:solidFill>
          <a:ln/>
          <a:effectLst>
            <a:outerShdw sx="100000" sy="100000" kx="0" ky="0" algn="bl" rotWithShape="0" blurRad="127000" dist="25400" dir="5400000">
              <a:srgbClr val="000000">
                <a:alpha val="13000"/>
              </a:srgbClr>
            </a:outerShdw>
          </a:effectLst>
        </p:spPr>
      </p:sp>
      <p:sp>
        <p:nvSpPr>
          <p:cNvPr id="5" name="Text 3"/>
          <p:cNvSpPr txBox="1"/>
          <p:nvPr/>
        </p:nvSpPr>
        <p:spPr>
          <a:xfrm>
            <a:off x="777240" y="1600200"/>
            <a:ext cx="306324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FFFFFF"/>
                </a:solidFill>
                <a:latin typeface="BIZ UDPGothic" pitchFamily="34" charset="0"/>
                <a:ea typeface="BIZ UDPGothic" pitchFamily="34" charset="-122"/>
                <a:cs typeface="BIZ UDPGothic" pitchFamily="34" charset="-120"/>
              </a:rPr>
              <a:t>天給自足講師養成</a:t>
            </a:r>
            <a:endParaRPr lang="en-US" sz="1800" dirty="0"/>
          </a:p>
          <a:p>
            <a:pPr indent="0" marL="0">
              <a:lnSpc>
                <a:spcPct val="120000"/>
              </a:lnSpc>
              <a:buNone/>
            </a:pPr>
            <a:r>
              <a:rPr lang="en-US" sz="1800" b="1" dirty="0">
                <a:solidFill>
                  <a:srgbClr val="FFFFFF"/>
                </a:solidFill>
                <a:latin typeface="BIZ UDPGothic" pitchFamily="34" charset="0"/>
                <a:ea typeface="BIZ UDPGothic" pitchFamily="34" charset="-122"/>
                <a:cs typeface="BIZ UDPGothic" pitchFamily="34" charset="-120"/>
              </a:rPr>
              <a:t>2年コース</a:t>
            </a:r>
            <a:endParaRPr lang="en-US" sz="1800" dirty="0"/>
          </a:p>
        </p:txBody>
      </p:sp>
      <p:sp>
        <p:nvSpPr>
          <p:cNvPr id="6" name="Text 4"/>
          <p:cNvSpPr txBox="1"/>
          <p:nvPr/>
        </p:nvSpPr>
        <p:spPr>
          <a:xfrm>
            <a:off x="777240" y="2377440"/>
            <a:ext cx="2194560" cy="347472"/>
          </a:xfrm>
          <a:prstGeom prst="rect">
            <a:avLst/>
          </a:prstGeom>
          <a:noFill/>
          <a:ln/>
        </p:spPr>
        <p:txBody>
          <a:bodyPr wrap="square" lIns="635" tIns="635" rIns="635" bIns="635" rtlCol="0" anchor="ctr"/>
          <a:lstStyle/>
          <a:p>
            <a:pPr indent="0" marL="0">
              <a:lnSpc>
                <a:spcPct val="120000"/>
              </a:lnSpc>
              <a:buNone/>
            </a:pPr>
            <a:r>
              <a:rPr lang="en-US" sz="1500" strike="sngStrike" dirty="0">
                <a:solidFill>
                  <a:srgbClr val="B9C9BF"/>
                </a:solidFill>
                <a:latin typeface="BIZ UDPGothic" pitchFamily="34" charset="0"/>
                <a:ea typeface="BIZ UDPGothic" pitchFamily="34" charset="-122"/>
                <a:cs typeface="BIZ UDPGothic" pitchFamily="34" charset="-120"/>
              </a:rPr>
              <a:t>120万円（税込）</a:t>
            </a:r>
            <a:endParaRPr lang="en-US" sz="1500" dirty="0"/>
          </a:p>
        </p:txBody>
      </p:sp>
      <p:sp>
        <p:nvSpPr>
          <p:cNvPr id="7" name="Shape 5"/>
          <p:cNvSpPr/>
          <p:nvPr/>
        </p:nvSpPr>
        <p:spPr>
          <a:xfrm>
            <a:off x="2743200" y="2395728"/>
            <a:ext cx="1143000" cy="310896"/>
          </a:xfrm>
          <a:prstGeom prst="roundRect">
            <a:avLst>
              <a:gd name="adj" fmla="val 50000"/>
            </a:avLst>
          </a:prstGeom>
          <a:solidFill>
            <a:srgbClr val="C8502F"/>
          </a:solidFill>
          <a:ln/>
        </p:spPr>
      </p:sp>
      <p:sp>
        <p:nvSpPr>
          <p:cNvPr id="8" name="Text 6"/>
          <p:cNvSpPr txBox="1"/>
          <p:nvPr/>
        </p:nvSpPr>
        <p:spPr>
          <a:xfrm>
            <a:off x="2743200" y="2395728"/>
            <a:ext cx="1143000" cy="310896"/>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早期割引</a:t>
            </a:r>
            <a:endParaRPr lang="en-US" sz="1200" dirty="0"/>
          </a:p>
        </p:txBody>
      </p:sp>
      <p:sp>
        <p:nvSpPr>
          <p:cNvPr id="9" name="Text 7"/>
          <p:cNvSpPr txBox="1"/>
          <p:nvPr/>
        </p:nvSpPr>
        <p:spPr>
          <a:xfrm>
            <a:off x="777240" y="2697480"/>
            <a:ext cx="3154680" cy="777240"/>
          </a:xfrm>
          <a:prstGeom prst="rect">
            <a:avLst/>
          </a:prstGeom>
          <a:noFill/>
          <a:ln/>
        </p:spPr>
        <p:txBody>
          <a:bodyPr wrap="square" lIns="635" tIns="635" rIns="635" bIns="635" rtlCol="0" anchor="ctr"/>
          <a:lstStyle/>
          <a:p>
            <a:pPr indent="0" marL="0">
              <a:lnSpc>
                <a:spcPct val="120000"/>
              </a:lnSpc>
              <a:buNone/>
            </a:pPr>
            <a:r>
              <a:rPr lang="en-US" sz="4600" b="1" dirty="0">
                <a:solidFill>
                  <a:srgbClr val="E8A33D"/>
                </a:solidFill>
                <a:latin typeface="BIZ UDPGothic" pitchFamily="34" charset="0"/>
                <a:ea typeface="BIZ UDPGothic" pitchFamily="34" charset="-122"/>
                <a:cs typeface="BIZ UDPGothic" pitchFamily="34" charset="-120"/>
              </a:rPr>
              <a:t>108</a:t>
            </a:r>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万円（税込）</a:t>
            </a:r>
            <a:endParaRPr lang="en-US" sz="1600" dirty="0"/>
          </a:p>
        </p:txBody>
      </p:sp>
      <p:sp>
        <p:nvSpPr>
          <p:cNvPr id="10" name="Text 8"/>
          <p:cNvSpPr txBox="1"/>
          <p:nvPr/>
        </p:nvSpPr>
        <p:spPr>
          <a:xfrm>
            <a:off x="777240" y="3520440"/>
            <a:ext cx="3063240" cy="960120"/>
          </a:xfrm>
          <a:prstGeom prst="rect">
            <a:avLst/>
          </a:prstGeom>
          <a:noFill/>
          <a:ln/>
        </p:spPr>
        <p:txBody>
          <a:bodyPr wrap="square" lIns="635" tIns="635" rIns="635" bIns="635" rtlCol="0" anchor="t"/>
          <a:lstStyle/>
          <a:p>
            <a:pPr indent="0" marL="0">
              <a:lnSpc>
                <a:spcPct val="120000"/>
              </a:lnSpc>
              <a:buNone/>
            </a:pPr>
            <a:r>
              <a:rPr lang="en-US" sz="1400" dirty="0">
                <a:solidFill>
                  <a:srgbClr val="DDE8DF"/>
                </a:solidFill>
                <a:latin typeface="BIZ UDPGothic" pitchFamily="34" charset="0"/>
                <a:ea typeface="BIZ UDPGothic" pitchFamily="34" charset="-122"/>
                <a:cs typeface="BIZ UDPGothic" pitchFamily="34" charset="-120"/>
              </a:rPr>
              <a:t>すべての講座を2年（2回）にわたって受講。2年目からは講師のつもりで受講</a:t>
            </a:r>
            <a:endParaRPr lang="en-US" sz="1400" dirty="0"/>
          </a:p>
        </p:txBody>
      </p:sp>
      <p:sp>
        <p:nvSpPr>
          <p:cNvPr id="11" name="Text 9"/>
          <p:cNvSpPr txBox="1"/>
          <p:nvPr/>
        </p:nvSpPr>
        <p:spPr>
          <a:xfrm>
            <a:off x="777240" y="4526280"/>
            <a:ext cx="3063240" cy="1463040"/>
          </a:xfrm>
          <a:prstGeom prst="rect">
            <a:avLst/>
          </a:prstGeom>
          <a:noFill/>
          <a:ln/>
        </p:spPr>
        <p:txBody>
          <a:bodyPr wrap="square" lIns="635" tIns="635" rIns="635" bIns="635" rtlCol="0" anchor="t"/>
          <a:lstStyle/>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LINEサポート無制限</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リアルでいつでも見学OK</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フランス菓子基礎動画</a:t>
            </a:r>
            <a:endParaRPr lang="en-US" sz="1400" dirty="0"/>
          </a:p>
          <a:p>
            <a:pPr indent="0" marL="0">
              <a:lnSpc>
                <a:spcPct val="105000"/>
              </a:lnSpc>
              <a:buNone/>
            </a:pPr>
            <a:r>
              <a:rPr lang="en-US" sz="1400" dirty="0">
                <a:solidFill>
                  <a:srgbClr val="FFFFFF"/>
                </a:solidFill>
                <a:latin typeface="BIZ UDPGothic" pitchFamily="34" charset="0"/>
                <a:ea typeface="BIZ UDPGothic" pitchFamily="34" charset="-122"/>
                <a:cs typeface="BIZ UDPGothic" pitchFamily="34" charset="-120"/>
              </a:rPr>
              <a:t>✓ 限定FBグループ</a:t>
            </a:r>
            <a:endParaRPr lang="en-US" sz="1400" dirty="0"/>
          </a:p>
        </p:txBody>
      </p:sp>
      <p:sp>
        <p:nvSpPr>
          <p:cNvPr id="12" name="Shape 10"/>
          <p:cNvSpPr/>
          <p:nvPr/>
        </p:nvSpPr>
        <p:spPr>
          <a:xfrm>
            <a:off x="429768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13" name="Text 11"/>
          <p:cNvSpPr txBox="1"/>
          <p:nvPr/>
        </p:nvSpPr>
        <p:spPr>
          <a:xfrm>
            <a:off x="4526280" y="1600200"/>
            <a:ext cx="306324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天給自足</a:t>
            </a:r>
            <a:endParaRPr lang="en-US" sz="1800" dirty="0"/>
          </a:p>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1年コース</a:t>
            </a:r>
            <a:endParaRPr lang="en-US" sz="1800" dirty="0"/>
          </a:p>
        </p:txBody>
      </p:sp>
      <p:sp>
        <p:nvSpPr>
          <p:cNvPr id="14" name="Text 12"/>
          <p:cNvSpPr txBox="1"/>
          <p:nvPr/>
        </p:nvSpPr>
        <p:spPr>
          <a:xfrm>
            <a:off x="4526280" y="2468880"/>
            <a:ext cx="3154680" cy="91440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60</a:t>
            </a:r>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万円（税込）</a:t>
            </a:r>
            <a:endParaRPr lang="en-US" sz="1600" dirty="0"/>
          </a:p>
        </p:txBody>
      </p:sp>
      <p:sp>
        <p:nvSpPr>
          <p:cNvPr id="15" name="Text 13"/>
          <p:cNvSpPr txBox="1"/>
          <p:nvPr/>
        </p:nvSpPr>
        <p:spPr>
          <a:xfrm>
            <a:off x="4526280" y="3520440"/>
            <a:ext cx="3063240" cy="960120"/>
          </a:xfrm>
          <a:prstGeom prst="rect">
            <a:avLst/>
          </a:prstGeom>
          <a:noFill/>
          <a:ln/>
        </p:spPr>
        <p:txBody>
          <a:bodyPr wrap="square" lIns="635" tIns="635" rIns="635" bIns="635" rtlCol="0" anchor="t"/>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1年間を通してすべての講座を受講できます。四季を通しての学びが豊かで楽しい</a:t>
            </a:r>
            <a:endParaRPr lang="en-US" sz="1400" dirty="0"/>
          </a:p>
        </p:txBody>
      </p:sp>
      <p:sp>
        <p:nvSpPr>
          <p:cNvPr id="16" name="Text 14"/>
          <p:cNvSpPr txBox="1"/>
          <p:nvPr/>
        </p:nvSpPr>
        <p:spPr>
          <a:xfrm>
            <a:off x="4526280" y="4526280"/>
            <a:ext cx="3063240" cy="1463040"/>
          </a:xfrm>
          <a:prstGeom prst="rect">
            <a:avLst/>
          </a:prstGeom>
          <a:noFill/>
          <a:ln/>
        </p:spPr>
        <p:txBody>
          <a:bodyPr wrap="square" lIns="635" tIns="635" rIns="635" bIns="635" rtlCol="0" anchor="t"/>
          <a:lstStyle/>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LINEサポート無制限</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リアルでいつでも見学OK</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フランス菓子基礎動画</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限定FBグループ</a:t>
            </a:r>
            <a:endParaRPr lang="en-US" sz="1400" dirty="0"/>
          </a:p>
        </p:txBody>
      </p:sp>
      <p:sp>
        <p:nvSpPr>
          <p:cNvPr id="17" name="Shape 15"/>
          <p:cNvSpPr/>
          <p:nvPr/>
        </p:nvSpPr>
        <p:spPr>
          <a:xfrm>
            <a:off x="804672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18" name="Text 16"/>
          <p:cNvSpPr txBox="1"/>
          <p:nvPr/>
        </p:nvSpPr>
        <p:spPr>
          <a:xfrm>
            <a:off x="8275320" y="1600200"/>
            <a:ext cx="306324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天給自足</a:t>
            </a:r>
            <a:endParaRPr lang="en-US" sz="1800" dirty="0"/>
          </a:p>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半年コース</a:t>
            </a:r>
            <a:endParaRPr lang="en-US" sz="1800" dirty="0"/>
          </a:p>
        </p:txBody>
      </p:sp>
      <p:sp>
        <p:nvSpPr>
          <p:cNvPr id="19" name="Text 17"/>
          <p:cNvSpPr txBox="1"/>
          <p:nvPr/>
        </p:nvSpPr>
        <p:spPr>
          <a:xfrm>
            <a:off x="8275320" y="2468880"/>
            <a:ext cx="3154680" cy="91440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40</a:t>
            </a:r>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万円（税込）</a:t>
            </a:r>
            <a:endParaRPr lang="en-US" sz="1600" dirty="0"/>
          </a:p>
        </p:txBody>
      </p:sp>
      <p:sp>
        <p:nvSpPr>
          <p:cNvPr id="20" name="Text 18"/>
          <p:cNvSpPr txBox="1"/>
          <p:nvPr/>
        </p:nvSpPr>
        <p:spPr>
          <a:xfrm>
            <a:off x="8275320" y="3520440"/>
            <a:ext cx="3063240" cy="960120"/>
          </a:xfrm>
          <a:prstGeom prst="rect">
            <a:avLst/>
          </a:prstGeom>
          <a:noFill/>
          <a:ln/>
        </p:spPr>
        <p:txBody>
          <a:bodyPr wrap="square" lIns="635" tIns="635" rIns="635" bIns="635" rtlCol="0" anchor="t"/>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天給自足の中心となる講座を受講。ポタジェ（キッチンガーデン）・菌ちゃん農法で素敵な庭を作ります</a:t>
            </a:r>
            <a:endParaRPr lang="en-US" sz="1400" dirty="0"/>
          </a:p>
        </p:txBody>
      </p:sp>
      <p:sp>
        <p:nvSpPr>
          <p:cNvPr id="21" name="Text 19"/>
          <p:cNvSpPr txBox="1"/>
          <p:nvPr/>
        </p:nvSpPr>
        <p:spPr>
          <a:xfrm>
            <a:off x="8275320" y="4526280"/>
            <a:ext cx="3063240" cy="1463040"/>
          </a:xfrm>
          <a:prstGeom prst="rect">
            <a:avLst/>
          </a:prstGeom>
          <a:noFill/>
          <a:ln/>
        </p:spPr>
        <p:txBody>
          <a:bodyPr wrap="square" lIns="635" tIns="635" rIns="635" bIns="635" rtlCol="0" anchor="t"/>
          <a:lstStyle/>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LINEサポート無制限</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リアルでいつでも見学OK</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フランス菓子基礎動画</a:t>
            </a:r>
            <a:endParaRPr lang="en-US" sz="1400" dirty="0"/>
          </a:p>
          <a:p>
            <a:pPr indent="0" marL="0">
              <a:lnSpc>
                <a:spcPct val="105000"/>
              </a:lnSpc>
              <a:buNone/>
            </a:pPr>
            <a:r>
              <a:rPr lang="en-US" sz="1400" dirty="0">
                <a:solidFill>
                  <a:srgbClr val="2B2B2B"/>
                </a:solidFill>
                <a:latin typeface="BIZ UDPGothic" pitchFamily="34" charset="0"/>
                <a:ea typeface="BIZ UDPGothic" pitchFamily="34" charset="-122"/>
                <a:cs typeface="BIZ UDPGothic" pitchFamily="34" charset="-120"/>
              </a:rPr>
              <a:t>✓ 限定FBグループ</a:t>
            </a:r>
            <a:endParaRPr lang="en-US" sz="1400" dirty="0"/>
          </a:p>
        </p:txBody>
      </p:sp>
      <p:sp>
        <p:nvSpPr>
          <p:cNvPr id="22" name="Text 20"/>
          <p:cNvSpPr txBox="1"/>
          <p:nvPr/>
        </p:nvSpPr>
        <p:spPr>
          <a:xfrm>
            <a:off x="548640" y="6080760"/>
            <a:ext cx="11064240" cy="301752"/>
          </a:xfrm>
          <a:prstGeom prst="rect">
            <a:avLst/>
          </a:prstGeom>
          <a:noFill/>
          <a:ln/>
        </p:spPr>
        <p:txBody>
          <a:bodyPr wrap="square" lIns="635" tIns="635" rIns="635" bIns="635" rtlCol="0" anchor="t"/>
          <a:lstStyle/>
          <a:p>
            <a:pPr indent="0" marL="0">
              <a:lnSpc>
                <a:spcPct val="120000"/>
              </a:lnSpc>
              <a:buNone/>
            </a:pPr>
            <a:r>
              <a:rPr lang="en-US" sz="1100" dirty="0">
                <a:solidFill>
                  <a:srgbClr val="666666"/>
                </a:solidFill>
                <a:latin typeface="BIZ UDPGothic" pitchFamily="34" charset="0"/>
                <a:ea typeface="BIZ UDPGothic" pitchFamily="34" charset="-122"/>
                <a:cs typeface="BIZ UDPGothic" pitchFamily="34" charset="-120"/>
              </a:rPr>
              <a:t>※お支払い方法は銀行一括振り込み・クレジット払いになります。（分割・クレジット一括の場合、5%のお手数料をいただきます。）</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root/work/img/s01_61dbc221.jpg">    </p:cNvPr>
          <p:cNvPicPr>
            <a:picLocks noChangeAspect="1"/>
          </p:cNvPicPr>
          <p:nvPr/>
        </p:nvPicPr>
        <p:blipFill>
          <a:blip r:embed="rId1"/>
          <a:stretch>
            <a:fillRect/>
          </a:stretch>
        </p:blipFill>
        <p:spPr>
          <a:xfrm>
            <a:off x="0" y="-45720"/>
            <a:ext cx="12191695" cy="8115773"/>
          </a:xfrm>
          <a:prstGeom prst="rect">
            <a:avLst/>
          </a:prstGeom>
        </p:spPr>
      </p:pic>
      <p:pic>
        <p:nvPicPr>
          <p:cNvPr id="3" name="Image 1" descr="/root/work/gen/overlay_top.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txBox="1"/>
          <p:nvPr/>
        </p:nvSpPr>
        <p:spPr>
          <a:xfrm>
            <a:off x="822960" y="1097280"/>
            <a:ext cx="10515600" cy="1188720"/>
          </a:xfrm>
          <a:prstGeom prst="rect">
            <a:avLst/>
          </a:prstGeom>
          <a:noFill/>
          <a:ln/>
        </p:spPr>
        <p:txBody>
          <a:bodyPr wrap="square" lIns="635" tIns="635" rIns="635" bIns="635" rtlCol="0" anchor="ctr"/>
          <a:lstStyle/>
          <a:p>
            <a:pPr algn="ctr" indent="0" marL="0">
              <a:lnSpc>
                <a:spcPct val="120000"/>
              </a:lnSpc>
              <a:buNone/>
            </a:pPr>
            <a:r>
              <a:rPr lang="en-US" sz="5400" dirty="0">
                <a:solidFill>
                  <a:srgbClr val="FFFFFF"/>
                </a:solidFill>
                <a:latin typeface="BIZ UDPMincho" pitchFamily="34" charset="0"/>
                <a:ea typeface="BIZ UDPMincho" pitchFamily="34" charset="-122"/>
                <a:cs typeface="BIZ UDPMincho" pitchFamily="34" charset="-120"/>
              </a:rPr>
              <a:t>ありがとうございます</a:t>
            </a:r>
            <a:endParaRPr lang="en-US" sz="5400" dirty="0"/>
          </a:p>
        </p:txBody>
      </p:sp>
      <p:sp>
        <p:nvSpPr>
          <p:cNvPr id="5" name="Text 1"/>
          <p:cNvSpPr txBox="1"/>
          <p:nvPr/>
        </p:nvSpPr>
        <p:spPr>
          <a:xfrm>
            <a:off x="1280160" y="2377440"/>
            <a:ext cx="9601200" cy="1005840"/>
          </a:xfrm>
          <a:prstGeom prst="rect">
            <a:avLst/>
          </a:prstGeom>
          <a:noFill/>
          <a:ln/>
        </p:spPr>
        <p:txBody>
          <a:bodyPr wrap="square" lIns="635" tIns="635" rIns="635" bIns="635" rtlCol="0" anchor="t"/>
          <a:lstStyle/>
          <a:p>
            <a:pPr algn="ctr" indent="0" marL="0">
              <a:lnSpc>
                <a:spcPct val="120000"/>
              </a:lnSpc>
              <a:buNone/>
            </a:pPr>
            <a:r>
              <a:rPr lang="en-US" sz="2000" dirty="0">
                <a:solidFill>
                  <a:srgbClr val="FFFFFF"/>
                </a:solidFill>
                <a:latin typeface="BIZ UDPGothic" pitchFamily="34" charset="0"/>
                <a:ea typeface="BIZ UDPGothic" pitchFamily="34" charset="-122"/>
                <a:cs typeface="BIZ UDPGothic" pitchFamily="34" charset="-120"/>
              </a:rPr>
              <a:t>今日という日は、残りの人生の最初の日。</a:t>
            </a:r>
            <a:endParaRPr lang="en-US" sz="2000" dirty="0"/>
          </a:p>
          <a:p>
            <a:pPr algn="ctr" indent="0" marL="0">
              <a:lnSpc>
                <a:spcPct val="120000"/>
              </a:lnSpc>
              <a:buNone/>
            </a:pPr>
            <a:r>
              <a:rPr lang="en-US" sz="2000" dirty="0">
                <a:solidFill>
                  <a:srgbClr val="FFFFFF"/>
                </a:solidFill>
                <a:latin typeface="BIZ UDPGothic" pitchFamily="34" charset="0"/>
                <a:ea typeface="BIZ UDPGothic" pitchFamily="34" charset="-122"/>
                <a:cs typeface="BIZ UDPGothic" pitchFamily="34" charset="-120"/>
              </a:rPr>
              <a:t>いっしょに、天の恵みを活かす未来を創りましょう。</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メニューのご紹介</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単独塾コース</a:t>
            </a:r>
            <a:endParaRPr lang="en-US" sz="3000" dirty="0"/>
          </a:p>
        </p:txBody>
      </p:sp>
      <p:sp>
        <p:nvSpPr>
          <p:cNvPr id="4" name="Text 2"/>
          <p:cNvSpPr txBox="1"/>
          <p:nvPr/>
        </p:nvSpPr>
        <p:spPr>
          <a:xfrm>
            <a:off x="548640" y="1371600"/>
            <a:ext cx="7589520" cy="777240"/>
          </a:xfrm>
          <a:prstGeom prst="rect">
            <a:avLst/>
          </a:prstGeom>
          <a:noFill/>
          <a:ln/>
        </p:spPr>
        <p:txBody>
          <a:bodyPr wrap="square" lIns="635" tIns="635" rIns="635" bIns="635" rtlCol="0" anchor="t"/>
          <a:lstStyle/>
          <a:p>
            <a:pPr indent="0" marL="0">
              <a:lnSpc>
                <a:spcPct val="120000"/>
              </a:lnSpc>
              <a:buNone/>
            </a:pPr>
            <a:r>
              <a:rPr lang="en-US" sz="1500" dirty="0">
                <a:solidFill>
                  <a:srgbClr val="666666"/>
                </a:solidFill>
                <a:latin typeface="BIZ UDPGothic" pitchFamily="34" charset="0"/>
                <a:ea typeface="BIZ UDPGothic" pitchFamily="34" charset="-122"/>
                <a:cs typeface="BIZ UDPGothic" pitchFamily="34" charset="-120"/>
              </a:rPr>
              <a:t>各講座で、発酵、菊芋の加工、野草、サバイバルを学ぶ。</a:t>
            </a:r>
            <a:endParaRPr lang="en-US" sz="1500" dirty="0"/>
          </a:p>
        </p:txBody>
      </p:sp>
      <p:sp>
        <p:nvSpPr>
          <p:cNvPr id="5" name="Text 3"/>
          <p:cNvSpPr txBox="1"/>
          <p:nvPr/>
        </p:nvSpPr>
        <p:spPr>
          <a:xfrm>
            <a:off x="548640" y="2194560"/>
            <a:ext cx="7589520" cy="365760"/>
          </a:xfrm>
          <a:prstGeom prst="rect">
            <a:avLst/>
          </a:prstGeom>
          <a:noFill/>
          <a:ln/>
        </p:spPr>
        <p:txBody>
          <a:bodyPr wrap="square" lIns="635" tIns="635" rIns="635" bIns="635" rtlCol="0" anchor="t"/>
          <a:lstStyle/>
          <a:p>
            <a:pPr indent="0" marL="0">
              <a:lnSpc>
                <a:spcPct val="120000"/>
              </a:lnSpc>
              <a:buNone/>
            </a:pPr>
            <a:r>
              <a:rPr lang="en-US" sz="1500" b="1" dirty="0">
                <a:solidFill>
                  <a:srgbClr val="1E4D3A"/>
                </a:solidFill>
                <a:latin typeface="BIZ UDPGothic" pitchFamily="34" charset="0"/>
                <a:ea typeface="BIZ UDPGothic" pitchFamily="34" charset="-122"/>
                <a:cs typeface="BIZ UDPGothic" pitchFamily="34" charset="-120"/>
              </a:rPr>
              <a:t>気になる講座だけを選んで受講できます</a:t>
            </a:r>
            <a:endParaRPr lang="en-US" sz="1500" dirty="0"/>
          </a:p>
        </p:txBody>
      </p:sp>
      <p:sp>
        <p:nvSpPr>
          <p:cNvPr id="6" name="Shape 4"/>
          <p:cNvSpPr/>
          <p:nvPr/>
        </p:nvSpPr>
        <p:spPr>
          <a:xfrm>
            <a:off x="548640" y="2633472"/>
            <a:ext cx="7589520" cy="658368"/>
          </a:xfrm>
          <a:prstGeom prst="roundRect">
            <a:avLst>
              <a:gd name="adj" fmla="val 11111"/>
            </a:avLst>
          </a:prstGeom>
          <a:solidFill>
            <a:srgbClr val="F6F8F4"/>
          </a:solidFill>
          <a:ln/>
        </p:spPr>
      </p:sp>
      <p:sp>
        <p:nvSpPr>
          <p:cNvPr id="7" name="Shape 5"/>
          <p:cNvSpPr/>
          <p:nvPr/>
        </p:nvSpPr>
        <p:spPr>
          <a:xfrm>
            <a:off x="640080" y="2779776"/>
            <a:ext cx="868680" cy="365760"/>
          </a:xfrm>
          <a:prstGeom prst="roundRect">
            <a:avLst>
              <a:gd name="adj" fmla="val 50000"/>
            </a:avLst>
          </a:prstGeom>
          <a:solidFill>
            <a:srgbClr val="1E4D3A"/>
          </a:solidFill>
          <a:ln/>
        </p:spPr>
      </p:sp>
      <p:sp>
        <p:nvSpPr>
          <p:cNvPr id="8" name="Text 6"/>
          <p:cNvSpPr txBox="1"/>
          <p:nvPr/>
        </p:nvSpPr>
        <p:spPr>
          <a:xfrm>
            <a:off x="640080" y="2779776"/>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4月</a:t>
            </a:r>
            <a:endParaRPr lang="en-US" sz="1400" dirty="0"/>
          </a:p>
        </p:txBody>
      </p:sp>
      <p:sp>
        <p:nvSpPr>
          <p:cNvPr id="9" name="Text 7"/>
          <p:cNvSpPr txBox="1"/>
          <p:nvPr/>
        </p:nvSpPr>
        <p:spPr>
          <a:xfrm>
            <a:off x="1600200" y="2633472"/>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菊芋活用実践塾</a:t>
            </a:r>
            <a:endParaRPr lang="en-US" sz="1400" dirty="0"/>
          </a:p>
        </p:txBody>
      </p:sp>
      <p:sp>
        <p:nvSpPr>
          <p:cNvPr id="10" name="Text 8"/>
          <p:cNvSpPr txBox="1"/>
          <p:nvPr/>
        </p:nvSpPr>
        <p:spPr>
          <a:xfrm>
            <a:off x="7132320" y="2633472"/>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11" name="Shape 9"/>
          <p:cNvSpPr/>
          <p:nvPr/>
        </p:nvSpPr>
        <p:spPr>
          <a:xfrm>
            <a:off x="548640" y="3346704"/>
            <a:ext cx="7589520" cy="658368"/>
          </a:xfrm>
          <a:prstGeom prst="roundRect">
            <a:avLst>
              <a:gd name="adj" fmla="val 11111"/>
            </a:avLst>
          </a:prstGeom>
          <a:solidFill>
            <a:srgbClr val="F6F8F4"/>
          </a:solidFill>
          <a:ln/>
        </p:spPr>
      </p:sp>
      <p:sp>
        <p:nvSpPr>
          <p:cNvPr id="12" name="Shape 10"/>
          <p:cNvSpPr/>
          <p:nvPr/>
        </p:nvSpPr>
        <p:spPr>
          <a:xfrm>
            <a:off x="640080" y="3493008"/>
            <a:ext cx="868680" cy="365760"/>
          </a:xfrm>
          <a:prstGeom prst="roundRect">
            <a:avLst>
              <a:gd name="adj" fmla="val 50000"/>
            </a:avLst>
          </a:prstGeom>
          <a:solidFill>
            <a:srgbClr val="1E4D3A"/>
          </a:solidFill>
          <a:ln/>
        </p:spPr>
      </p:sp>
      <p:sp>
        <p:nvSpPr>
          <p:cNvPr id="13" name="Text 11"/>
          <p:cNvSpPr txBox="1"/>
          <p:nvPr/>
        </p:nvSpPr>
        <p:spPr>
          <a:xfrm>
            <a:off x="640080" y="3493008"/>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6月</a:t>
            </a:r>
            <a:endParaRPr lang="en-US" sz="1400" dirty="0"/>
          </a:p>
        </p:txBody>
      </p:sp>
      <p:sp>
        <p:nvSpPr>
          <p:cNvPr id="14" name="Text 12"/>
          <p:cNvSpPr txBox="1"/>
          <p:nvPr/>
        </p:nvSpPr>
        <p:spPr>
          <a:xfrm>
            <a:off x="1600200" y="3346704"/>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野草を生活に落とし込み楽しむ会</a:t>
            </a:r>
            <a:endParaRPr lang="en-US" sz="1400" dirty="0"/>
          </a:p>
        </p:txBody>
      </p:sp>
      <p:sp>
        <p:nvSpPr>
          <p:cNvPr id="15" name="Text 13"/>
          <p:cNvSpPr txBox="1"/>
          <p:nvPr/>
        </p:nvSpPr>
        <p:spPr>
          <a:xfrm>
            <a:off x="7132320" y="3346704"/>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16" name="Shape 14"/>
          <p:cNvSpPr/>
          <p:nvPr/>
        </p:nvSpPr>
        <p:spPr>
          <a:xfrm>
            <a:off x="548640" y="4059936"/>
            <a:ext cx="7589520" cy="658368"/>
          </a:xfrm>
          <a:prstGeom prst="roundRect">
            <a:avLst>
              <a:gd name="adj" fmla="val 11111"/>
            </a:avLst>
          </a:prstGeom>
          <a:solidFill>
            <a:srgbClr val="F6F8F4"/>
          </a:solidFill>
          <a:ln/>
        </p:spPr>
      </p:sp>
      <p:sp>
        <p:nvSpPr>
          <p:cNvPr id="17" name="Shape 15"/>
          <p:cNvSpPr/>
          <p:nvPr/>
        </p:nvSpPr>
        <p:spPr>
          <a:xfrm>
            <a:off x="640080" y="4206240"/>
            <a:ext cx="868680" cy="365760"/>
          </a:xfrm>
          <a:prstGeom prst="roundRect">
            <a:avLst>
              <a:gd name="adj" fmla="val 50000"/>
            </a:avLst>
          </a:prstGeom>
          <a:solidFill>
            <a:srgbClr val="1E4D3A"/>
          </a:solidFill>
          <a:ln/>
        </p:spPr>
      </p:sp>
      <p:sp>
        <p:nvSpPr>
          <p:cNvPr id="18" name="Text 16"/>
          <p:cNvSpPr txBox="1"/>
          <p:nvPr/>
        </p:nvSpPr>
        <p:spPr>
          <a:xfrm>
            <a:off x="640080" y="4206240"/>
            <a:ext cx="868680" cy="365760"/>
          </a:xfrm>
          <a:prstGeom prst="rect">
            <a:avLst/>
          </a:prstGeom>
          <a:noFill/>
          <a:ln/>
        </p:spPr>
        <p:txBody>
          <a:bodyPr wrap="square" lIns="0" tIns="0" rIns="0" bIns="0" rtlCol="0" anchor="ctr"/>
          <a:lstStyle/>
          <a:p>
            <a:pPr algn="ctr" indent="0" marL="0">
              <a:lnSpc>
                <a:spcPct val="120000"/>
              </a:lnSpc>
              <a:buNone/>
            </a:pPr>
            <a:r>
              <a:rPr lang="en-US" sz="1400" b="1" dirty="0">
                <a:solidFill>
                  <a:srgbClr val="FFFFFF"/>
                </a:solidFill>
                <a:latin typeface="BIZ UDPGothic" pitchFamily="34" charset="0"/>
                <a:ea typeface="BIZ UDPGothic" pitchFamily="34" charset="-122"/>
                <a:cs typeface="BIZ UDPGothic" pitchFamily="34" charset="-120"/>
              </a:rPr>
              <a:t>8月</a:t>
            </a:r>
            <a:endParaRPr lang="en-US" sz="1400" dirty="0"/>
          </a:p>
        </p:txBody>
      </p:sp>
      <p:sp>
        <p:nvSpPr>
          <p:cNvPr id="19" name="Text 17"/>
          <p:cNvSpPr txBox="1"/>
          <p:nvPr/>
        </p:nvSpPr>
        <p:spPr>
          <a:xfrm>
            <a:off x="1600200" y="4059936"/>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アパッチ族のフルサバイバル体験</a:t>
            </a:r>
            <a:endParaRPr lang="en-US" sz="1400" dirty="0"/>
          </a:p>
        </p:txBody>
      </p:sp>
      <p:sp>
        <p:nvSpPr>
          <p:cNvPr id="20" name="Text 18"/>
          <p:cNvSpPr txBox="1"/>
          <p:nvPr/>
        </p:nvSpPr>
        <p:spPr>
          <a:xfrm>
            <a:off x="7132320" y="4059936"/>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1泊2日</a:t>
            </a:r>
            <a:endParaRPr lang="en-US" sz="1300" dirty="0"/>
          </a:p>
        </p:txBody>
      </p:sp>
      <p:sp>
        <p:nvSpPr>
          <p:cNvPr id="21" name="Shape 19"/>
          <p:cNvSpPr/>
          <p:nvPr/>
        </p:nvSpPr>
        <p:spPr>
          <a:xfrm>
            <a:off x="548640" y="4773168"/>
            <a:ext cx="7589520" cy="658368"/>
          </a:xfrm>
          <a:prstGeom prst="roundRect">
            <a:avLst>
              <a:gd name="adj" fmla="val 11111"/>
            </a:avLst>
          </a:prstGeom>
          <a:solidFill>
            <a:srgbClr val="F6F8F4"/>
          </a:solidFill>
          <a:ln/>
        </p:spPr>
      </p:sp>
      <p:sp>
        <p:nvSpPr>
          <p:cNvPr id="22" name="Shape 20"/>
          <p:cNvSpPr/>
          <p:nvPr/>
        </p:nvSpPr>
        <p:spPr>
          <a:xfrm>
            <a:off x="640080" y="4919472"/>
            <a:ext cx="868680" cy="365760"/>
          </a:xfrm>
          <a:prstGeom prst="roundRect">
            <a:avLst>
              <a:gd name="adj" fmla="val 50000"/>
            </a:avLst>
          </a:prstGeom>
          <a:solidFill>
            <a:srgbClr val="1E4D3A"/>
          </a:solidFill>
          <a:ln/>
        </p:spPr>
      </p:sp>
      <p:sp>
        <p:nvSpPr>
          <p:cNvPr id="23" name="Text 21"/>
          <p:cNvSpPr txBox="1"/>
          <p:nvPr/>
        </p:nvSpPr>
        <p:spPr>
          <a:xfrm>
            <a:off x="640080" y="4919472"/>
            <a:ext cx="868680" cy="36576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BIZ UDPGothic" pitchFamily="34" charset="0"/>
                <a:ea typeface="BIZ UDPGothic" pitchFamily="34" charset="-122"/>
                <a:cs typeface="BIZ UDPGothic" pitchFamily="34" charset="-120"/>
              </a:rPr>
              <a:t>4〜10月</a:t>
            </a:r>
            <a:endParaRPr lang="en-US" sz="1200" dirty="0"/>
          </a:p>
        </p:txBody>
      </p:sp>
      <p:sp>
        <p:nvSpPr>
          <p:cNvPr id="24" name="Text 22"/>
          <p:cNvSpPr txBox="1"/>
          <p:nvPr/>
        </p:nvSpPr>
        <p:spPr>
          <a:xfrm>
            <a:off x="1600200" y="4773168"/>
            <a:ext cx="5504688" cy="658368"/>
          </a:xfrm>
          <a:prstGeom prst="rect">
            <a:avLst/>
          </a:prstGeom>
          <a:noFill/>
          <a:ln/>
        </p:spPr>
        <p:txBody>
          <a:bodyPr wrap="square" lIns="635" tIns="635" rIns="635" bIns="635" rtlCol="0" anchor="ctr"/>
          <a:lstStyle/>
          <a:p>
            <a:pPr indent="0" marL="0">
              <a:lnSpc>
                <a:spcPct val="120000"/>
              </a:lnSpc>
              <a:buNone/>
            </a:pPr>
            <a:r>
              <a:rPr lang="en-US" sz="1400" dirty="0">
                <a:solidFill>
                  <a:srgbClr val="2B2B2B"/>
                </a:solidFill>
                <a:latin typeface="BIZ UDPGothic" pitchFamily="34" charset="0"/>
                <a:ea typeface="BIZ UDPGothic" pitchFamily="34" charset="-122"/>
                <a:cs typeface="BIZ UDPGothic" pitchFamily="34" charset="-120"/>
              </a:rPr>
              <a:t>発酵実践塾</a:t>
            </a:r>
            <a:endParaRPr lang="en-US" sz="1400" dirty="0"/>
          </a:p>
        </p:txBody>
      </p:sp>
      <p:sp>
        <p:nvSpPr>
          <p:cNvPr id="25" name="Text 23"/>
          <p:cNvSpPr txBox="1"/>
          <p:nvPr/>
        </p:nvSpPr>
        <p:spPr>
          <a:xfrm>
            <a:off x="7132320" y="4773168"/>
            <a:ext cx="960120" cy="658368"/>
          </a:xfrm>
          <a:prstGeom prst="rect">
            <a:avLst/>
          </a:prstGeom>
          <a:noFill/>
          <a:ln/>
        </p:spPr>
        <p:txBody>
          <a:bodyPr wrap="square" lIns="0" tIns="0" rIns="0" bIns="0" rtlCol="0" anchor="ctr"/>
          <a:lstStyle/>
          <a:p>
            <a:pPr algn="ctr" indent="0" marL="0">
              <a:lnSpc>
                <a:spcPct val="120000"/>
              </a:lnSpc>
              <a:buNone/>
            </a:pPr>
            <a:r>
              <a:rPr lang="en-US" sz="1300" b="1" dirty="0">
                <a:solidFill>
                  <a:srgbClr val="5E9E5A"/>
                </a:solidFill>
                <a:latin typeface="BIZ UDPGothic" pitchFamily="34" charset="0"/>
                <a:ea typeface="BIZ UDPGothic" pitchFamily="34" charset="-122"/>
                <a:cs typeface="BIZ UDPGothic" pitchFamily="34" charset="-120"/>
              </a:rPr>
              <a:t>2泊3日</a:t>
            </a:r>
            <a:endParaRPr lang="en-US" sz="1300" dirty="0"/>
          </a:p>
        </p:txBody>
      </p:sp>
      <p:sp>
        <p:nvSpPr>
          <p:cNvPr id="26" name="Shape 24"/>
          <p:cNvSpPr/>
          <p:nvPr/>
        </p:nvSpPr>
        <p:spPr>
          <a:xfrm>
            <a:off x="8412480" y="1371600"/>
            <a:ext cx="3200400" cy="4800600"/>
          </a:xfrm>
          <a:prstGeom prst="roundRect">
            <a:avLst>
              <a:gd name="adj" fmla="val 3429"/>
            </a:avLst>
          </a:prstGeom>
          <a:solidFill>
            <a:srgbClr val="1E4D3A"/>
          </a:solidFill>
          <a:ln/>
          <a:effectLst>
            <a:outerShdw sx="100000" sy="100000" kx="0" ky="0" algn="bl" rotWithShape="0" blurRad="127000" dist="25400" dir="5400000">
              <a:srgbClr val="000000">
                <a:alpha val="13000"/>
              </a:srgbClr>
            </a:outerShdw>
          </a:effectLst>
        </p:spPr>
      </p:sp>
      <p:sp>
        <p:nvSpPr>
          <p:cNvPr id="27" name="Text 25"/>
          <p:cNvSpPr txBox="1"/>
          <p:nvPr/>
        </p:nvSpPr>
        <p:spPr>
          <a:xfrm>
            <a:off x="8641080" y="1554480"/>
            <a:ext cx="2743200" cy="411480"/>
          </a:xfrm>
          <a:prstGeom prst="rect">
            <a:avLst/>
          </a:prstGeom>
          <a:noFill/>
          <a:ln/>
        </p:spPr>
        <p:txBody>
          <a:bodyPr wrap="square" lIns="635" tIns="635" rIns="635" bIns="635" rtlCol="0" anchor="t"/>
          <a:lstStyle/>
          <a:p>
            <a:pPr indent="0" marL="0">
              <a:lnSpc>
                <a:spcPct val="120000"/>
              </a:lnSpc>
              <a:buNone/>
            </a:pPr>
            <a:r>
              <a:rPr lang="en-US" sz="1800" b="1" dirty="0">
                <a:solidFill>
                  <a:srgbClr val="E8A33D"/>
                </a:solidFill>
                <a:latin typeface="BIZ UDPGothic" pitchFamily="34" charset="0"/>
                <a:ea typeface="BIZ UDPGothic" pitchFamily="34" charset="-122"/>
                <a:cs typeface="BIZ UDPGothic" pitchFamily="34" charset="-120"/>
              </a:rPr>
              <a:t>特別限定特典</a:t>
            </a:r>
            <a:endParaRPr lang="en-US" sz="1800" dirty="0"/>
          </a:p>
        </p:txBody>
      </p:sp>
      <p:sp>
        <p:nvSpPr>
          <p:cNvPr id="28" name="Text 26"/>
          <p:cNvSpPr txBox="1"/>
          <p:nvPr/>
        </p:nvSpPr>
        <p:spPr>
          <a:xfrm>
            <a:off x="8641080" y="2103120"/>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LINEフォロー無期限</a:t>
            </a:r>
            <a:endParaRPr lang="en-US" sz="1500" dirty="0"/>
          </a:p>
        </p:txBody>
      </p:sp>
      <p:sp>
        <p:nvSpPr>
          <p:cNvPr id="29" name="Text 27"/>
          <p:cNvSpPr txBox="1"/>
          <p:nvPr/>
        </p:nvSpPr>
        <p:spPr>
          <a:xfrm>
            <a:off x="8641080" y="2612898"/>
            <a:ext cx="2788920" cy="66294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リアルにいつでも圃場見学 無期限</a:t>
            </a:r>
            <a:endParaRPr lang="en-US" sz="1500" dirty="0"/>
          </a:p>
        </p:txBody>
      </p:sp>
      <p:sp>
        <p:nvSpPr>
          <p:cNvPr id="30" name="Text 28"/>
          <p:cNvSpPr txBox="1"/>
          <p:nvPr/>
        </p:nvSpPr>
        <p:spPr>
          <a:xfrm>
            <a:off x="8641080" y="3385566"/>
            <a:ext cx="2788920" cy="400050"/>
          </a:xfrm>
          <a:prstGeom prst="rect">
            <a:avLst/>
          </a:prstGeom>
          <a:noFill/>
          <a:ln/>
        </p:spPr>
        <p:txBody>
          <a:bodyPr wrap="square" lIns="635" tIns="635" rIns="635" bIns="635" rtlCol="0" anchor="t"/>
          <a:lstStyle/>
          <a:p>
            <a:pPr indent="0" marL="0">
              <a:lnSpc>
                <a:spcPct val="120000"/>
              </a:lnSpc>
              <a:buNone/>
            </a:pPr>
            <a:r>
              <a:rPr lang="en-US" sz="1500" b="1" dirty="0">
                <a:solidFill>
                  <a:srgbClr val="E8A33D"/>
                </a:solidFill>
                <a:latin typeface="BIZ UDPGothic" pitchFamily="34" charset="0"/>
                <a:ea typeface="BIZ UDPGothic" pitchFamily="34" charset="-122"/>
                <a:cs typeface="BIZ UDPGothic" pitchFamily="34" charset="-120"/>
              </a:rPr>
              <a:t>✓ </a:t>
            </a:r>
            <a:pPr indent="0" marL="0">
              <a:lnSpc>
                <a:spcPct val="120000"/>
              </a:lnSpc>
              <a:buNone/>
            </a:pPr>
            <a:r>
              <a:rPr lang="en-US" sz="1500" dirty="0">
                <a:solidFill>
                  <a:srgbClr val="FFFFFF"/>
                </a:solidFill>
                <a:latin typeface="BIZ UDPGothic" pitchFamily="34" charset="0"/>
                <a:ea typeface="BIZ UDPGothic" pitchFamily="34" charset="-122"/>
                <a:cs typeface="BIZ UDPGothic" pitchFamily="34" charset="-120"/>
              </a:rPr>
              <a:t>限定FBグループ</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単独塾</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単独塾 価格のご紹介</a:t>
            </a:r>
            <a:endParaRPr lang="en-US" sz="3000" dirty="0"/>
          </a:p>
        </p:txBody>
      </p:sp>
      <p:sp>
        <p:nvSpPr>
          <p:cNvPr id="4" name="Shape 2"/>
          <p:cNvSpPr/>
          <p:nvPr/>
        </p:nvSpPr>
        <p:spPr>
          <a:xfrm>
            <a:off x="54864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5" name="Shape 3"/>
          <p:cNvSpPr/>
          <p:nvPr/>
        </p:nvSpPr>
        <p:spPr>
          <a:xfrm>
            <a:off x="777240" y="1691640"/>
            <a:ext cx="685800" cy="685800"/>
          </a:xfrm>
          <a:prstGeom prst="ellipse">
            <a:avLst/>
          </a:prstGeom>
          <a:solidFill>
            <a:srgbClr val="1E4D3A"/>
          </a:solidFill>
          <a:ln/>
        </p:spPr>
      </p:sp>
      <p:pic>
        <p:nvPicPr>
          <p:cNvPr id="6" name="Image 0" descr="preencoded.png">    </p:cNvPr>
          <p:cNvPicPr>
            <a:picLocks noChangeAspect="1"/>
          </p:cNvPicPr>
          <p:nvPr/>
        </p:nvPicPr>
        <p:blipFill>
          <a:blip r:embed="rId1"/>
          <a:stretch>
            <a:fillRect/>
          </a:stretch>
        </p:blipFill>
        <p:spPr>
          <a:xfrm>
            <a:off x="941832" y="1856232"/>
            <a:ext cx="356616" cy="356616"/>
          </a:xfrm>
          <a:prstGeom prst="rect">
            <a:avLst/>
          </a:prstGeom>
        </p:spPr>
      </p:pic>
      <p:sp>
        <p:nvSpPr>
          <p:cNvPr id="7" name="Text 4"/>
          <p:cNvSpPr txBox="1"/>
          <p:nvPr/>
        </p:nvSpPr>
        <p:spPr>
          <a:xfrm>
            <a:off x="1600200" y="1645920"/>
            <a:ext cx="233172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発酵実践塾</a:t>
            </a:r>
            <a:endParaRPr lang="en-US" sz="1800" dirty="0"/>
          </a:p>
        </p:txBody>
      </p:sp>
      <p:sp>
        <p:nvSpPr>
          <p:cNvPr id="8" name="Text 5"/>
          <p:cNvSpPr txBox="1"/>
          <p:nvPr/>
        </p:nvSpPr>
        <p:spPr>
          <a:xfrm>
            <a:off x="777240" y="2560320"/>
            <a:ext cx="3063240" cy="82296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11</a:t>
            </a:r>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万円</a:t>
            </a:r>
            <a:endParaRPr lang="en-US" sz="1600" dirty="0"/>
          </a:p>
        </p:txBody>
      </p:sp>
      <p:sp>
        <p:nvSpPr>
          <p:cNvPr id="9" name="Text 6"/>
          <p:cNvSpPr txBox="1"/>
          <p:nvPr/>
        </p:nvSpPr>
        <p:spPr>
          <a:xfrm>
            <a:off x="777240" y="3337560"/>
            <a:ext cx="3063240" cy="320040"/>
          </a:xfrm>
          <a:prstGeom prst="rect">
            <a:avLst/>
          </a:prstGeom>
          <a:noFill/>
          <a:ln/>
        </p:spPr>
        <p:txBody>
          <a:bodyPr wrap="square" lIns="635" tIns="635" rIns="635" bIns="635" rtlCol="0" anchor="t"/>
          <a:lstStyle/>
          <a:p>
            <a:pPr indent="0" marL="0">
              <a:lnSpc>
                <a:spcPct val="120000"/>
              </a:lnSpc>
              <a:buNone/>
            </a:pPr>
            <a:r>
              <a:rPr lang="en-US" sz="1300" dirty="0">
                <a:solidFill>
                  <a:srgbClr val="666666"/>
                </a:solidFill>
                <a:latin typeface="BIZ UDPGothic" pitchFamily="34" charset="0"/>
                <a:ea typeface="BIZ UDPGothic" pitchFamily="34" charset="-122"/>
                <a:cs typeface="BIZ UDPGothic" pitchFamily="34" charset="-120"/>
              </a:rPr>
              <a:t>宿泊なし・税込</a:t>
            </a:r>
            <a:endParaRPr lang="en-US" sz="1300" dirty="0"/>
          </a:p>
        </p:txBody>
      </p:sp>
      <p:sp>
        <p:nvSpPr>
          <p:cNvPr id="10" name="Shape 7"/>
          <p:cNvSpPr/>
          <p:nvPr/>
        </p:nvSpPr>
        <p:spPr>
          <a:xfrm>
            <a:off x="777240" y="3749040"/>
            <a:ext cx="3063240" cy="457200"/>
          </a:xfrm>
          <a:prstGeom prst="roundRect">
            <a:avLst>
              <a:gd name="adj" fmla="val 50000"/>
            </a:avLst>
          </a:prstGeom>
          <a:solidFill>
            <a:srgbClr val="FBF0DC"/>
          </a:solidFill>
          <a:ln/>
        </p:spPr>
      </p:sp>
      <p:sp>
        <p:nvSpPr>
          <p:cNvPr id="11" name="Text 8"/>
          <p:cNvSpPr txBox="1"/>
          <p:nvPr/>
        </p:nvSpPr>
        <p:spPr>
          <a:xfrm>
            <a:off x="777240" y="3749040"/>
            <a:ext cx="3063240" cy="457200"/>
          </a:xfrm>
          <a:prstGeom prst="rect">
            <a:avLst/>
          </a:prstGeom>
          <a:noFill/>
          <a:ln/>
        </p:spPr>
        <p:txBody>
          <a:bodyPr wrap="square" lIns="635" tIns="635" rIns="635" bIns="635" rtlCol="0" anchor="ctr"/>
          <a:lstStyle/>
          <a:p>
            <a:pPr algn="ctr" indent="0" marL="0">
              <a:lnSpc>
                <a:spcPct val="120000"/>
              </a:lnSpc>
              <a:buNone/>
            </a:pPr>
            <a:r>
              <a:rPr lang="en-US" sz="1400" b="1" dirty="0">
                <a:solidFill>
                  <a:srgbClr val="8A5A10"/>
                </a:solidFill>
                <a:latin typeface="BIZ UDPGothic" pitchFamily="34" charset="0"/>
                <a:ea typeface="BIZ UDPGothic" pitchFamily="34" charset="-122"/>
                <a:cs typeface="BIZ UDPGothic" pitchFamily="34" charset="-120"/>
              </a:rPr>
              <a:t>宿泊あり 124,300円（税込）</a:t>
            </a:r>
            <a:endParaRPr lang="en-US" sz="1400" dirty="0"/>
          </a:p>
        </p:txBody>
      </p:sp>
      <p:sp>
        <p:nvSpPr>
          <p:cNvPr id="12" name="Text 9"/>
          <p:cNvSpPr txBox="1"/>
          <p:nvPr/>
        </p:nvSpPr>
        <p:spPr>
          <a:xfrm>
            <a:off x="777240" y="4389120"/>
            <a:ext cx="3063240" cy="1463040"/>
          </a:xfrm>
          <a:prstGeom prst="rect">
            <a:avLst/>
          </a:prstGeom>
          <a:noFill/>
          <a:ln/>
        </p:spPr>
        <p:txBody>
          <a:bodyPr wrap="square" lIns="635" tIns="635" rIns="635" bIns="635" rtlCol="0" anchor="t"/>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糀作りから始まり、いろんな発酵を理論と実践で学びます。</a:t>
            </a:r>
            <a:endParaRPr lang="en-US" sz="1500" dirty="0"/>
          </a:p>
        </p:txBody>
      </p:sp>
      <p:sp>
        <p:nvSpPr>
          <p:cNvPr id="13" name="Shape 10"/>
          <p:cNvSpPr/>
          <p:nvPr/>
        </p:nvSpPr>
        <p:spPr>
          <a:xfrm>
            <a:off x="429768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14" name="Shape 11"/>
          <p:cNvSpPr/>
          <p:nvPr/>
        </p:nvSpPr>
        <p:spPr>
          <a:xfrm>
            <a:off x="4526280" y="1691640"/>
            <a:ext cx="685800" cy="685800"/>
          </a:xfrm>
          <a:prstGeom prst="ellipse">
            <a:avLst/>
          </a:prstGeom>
          <a:solidFill>
            <a:srgbClr val="1E4D3A"/>
          </a:solidFill>
          <a:ln/>
        </p:spPr>
      </p:sp>
      <p:pic>
        <p:nvPicPr>
          <p:cNvPr id="15" name="Image 1" descr="preencoded.png">    </p:cNvPr>
          <p:cNvPicPr>
            <a:picLocks noChangeAspect="1"/>
          </p:cNvPicPr>
          <p:nvPr/>
        </p:nvPicPr>
        <p:blipFill>
          <a:blip r:embed="rId2"/>
          <a:stretch>
            <a:fillRect/>
          </a:stretch>
        </p:blipFill>
        <p:spPr>
          <a:xfrm>
            <a:off x="4690872" y="1856232"/>
            <a:ext cx="356616" cy="356616"/>
          </a:xfrm>
          <a:prstGeom prst="rect">
            <a:avLst/>
          </a:prstGeom>
        </p:spPr>
      </p:pic>
      <p:sp>
        <p:nvSpPr>
          <p:cNvPr id="16" name="Text 12"/>
          <p:cNvSpPr txBox="1"/>
          <p:nvPr/>
        </p:nvSpPr>
        <p:spPr>
          <a:xfrm>
            <a:off x="5349240" y="1645920"/>
            <a:ext cx="233172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菊芋活用実践塾</a:t>
            </a:r>
            <a:endParaRPr lang="en-US" sz="1800" dirty="0"/>
          </a:p>
        </p:txBody>
      </p:sp>
      <p:sp>
        <p:nvSpPr>
          <p:cNvPr id="17" name="Text 13"/>
          <p:cNvSpPr txBox="1"/>
          <p:nvPr/>
        </p:nvSpPr>
        <p:spPr>
          <a:xfrm>
            <a:off x="4526280" y="2560320"/>
            <a:ext cx="3063240" cy="82296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7</a:t>
            </a:r>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万円</a:t>
            </a:r>
            <a:endParaRPr lang="en-US" sz="1600" dirty="0"/>
          </a:p>
        </p:txBody>
      </p:sp>
      <p:sp>
        <p:nvSpPr>
          <p:cNvPr id="18" name="Text 14"/>
          <p:cNvSpPr txBox="1"/>
          <p:nvPr/>
        </p:nvSpPr>
        <p:spPr>
          <a:xfrm>
            <a:off x="4526280" y="3337560"/>
            <a:ext cx="3063240" cy="320040"/>
          </a:xfrm>
          <a:prstGeom prst="rect">
            <a:avLst/>
          </a:prstGeom>
          <a:noFill/>
          <a:ln/>
        </p:spPr>
        <p:txBody>
          <a:bodyPr wrap="square" lIns="635" tIns="635" rIns="635" bIns="635" rtlCol="0" anchor="t"/>
          <a:lstStyle/>
          <a:p>
            <a:pPr indent="0" marL="0">
              <a:lnSpc>
                <a:spcPct val="120000"/>
              </a:lnSpc>
              <a:buNone/>
            </a:pPr>
            <a:r>
              <a:rPr lang="en-US" sz="1300" dirty="0">
                <a:solidFill>
                  <a:srgbClr val="666666"/>
                </a:solidFill>
                <a:latin typeface="BIZ UDPGothic" pitchFamily="34" charset="0"/>
                <a:ea typeface="BIZ UDPGothic" pitchFamily="34" charset="-122"/>
                <a:cs typeface="BIZ UDPGothic" pitchFamily="34" charset="-120"/>
              </a:rPr>
              <a:t>宿泊なし・税込</a:t>
            </a:r>
            <a:endParaRPr lang="en-US" sz="1300" dirty="0"/>
          </a:p>
        </p:txBody>
      </p:sp>
      <p:sp>
        <p:nvSpPr>
          <p:cNvPr id="19" name="Shape 15"/>
          <p:cNvSpPr/>
          <p:nvPr/>
        </p:nvSpPr>
        <p:spPr>
          <a:xfrm>
            <a:off x="4526280" y="3749040"/>
            <a:ext cx="3063240" cy="457200"/>
          </a:xfrm>
          <a:prstGeom prst="roundRect">
            <a:avLst>
              <a:gd name="adj" fmla="val 50000"/>
            </a:avLst>
          </a:prstGeom>
          <a:solidFill>
            <a:srgbClr val="FBF0DC"/>
          </a:solidFill>
          <a:ln/>
        </p:spPr>
      </p:sp>
      <p:sp>
        <p:nvSpPr>
          <p:cNvPr id="20" name="Text 16"/>
          <p:cNvSpPr txBox="1"/>
          <p:nvPr/>
        </p:nvSpPr>
        <p:spPr>
          <a:xfrm>
            <a:off x="4526280" y="3749040"/>
            <a:ext cx="3063240" cy="457200"/>
          </a:xfrm>
          <a:prstGeom prst="rect">
            <a:avLst/>
          </a:prstGeom>
          <a:noFill/>
          <a:ln/>
        </p:spPr>
        <p:txBody>
          <a:bodyPr wrap="square" lIns="635" tIns="635" rIns="635" bIns="635" rtlCol="0" anchor="ctr"/>
          <a:lstStyle/>
          <a:p>
            <a:pPr algn="ctr" indent="0" marL="0">
              <a:lnSpc>
                <a:spcPct val="120000"/>
              </a:lnSpc>
              <a:buNone/>
            </a:pPr>
            <a:r>
              <a:rPr lang="en-US" sz="1400" b="1" dirty="0">
                <a:solidFill>
                  <a:srgbClr val="8A5A10"/>
                </a:solidFill>
                <a:latin typeface="BIZ UDPGothic" pitchFamily="34" charset="0"/>
                <a:ea typeface="BIZ UDPGothic" pitchFamily="34" charset="-122"/>
                <a:cs typeface="BIZ UDPGothic" pitchFamily="34" charset="-120"/>
              </a:rPr>
              <a:t>宿泊あり 84,150円（税込）</a:t>
            </a:r>
            <a:endParaRPr lang="en-US" sz="1400" dirty="0"/>
          </a:p>
        </p:txBody>
      </p:sp>
      <p:sp>
        <p:nvSpPr>
          <p:cNvPr id="21" name="Text 17"/>
          <p:cNvSpPr txBox="1"/>
          <p:nvPr/>
        </p:nvSpPr>
        <p:spPr>
          <a:xfrm>
            <a:off x="4526280" y="4389120"/>
            <a:ext cx="3063240" cy="1463040"/>
          </a:xfrm>
          <a:prstGeom prst="rect">
            <a:avLst/>
          </a:prstGeom>
          <a:noFill/>
          <a:ln/>
        </p:spPr>
        <p:txBody>
          <a:bodyPr wrap="square" lIns="635" tIns="635" rIns="635" bIns="635" rtlCol="0" anchor="t"/>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菊芋の栽培から始まり、菊芋のいろいろな活用を実践してゆきます。食の安心安全の第一歩。</a:t>
            </a:r>
            <a:endParaRPr lang="en-US" sz="1500" dirty="0"/>
          </a:p>
        </p:txBody>
      </p:sp>
      <p:sp>
        <p:nvSpPr>
          <p:cNvPr id="22" name="Shape 18"/>
          <p:cNvSpPr/>
          <p:nvPr/>
        </p:nvSpPr>
        <p:spPr>
          <a:xfrm>
            <a:off x="8046720" y="1463040"/>
            <a:ext cx="3520440" cy="4572000"/>
          </a:xfrm>
          <a:prstGeom prst="roundRect">
            <a:avLst>
              <a:gd name="adj" fmla="val 3117"/>
            </a:avLst>
          </a:prstGeom>
          <a:solidFill>
            <a:srgbClr val="F6F8F4"/>
          </a:solidFill>
          <a:ln w="12700">
            <a:solidFill>
              <a:srgbClr val="D8DED4"/>
            </a:solidFill>
            <a:prstDash val="solid"/>
          </a:ln>
          <a:effectLst>
            <a:outerShdw sx="100000" sy="100000" kx="0" ky="0" algn="bl" rotWithShape="0" blurRad="127000" dist="25400" dir="5400000">
              <a:srgbClr val="000000">
                <a:alpha val="13000"/>
              </a:srgbClr>
            </a:outerShdw>
          </a:effectLst>
        </p:spPr>
      </p:sp>
      <p:sp>
        <p:nvSpPr>
          <p:cNvPr id="23" name="Shape 19"/>
          <p:cNvSpPr/>
          <p:nvPr/>
        </p:nvSpPr>
        <p:spPr>
          <a:xfrm>
            <a:off x="8275320" y="1691640"/>
            <a:ext cx="685800" cy="685800"/>
          </a:xfrm>
          <a:prstGeom prst="ellipse">
            <a:avLst/>
          </a:prstGeom>
          <a:solidFill>
            <a:srgbClr val="1E4D3A"/>
          </a:solidFill>
          <a:ln/>
        </p:spPr>
      </p:sp>
      <p:pic>
        <p:nvPicPr>
          <p:cNvPr id="24" name="Image 2" descr="preencoded.png">    </p:cNvPr>
          <p:cNvPicPr>
            <a:picLocks noChangeAspect="1"/>
          </p:cNvPicPr>
          <p:nvPr/>
        </p:nvPicPr>
        <p:blipFill>
          <a:blip r:embed="rId3"/>
          <a:stretch>
            <a:fillRect/>
          </a:stretch>
        </p:blipFill>
        <p:spPr>
          <a:xfrm>
            <a:off x="8439912" y="1856232"/>
            <a:ext cx="356616" cy="356616"/>
          </a:xfrm>
          <a:prstGeom prst="rect">
            <a:avLst/>
          </a:prstGeom>
        </p:spPr>
      </p:pic>
      <p:sp>
        <p:nvSpPr>
          <p:cNvPr id="25" name="Text 20"/>
          <p:cNvSpPr txBox="1"/>
          <p:nvPr/>
        </p:nvSpPr>
        <p:spPr>
          <a:xfrm>
            <a:off x="9098280" y="1645920"/>
            <a:ext cx="2331720" cy="777240"/>
          </a:xfrm>
          <a:prstGeom prst="rect">
            <a:avLst/>
          </a:prstGeom>
          <a:noFill/>
          <a:ln/>
        </p:spPr>
        <p:txBody>
          <a:bodyPr wrap="square" lIns="635" tIns="635" rIns="635" bIns="635" rtlCol="0" anchor="ctr"/>
          <a:lstStyle/>
          <a:p>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野草を生活に落とし込み楽しむ会</a:t>
            </a:r>
            <a:endParaRPr lang="en-US" sz="1800" dirty="0"/>
          </a:p>
        </p:txBody>
      </p:sp>
      <p:sp>
        <p:nvSpPr>
          <p:cNvPr id="26" name="Text 21"/>
          <p:cNvSpPr txBox="1"/>
          <p:nvPr/>
        </p:nvSpPr>
        <p:spPr>
          <a:xfrm>
            <a:off x="8275320" y="2560320"/>
            <a:ext cx="3063240" cy="822960"/>
          </a:xfrm>
          <a:prstGeom prst="rect">
            <a:avLst/>
          </a:prstGeom>
          <a:noFill/>
          <a:ln/>
        </p:spPr>
        <p:txBody>
          <a:bodyPr wrap="square" lIns="635" tIns="635" rIns="635" bIns="635" rtlCol="0" anchor="ctr"/>
          <a:lstStyle/>
          <a:p>
            <a:pPr indent="0" marL="0">
              <a:lnSpc>
                <a:spcPct val="120000"/>
              </a:lnSpc>
              <a:buNone/>
            </a:pPr>
            <a:r>
              <a:rPr lang="en-US" sz="4600" b="1" dirty="0">
                <a:solidFill>
                  <a:srgbClr val="1E4D3A"/>
                </a:solidFill>
                <a:latin typeface="BIZ UDPGothic" pitchFamily="34" charset="0"/>
                <a:ea typeface="BIZ UDPGothic" pitchFamily="34" charset="-122"/>
                <a:cs typeface="BIZ UDPGothic" pitchFamily="34" charset="-120"/>
              </a:rPr>
              <a:t>1.8</a:t>
            </a:r>
            <a:pPr indent="0" marL="0">
              <a:lnSpc>
                <a:spcPct val="120000"/>
              </a:lnSpc>
              <a:buNone/>
            </a:pPr>
            <a:r>
              <a:rPr lang="en-US" sz="1800" b="1" dirty="0">
                <a:solidFill>
                  <a:srgbClr val="1E4D3A"/>
                </a:solidFill>
                <a:latin typeface="BIZ UDPGothic" pitchFamily="34" charset="0"/>
                <a:ea typeface="BIZ UDPGothic" pitchFamily="34" charset="-122"/>
                <a:cs typeface="BIZ UDPGothic" pitchFamily="34" charset="-120"/>
              </a:rPr>
              <a:t>万円</a:t>
            </a:r>
            <a:endParaRPr lang="en-US" sz="1600" dirty="0"/>
          </a:p>
        </p:txBody>
      </p:sp>
      <p:sp>
        <p:nvSpPr>
          <p:cNvPr id="27" name="Text 22"/>
          <p:cNvSpPr txBox="1"/>
          <p:nvPr/>
        </p:nvSpPr>
        <p:spPr>
          <a:xfrm>
            <a:off x="8275320" y="3337560"/>
            <a:ext cx="3063240" cy="320040"/>
          </a:xfrm>
          <a:prstGeom prst="rect">
            <a:avLst/>
          </a:prstGeom>
          <a:noFill/>
          <a:ln/>
        </p:spPr>
        <p:txBody>
          <a:bodyPr wrap="square" lIns="635" tIns="635" rIns="635" bIns="635" rtlCol="0" anchor="t"/>
          <a:lstStyle/>
          <a:p>
            <a:pPr indent="0" marL="0">
              <a:lnSpc>
                <a:spcPct val="120000"/>
              </a:lnSpc>
              <a:buNone/>
            </a:pPr>
            <a:r>
              <a:rPr lang="en-US" sz="1300" dirty="0">
                <a:solidFill>
                  <a:srgbClr val="666666"/>
                </a:solidFill>
                <a:latin typeface="BIZ UDPGothic" pitchFamily="34" charset="0"/>
                <a:ea typeface="BIZ UDPGothic" pitchFamily="34" charset="-122"/>
                <a:cs typeface="BIZ UDPGothic" pitchFamily="34" charset="-120"/>
              </a:rPr>
              <a:t>宿泊なし・税込</a:t>
            </a:r>
            <a:endParaRPr lang="en-US" sz="1300" dirty="0"/>
          </a:p>
        </p:txBody>
      </p:sp>
      <p:sp>
        <p:nvSpPr>
          <p:cNvPr id="28" name="Shape 23"/>
          <p:cNvSpPr/>
          <p:nvPr/>
        </p:nvSpPr>
        <p:spPr>
          <a:xfrm>
            <a:off x="8275320" y="3749040"/>
            <a:ext cx="3063240" cy="457200"/>
          </a:xfrm>
          <a:prstGeom prst="roundRect">
            <a:avLst>
              <a:gd name="adj" fmla="val 50000"/>
            </a:avLst>
          </a:prstGeom>
          <a:solidFill>
            <a:srgbClr val="FBF0DC"/>
          </a:solidFill>
          <a:ln/>
        </p:spPr>
      </p:sp>
      <p:sp>
        <p:nvSpPr>
          <p:cNvPr id="29" name="Text 24"/>
          <p:cNvSpPr txBox="1"/>
          <p:nvPr/>
        </p:nvSpPr>
        <p:spPr>
          <a:xfrm>
            <a:off x="8275320" y="3749040"/>
            <a:ext cx="3063240" cy="457200"/>
          </a:xfrm>
          <a:prstGeom prst="rect">
            <a:avLst/>
          </a:prstGeom>
          <a:noFill/>
          <a:ln/>
        </p:spPr>
        <p:txBody>
          <a:bodyPr wrap="square" lIns="635" tIns="635" rIns="635" bIns="635" rtlCol="0" anchor="ctr"/>
          <a:lstStyle/>
          <a:p>
            <a:pPr algn="ctr" indent="0" marL="0">
              <a:lnSpc>
                <a:spcPct val="120000"/>
              </a:lnSpc>
              <a:buNone/>
            </a:pPr>
            <a:r>
              <a:rPr lang="en-US" sz="1400" b="1" dirty="0">
                <a:solidFill>
                  <a:srgbClr val="8A5A10"/>
                </a:solidFill>
                <a:latin typeface="BIZ UDPGothic" pitchFamily="34" charset="0"/>
                <a:ea typeface="BIZ UDPGothic" pitchFamily="34" charset="-122"/>
                <a:cs typeface="BIZ UDPGothic" pitchFamily="34" charset="-120"/>
              </a:rPr>
              <a:t>宿泊あり 25,150円（税込）</a:t>
            </a:r>
            <a:endParaRPr lang="en-US" sz="1400" dirty="0"/>
          </a:p>
        </p:txBody>
      </p:sp>
      <p:sp>
        <p:nvSpPr>
          <p:cNvPr id="30" name="Text 25"/>
          <p:cNvSpPr txBox="1"/>
          <p:nvPr/>
        </p:nvSpPr>
        <p:spPr>
          <a:xfrm>
            <a:off x="8275320" y="4389120"/>
            <a:ext cx="3063240" cy="1463040"/>
          </a:xfrm>
          <a:prstGeom prst="rect">
            <a:avLst/>
          </a:prstGeom>
          <a:noFill/>
          <a:ln/>
        </p:spPr>
        <p:txBody>
          <a:bodyPr wrap="square" lIns="635" tIns="635" rIns="635" bIns="635" rtlCol="0" anchor="t"/>
          <a:lstStyle/>
          <a:p>
            <a:pPr indent="0" marL="0">
              <a:lnSpc>
                <a:spcPct val="120000"/>
              </a:lnSpc>
              <a:buNone/>
            </a:pPr>
            <a:r>
              <a:rPr lang="en-US" sz="1500" dirty="0">
                <a:solidFill>
                  <a:srgbClr val="2B2B2B"/>
                </a:solidFill>
                <a:latin typeface="BIZ UDPGothic" pitchFamily="34" charset="0"/>
                <a:ea typeface="BIZ UDPGothic" pitchFamily="34" charset="-122"/>
                <a:cs typeface="BIZ UDPGothic" pitchFamily="34" charset="-120"/>
              </a:rPr>
              <a:t>野草を見極め、食べる、飲む、飾る、活ける、遊ぶ。</a:t>
            </a:r>
            <a:endParaRPr lang="en-US" sz="1500" dirty="0"/>
          </a:p>
        </p:txBody>
      </p:sp>
      <p:sp>
        <p:nvSpPr>
          <p:cNvPr id="31" name="Text 26"/>
          <p:cNvSpPr txBox="1"/>
          <p:nvPr/>
        </p:nvSpPr>
        <p:spPr>
          <a:xfrm>
            <a:off x="548640" y="6080760"/>
            <a:ext cx="11064240" cy="301752"/>
          </a:xfrm>
          <a:prstGeom prst="rect">
            <a:avLst/>
          </a:prstGeom>
          <a:noFill/>
          <a:ln/>
        </p:spPr>
        <p:txBody>
          <a:bodyPr wrap="square" lIns="635" tIns="635" rIns="635" bIns="635" rtlCol="0" anchor="t"/>
          <a:lstStyle/>
          <a:p>
            <a:pPr indent="0" marL="0">
              <a:lnSpc>
                <a:spcPct val="120000"/>
              </a:lnSpc>
              <a:buNone/>
            </a:pPr>
            <a:r>
              <a:rPr lang="en-US" sz="1100" dirty="0">
                <a:solidFill>
                  <a:srgbClr val="666666"/>
                </a:solidFill>
                <a:latin typeface="BIZ UDPGothic" pitchFamily="34" charset="0"/>
                <a:ea typeface="BIZ UDPGothic" pitchFamily="34" charset="-122"/>
                <a:cs typeface="BIZ UDPGothic" pitchFamily="34" charset="-120"/>
              </a:rPr>
              <a:t>※お支払い方法は銀行一括振り込み・クレジット払いになります。（分割・クレジット一括の場合、5%のお手数料をいただきます。）</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74320"/>
            <a:ext cx="8229600" cy="310896"/>
          </a:xfrm>
          <a:prstGeom prst="rect">
            <a:avLst/>
          </a:prstGeom>
          <a:noFill/>
          <a:ln/>
        </p:spPr>
        <p:txBody>
          <a:bodyPr wrap="square" lIns="635" tIns="635" rIns="635" bIns="635" rtlCol="0" anchor="t"/>
          <a:lstStyle/>
          <a:p>
            <a:pPr indent="0" marL="0">
              <a:lnSpc>
                <a:spcPct val="120000"/>
              </a:lnSpc>
              <a:buNone/>
            </a:pPr>
            <a:r>
              <a:rPr lang="en-US" sz="1300" b="1" spc="100" kern="0" dirty="0">
                <a:solidFill>
                  <a:srgbClr val="5E9E5A"/>
                </a:solidFill>
                <a:latin typeface="BIZ UDPGothic" pitchFamily="34" charset="0"/>
                <a:ea typeface="BIZ UDPGothic" pitchFamily="34" charset="-122"/>
                <a:cs typeface="BIZ UDPGothic" pitchFamily="34" charset="-120"/>
              </a:rPr>
              <a:t>本日の体験セッションを実りあるものにするために</a:t>
            </a:r>
            <a:endParaRPr lang="en-US" sz="1300" dirty="0"/>
          </a:p>
        </p:txBody>
      </p:sp>
      <p:sp>
        <p:nvSpPr>
          <p:cNvPr id="3" name="Text 1"/>
          <p:cNvSpPr/>
          <p:nvPr>
            <p:ph idx="101" type="title" hasCustomPrompt="1"/>
          </p:nvPr>
        </p:nvSpPr>
        <p:spPr>
          <a:xfrm>
            <a:off x="548640" y="566928"/>
            <a:ext cx="11064240" cy="749808"/>
          </a:xfrm>
          <a:prstGeom prst="rect">
            <a:avLst/>
          </a:prstGeom>
          <a:noFill/>
          <a:ln/>
        </p:spPr>
        <p:txBody>
          <a:bodyPr wrap="square" lIns="635" tIns="635" rIns="635" bIns="635" rtlCol="0" anchor="ctr"/>
          <a:lstStyle/>
          <a:p>
            <a:pPr algn="l" indent="0" marL="0">
              <a:buNone/>
            </a:pPr>
            <a:r>
              <a:rPr lang="en-US" sz="3000" b="1" dirty="0">
                <a:solidFill>
                  <a:srgbClr val="1E4D3A"/>
                </a:solidFill>
                <a:latin typeface="BIZ UDPGothic" pitchFamily="34" charset="0"/>
                <a:ea typeface="BIZ UDPGothic" pitchFamily="34" charset="-122"/>
                <a:cs typeface="BIZ UDPGothic" pitchFamily="34" charset="-120"/>
              </a:rPr>
              <a:t>今日という日は、残りの人生の最初の日です</a:t>
            </a:r>
            <a:endParaRPr lang="en-US" sz="3000" dirty="0"/>
          </a:p>
        </p:txBody>
      </p:sp>
      <p:sp>
        <p:nvSpPr>
          <p:cNvPr id="4" name="Shape 2"/>
          <p:cNvSpPr/>
          <p:nvPr/>
        </p:nvSpPr>
        <p:spPr>
          <a:xfrm>
            <a:off x="548640" y="1600200"/>
            <a:ext cx="3520440" cy="3611880"/>
          </a:xfrm>
          <a:prstGeom prst="roundRect">
            <a:avLst>
              <a:gd name="adj" fmla="val 3117"/>
            </a:avLst>
          </a:prstGeom>
          <a:solidFill>
            <a:srgbClr val="F6F8F4"/>
          </a:solidFill>
          <a:ln/>
          <a:effectLst>
            <a:outerShdw sx="100000" sy="100000" kx="0" ky="0" algn="bl" rotWithShape="0" blurRad="127000" dist="25400" dir="5400000">
              <a:srgbClr val="000000">
                <a:alpha val="13000"/>
              </a:srgbClr>
            </a:outerShdw>
          </a:effectLst>
        </p:spPr>
      </p:sp>
      <p:sp>
        <p:nvSpPr>
          <p:cNvPr id="5" name="Shape 3"/>
          <p:cNvSpPr/>
          <p:nvPr/>
        </p:nvSpPr>
        <p:spPr>
          <a:xfrm>
            <a:off x="868680" y="1874520"/>
            <a:ext cx="822960" cy="822960"/>
          </a:xfrm>
          <a:prstGeom prst="ellipse">
            <a:avLst/>
          </a:prstGeom>
          <a:solidFill>
            <a:srgbClr val="1E4D3A"/>
          </a:solidFill>
          <a:ln/>
        </p:spPr>
      </p:sp>
      <p:pic>
        <p:nvPicPr>
          <p:cNvPr id="6" name="Image 0" descr="preencoded.png">    </p:cNvPr>
          <p:cNvPicPr>
            <a:picLocks noChangeAspect="1"/>
          </p:cNvPicPr>
          <p:nvPr/>
        </p:nvPicPr>
        <p:blipFill>
          <a:blip r:embed="rId1"/>
          <a:stretch>
            <a:fillRect/>
          </a:stretch>
        </p:blipFill>
        <p:spPr>
          <a:xfrm>
            <a:off x="1066190" y="2072030"/>
            <a:ext cx="427939" cy="427939"/>
          </a:xfrm>
          <a:prstGeom prst="rect">
            <a:avLst/>
          </a:prstGeom>
        </p:spPr>
      </p:pic>
      <p:sp>
        <p:nvSpPr>
          <p:cNvPr id="7" name="Text 4"/>
          <p:cNvSpPr txBox="1"/>
          <p:nvPr/>
        </p:nvSpPr>
        <p:spPr>
          <a:xfrm>
            <a:off x="822960" y="2834640"/>
            <a:ext cx="3017520" cy="777240"/>
          </a:xfrm>
          <a:prstGeom prst="rect">
            <a:avLst/>
          </a:prstGeom>
          <a:noFill/>
          <a:ln/>
        </p:spPr>
        <p:txBody>
          <a:bodyPr wrap="square" lIns="635" tIns="635" rIns="635" bIns="635" rtlCol="0" anchor="t"/>
          <a:lstStyle/>
          <a:p>
            <a:pPr indent="0" marL="0">
              <a:lnSpc>
                <a:spcPct val="120000"/>
              </a:lnSpc>
              <a:buNone/>
            </a:pPr>
            <a:r>
              <a:rPr lang="en-US" sz="2000" b="1" dirty="0">
                <a:solidFill>
                  <a:srgbClr val="1E4D3A"/>
                </a:solidFill>
                <a:latin typeface="BIZ UDPGothic" pitchFamily="34" charset="0"/>
                <a:ea typeface="BIZ UDPGothic" pitchFamily="34" charset="-122"/>
                <a:cs typeface="BIZ UDPGothic" pitchFamily="34" charset="-120"/>
              </a:rPr>
              <a:t>輝く未来を描く時間に</a:t>
            </a:r>
            <a:endParaRPr lang="en-US" sz="2000" dirty="0"/>
          </a:p>
        </p:txBody>
      </p:sp>
      <p:sp>
        <p:nvSpPr>
          <p:cNvPr id="8" name="Text 5"/>
          <p:cNvSpPr txBox="1"/>
          <p:nvPr/>
        </p:nvSpPr>
        <p:spPr>
          <a:xfrm>
            <a:off x="822960" y="3611880"/>
            <a:ext cx="3017520" cy="150876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先に天給自足を経験した者として、〜さんの人生に必要な応援者になりたいと思っています。</a:t>
            </a:r>
            <a:endParaRPr lang="en-US" sz="1600" dirty="0"/>
          </a:p>
        </p:txBody>
      </p:sp>
      <p:sp>
        <p:nvSpPr>
          <p:cNvPr id="9" name="Shape 6"/>
          <p:cNvSpPr/>
          <p:nvPr/>
        </p:nvSpPr>
        <p:spPr>
          <a:xfrm>
            <a:off x="4297680" y="1600200"/>
            <a:ext cx="3520440" cy="3611880"/>
          </a:xfrm>
          <a:prstGeom prst="roundRect">
            <a:avLst>
              <a:gd name="adj" fmla="val 3117"/>
            </a:avLst>
          </a:prstGeom>
          <a:solidFill>
            <a:srgbClr val="F6F8F4"/>
          </a:solidFill>
          <a:ln/>
          <a:effectLst>
            <a:outerShdw sx="100000" sy="100000" kx="0" ky="0" algn="bl" rotWithShape="0" blurRad="127000" dist="25400" dir="5400000">
              <a:srgbClr val="000000">
                <a:alpha val="13000"/>
              </a:srgbClr>
            </a:outerShdw>
          </a:effectLst>
        </p:spPr>
      </p:sp>
      <p:sp>
        <p:nvSpPr>
          <p:cNvPr id="10" name="Shape 7"/>
          <p:cNvSpPr/>
          <p:nvPr/>
        </p:nvSpPr>
        <p:spPr>
          <a:xfrm>
            <a:off x="4617720" y="1874520"/>
            <a:ext cx="822960" cy="822960"/>
          </a:xfrm>
          <a:prstGeom prst="ellipse">
            <a:avLst/>
          </a:prstGeom>
          <a:solidFill>
            <a:srgbClr val="1E4D3A"/>
          </a:solidFill>
          <a:ln/>
        </p:spPr>
      </p:sp>
      <p:pic>
        <p:nvPicPr>
          <p:cNvPr id="11" name="Image 1" descr="preencoded.png">    </p:cNvPr>
          <p:cNvPicPr>
            <a:picLocks noChangeAspect="1"/>
          </p:cNvPicPr>
          <p:nvPr/>
        </p:nvPicPr>
        <p:blipFill>
          <a:blip r:embed="rId2"/>
          <a:stretch>
            <a:fillRect/>
          </a:stretch>
        </p:blipFill>
        <p:spPr>
          <a:xfrm>
            <a:off x="4815230" y="2072030"/>
            <a:ext cx="427939" cy="427939"/>
          </a:xfrm>
          <a:prstGeom prst="rect">
            <a:avLst/>
          </a:prstGeom>
        </p:spPr>
      </p:pic>
      <p:sp>
        <p:nvSpPr>
          <p:cNvPr id="12" name="Text 8"/>
          <p:cNvSpPr txBox="1"/>
          <p:nvPr/>
        </p:nvSpPr>
        <p:spPr>
          <a:xfrm>
            <a:off x="4572000" y="2834640"/>
            <a:ext cx="3017520" cy="777240"/>
          </a:xfrm>
          <a:prstGeom prst="rect">
            <a:avLst/>
          </a:prstGeom>
          <a:noFill/>
          <a:ln/>
        </p:spPr>
        <p:txBody>
          <a:bodyPr wrap="square" lIns="635" tIns="635" rIns="635" bIns="635" rtlCol="0" anchor="t"/>
          <a:lstStyle/>
          <a:p>
            <a:pPr indent="0" marL="0">
              <a:lnSpc>
                <a:spcPct val="120000"/>
              </a:lnSpc>
              <a:buNone/>
            </a:pPr>
            <a:r>
              <a:rPr lang="en-US" sz="2000" b="1" dirty="0">
                <a:solidFill>
                  <a:srgbClr val="1E4D3A"/>
                </a:solidFill>
                <a:latin typeface="BIZ UDPGothic" pitchFamily="34" charset="0"/>
                <a:ea typeface="BIZ UDPGothic" pitchFamily="34" charset="-122"/>
                <a:cs typeface="BIZ UDPGothic" pitchFamily="34" charset="-120"/>
              </a:rPr>
              <a:t>世の中を変えるのは「伝承」</a:t>
            </a:r>
            <a:endParaRPr lang="en-US" sz="2000" dirty="0"/>
          </a:p>
        </p:txBody>
      </p:sp>
      <p:sp>
        <p:nvSpPr>
          <p:cNvPr id="13" name="Text 9"/>
          <p:cNvSpPr txBox="1"/>
          <p:nvPr/>
        </p:nvSpPr>
        <p:spPr>
          <a:xfrm>
            <a:off x="4572000" y="3611880"/>
            <a:ext cx="3017520" cy="150876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一人ひとりが足元の食を自分で確保しながら、日本の食文化・伝統文化・徳文化を伝承してゆく。食の復活が日本の復活につながります。</a:t>
            </a:r>
            <a:endParaRPr lang="en-US" sz="1600" dirty="0"/>
          </a:p>
        </p:txBody>
      </p:sp>
      <p:sp>
        <p:nvSpPr>
          <p:cNvPr id="14" name="Shape 10"/>
          <p:cNvSpPr/>
          <p:nvPr/>
        </p:nvSpPr>
        <p:spPr>
          <a:xfrm>
            <a:off x="8046720" y="1600200"/>
            <a:ext cx="3520440" cy="3611880"/>
          </a:xfrm>
          <a:prstGeom prst="roundRect">
            <a:avLst>
              <a:gd name="adj" fmla="val 3117"/>
            </a:avLst>
          </a:prstGeom>
          <a:solidFill>
            <a:srgbClr val="F6F8F4"/>
          </a:solidFill>
          <a:ln/>
          <a:effectLst>
            <a:outerShdw sx="100000" sy="100000" kx="0" ky="0" algn="bl" rotWithShape="0" blurRad="127000" dist="25400" dir="5400000">
              <a:srgbClr val="000000">
                <a:alpha val="13000"/>
              </a:srgbClr>
            </a:outerShdw>
          </a:effectLst>
        </p:spPr>
      </p:sp>
      <p:sp>
        <p:nvSpPr>
          <p:cNvPr id="15" name="Shape 11"/>
          <p:cNvSpPr/>
          <p:nvPr/>
        </p:nvSpPr>
        <p:spPr>
          <a:xfrm>
            <a:off x="8366760" y="1874520"/>
            <a:ext cx="822960" cy="822960"/>
          </a:xfrm>
          <a:prstGeom prst="ellipse">
            <a:avLst/>
          </a:prstGeom>
          <a:solidFill>
            <a:srgbClr val="1E4D3A"/>
          </a:solidFill>
          <a:ln/>
        </p:spPr>
      </p:sp>
      <p:pic>
        <p:nvPicPr>
          <p:cNvPr id="16" name="Image 2" descr="preencoded.png">    </p:cNvPr>
          <p:cNvPicPr>
            <a:picLocks noChangeAspect="1"/>
          </p:cNvPicPr>
          <p:nvPr/>
        </p:nvPicPr>
        <p:blipFill>
          <a:blip r:embed="rId3"/>
          <a:stretch>
            <a:fillRect/>
          </a:stretch>
        </p:blipFill>
        <p:spPr>
          <a:xfrm>
            <a:off x="8564270" y="2072030"/>
            <a:ext cx="427939" cy="427939"/>
          </a:xfrm>
          <a:prstGeom prst="rect">
            <a:avLst/>
          </a:prstGeom>
        </p:spPr>
      </p:pic>
      <p:sp>
        <p:nvSpPr>
          <p:cNvPr id="17" name="Text 12"/>
          <p:cNvSpPr txBox="1"/>
          <p:nvPr/>
        </p:nvSpPr>
        <p:spPr>
          <a:xfrm>
            <a:off x="8321040" y="2834640"/>
            <a:ext cx="3017520" cy="777240"/>
          </a:xfrm>
          <a:prstGeom prst="rect">
            <a:avLst/>
          </a:prstGeom>
          <a:noFill/>
          <a:ln/>
        </p:spPr>
        <p:txBody>
          <a:bodyPr wrap="square" lIns="635" tIns="635" rIns="635" bIns="635" rtlCol="0" anchor="t"/>
          <a:lstStyle/>
          <a:p>
            <a:pPr indent="0" marL="0">
              <a:lnSpc>
                <a:spcPct val="120000"/>
              </a:lnSpc>
              <a:buNone/>
            </a:pPr>
            <a:r>
              <a:rPr lang="en-US" sz="2000" b="1" dirty="0">
                <a:solidFill>
                  <a:srgbClr val="1E4D3A"/>
                </a:solidFill>
                <a:latin typeface="BIZ UDPGothic" pitchFamily="34" charset="0"/>
                <a:ea typeface="BIZ UDPGothic" pitchFamily="34" charset="-122"/>
                <a:cs typeface="BIZ UDPGothic" pitchFamily="34" charset="-120"/>
              </a:rPr>
              <a:t>人生の質は、選択の質</a:t>
            </a:r>
            <a:endParaRPr lang="en-US" sz="2000" dirty="0"/>
          </a:p>
        </p:txBody>
      </p:sp>
      <p:sp>
        <p:nvSpPr>
          <p:cNvPr id="18" name="Text 13"/>
          <p:cNvSpPr txBox="1"/>
          <p:nvPr/>
        </p:nvSpPr>
        <p:spPr>
          <a:xfrm>
            <a:off x="8321040" y="3611880"/>
            <a:ext cx="3017520" cy="1508760"/>
          </a:xfrm>
          <a:prstGeom prst="rect">
            <a:avLst/>
          </a:prstGeom>
          <a:noFill/>
          <a:ln/>
        </p:spPr>
        <p:txBody>
          <a:bodyPr wrap="square" lIns="635" tIns="635" rIns="635" bIns="635" rtlCol="0" anchor="t"/>
          <a:lstStyle/>
          <a:p>
            <a:pPr indent="0" marL="0">
              <a:lnSpc>
                <a:spcPct val="120000"/>
              </a:lnSpc>
              <a:buNone/>
            </a:pPr>
            <a:r>
              <a:rPr lang="en-US" sz="1600" dirty="0">
                <a:solidFill>
                  <a:srgbClr val="2B2B2B"/>
                </a:solidFill>
                <a:latin typeface="BIZ UDPGothic" pitchFamily="34" charset="0"/>
                <a:ea typeface="BIZ UDPGothic" pitchFamily="34" charset="-122"/>
                <a:cs typeface="BIZ UDPGothic" pitchFamily="34" charset="-120"/>
              </a:rPr>
              <a:t>一生モノの食のスキル（天給自足）を、これから〜さんがどう活かすか。いっしょに考える時間にしましょう。</a:t>
            </a:r>
            <a:endParaRPr lang="en-US" sz="1600" dirty="0"/>
          </a:p>
        </p:txBody>
      </p:sp>
      <p:sp>
        <p:nvSpPr>
          <p:cNvPr id="19" name="Shape 14"/>
          <p:cNvSpPr/>
          <p:nvPr/>
        </p:nvSpPr>
        <p:spPr>
          <a:xfrm>
            <a:off x="548640" y="5440680"/>
            <a:ext cx="11064240" cy="731520"/>
          </a:xfrm>
          <a:prstGeom prst="roundRect">
            <a:avLst>
              <a:gd name="adj" fmla="val 50000"/>
            </a:avLst>
          </a:prstGeom>
          <a:solidFill>
            <a:srgbClr val="1E4D3A"/>
          </a:solidFill>
          <a:ln/>
        </p:spPr>
      </p:sp>
      <p:sp>
        <p:nvSpPr>
          <p:cNvPr id="20" name="Text 15"/>
          <p:cNvSpPr txBox="1"/>
          <p:nvPr/>
        </p:nvSpPr>
        <p:spPr>
          <a:xfrm>
            <a:off x="822960" y="5440680"/>
            <a:ext cx="10515600" cy="731520"/>
          </a:xfrm>
          <a:prstGeom prst="rect">
            <a:avLst/>
          </a:prstGeom>
          <a:noFill/>
          <a:ln/>
        </p:spPr>
        <p:txBody>
          <a:bodyPr wrap="square" lIns="635" tIns="635" rIns="635" bIns="635" rtlCol="0" anchor="ctr"/>
          <a:lstStyle/>
          <a:p>
            <a:pPr algn="ctr" indent="0" marL="0">
              <a:lnSpc>
                <a:spcPct val="120000"/>
              </a:lnSpc>
              <a:buNone/>
            </a:pPr>
            <a:r>
              <a:rPr lang="en-US" sz="1700" b="1" dirty="0">
                <a:solidFill>
                  <a:srgbClr val="FFFFFF"/>
                </a:solidFill>
                <a:latin typeface="BIZ UDPGothic" pitchFamily="34" charset="0"/>
                <a:ea typeface="BIZ UDPGothic" pitchFamily="34" charset="-122"/>
                <a:cs typeface="BIZ UDPGothic" pitchFamily="34" charset="-120"/>
              </a:rPr>
              <a:t>人生の主役は、自分自身です。</a:t>
            </a:r>
            <a:pPr algn="ctr" indent="0" marL="0">
              <a:lnSpc>
                <a:spcPct val="120000"/>
              </a:lnSpc>
              <a:buNone/>
            </a:pPr>
            <a:r>
              <a:rPr lang="en-US" sz="1700" dirty="0">
                <a:solidFill>
                  <a:srgbClr val="DDE8DF"/>
                </a:solidFill>
                <a:latin typeface="BIZ UDPGothic" pitchFamily="34" charset="0"/>
                <a:ea typeface="BIZ UDPGothic" pitchFamily="34" charset="-122"/>
                <a:cs typeface="BIZ UDPGothic" pitchFamily="34" charset="-120"/>
              </a:rPr>
              <a:t>　天給自足は単なるスキルではなく、これからの人生をどう生きるかの選択です。</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86"/>
                </a:solidFill>
                <a:latin typeface="BIZ UDPGothic"/>
                <a:ea typeface="BIZ UDPGothic"/>
                <a:cs typeface="BIZ UDPGothic"/>
              </a:defRPr>
            </a:lvl1pPr>
          </a:lstStyle>
          <a:p>
            <a:pPr algn="r"/>
            <a:fld id="{F7021451-1387-4CA6-816F-3879F97B5CBC}" type="slidenum">
              <a:rPr b="0" lang="en-US"/>
              <a:t>49</a:t>
            </a:fld>
            <a:endParaRPr lang="en-US"/>
          </a:p>
        </p:txBody>
      </p:sp>
    </p:spTree>
  </p:cSld>
  <p:clrMapOvr>
    <a:masterClrMapping/>
  </p:clrMapOvr>
</p:sld>
</file>

<file path=ppt/theme/theme1.xml><?xml version="1.0" encoding="utf-8"?>
<a:theme xmlns:a="http://schemas.openxmlformats.org/drawingml/2006/main" name="天給自足 Dawn">
  <a:themeElements>
    <a:clrScheme name="天給自足 Dawn">
      <a:dk1>
        <a:srgbClr val="2B2B2B"/>
      </a:dk1>
      <a:lt1>
        <a:srgbClr val="FFFFFF"/>
      </a:lt1>
      <a:dk2>
        <a:srgbClr val="1E4D3A"/>
      </a:dk2>
      <a:lt2>
        <a:srgbClr val="EEF5EA"/>
      </a:lt2>
      <a:accent1>
        <a:srgbClr val="5E9E5A"/>
      </a:accent1>
      <a:accent2>
        <a:srgbClr val="E8A33D"/>
      </a:accent2>
      <a:accent3>
        <a:srgbClr val="C8502F"/>
      </a:accent3>
      <a:accent4>
        <a:srgbClr val="8BBF7A"/>
      </a:accent4>
      <a:accent5>
        <a:srgbClr val="7A6A53"/>
      </a:accent5>
      <a:accent6>
        <a:srgbClr val="3E7C9B"/>
      </a:accent6>
      <a:hlink>
        <a:srgbClr val="3E7C9B"/>
      </a:hlink>
      <a:folHlink>
        <a:srgbClr val="7A6A53"/>
      </a:folHlink>
    </a:clrScheme>
    <a:fontScheme name="天給自足 Dawn">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天給自足実践塾 未来創造プラン</dc:title>
  <dc:subject>PptxGenJS Presentation</dc:subject>
  <dc:creator>藤巻正夫</dc:creator>
  <cp:lastModifiedBy>藤巻正夫</cp:lastModifiedBy>
  <cp:revision>1</cp:revision>
  <dcterms:created xsi:type="dcterms:W3CDTF">2026-10-06T02:42:06Z</dcterms:created>
  <dcterms:modified xsi:type="dcterms:W3CDTF">2026-10-06T02:42:06Z</dcterms:modified>
</cp:coreProperties>
</file>